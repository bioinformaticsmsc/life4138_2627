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576af30fec4717" /><Relationship Type="http://schemas.openxmlformats.org/officeDocument/2006/relationships/extended-properties" Target="/docProps/app.xml" Id="Rda4d7771d39147b3" /><Relationship Type="http://schemas.openxmlformats.org/officeDocument/2006/relationships/officeDocument" Target="/ppt/presentation.xml" Id="R5be113d3c24344c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78319cb25c740c4"/>
  </p:sldMasterIdLst>
  <p:notesMasterIdLst>
    <p:notesMasterId xmlns:r="http://schemas.openxmlformats.org/officeDocument/2006/relationships" r:id="Rdd5e662b51ac4ad2"/>
  </p:notesMasterIdLst>
  <p:sldIdLst>
    <p:sldId xmlns:r="http://schemas.openxmlformats.org/officeDocument/2006/relationships" id="256" r:id="R0f81184f82744e12"/>
    <p:sldId xmlns:r="http://schemas.openxmlformats.org/officeDocument/2006/relationships" id="257" r:id="R0e7c0c3a905a4a4c"/>
    <p:sldId xmlns:r="http://schemas.openxmlformats.org/officeDocument/2006/relationships" id="258" r:id="R43af0ebe99d344ad"/>
    <p:sldId xmlns:r="http://schemas.openxmlformats.org/officeDocument/2006/relationships" id="259" r:id="R8ed3ad502b354324"/>
    <p:sldId xmlns:r="http://schemas.openxmlformats.org/officeDocument/2006/relationships" id="260" r:id="R118f1861481045e5"/>
    <p:sldId xmlns:r="http://schemas.openxmlformats.org/officeDocument/2006/relationships" id="261" r:id="R6fdefaa7f64244cc"/>
    <p:sldId xmlns:r="http://schemas.openxmlformats.org/officeDocument/2006/relationships" id="262" r:id="R4405a33fa23641bd"/>
    <p:sldId xmlns:r="http://schemas.openxmlformats.org/officeDocument/2006/relationships" id="263" r:id="Rd51c7644c2ea40d5"/>
    <p:sldId xmlns:r="http://schemas.openxmlformats.org/officeDocument/2006/relationships" id="264" r:id="R07b0ddee00514c7c"/>
    <p:sldId xmlns:r="http://schemas.openxmlformats.org/officeDocument/2006/relationships" id="265" r:id="Ra052f6b44d3343c6"/>
    <p:sldId xmlns:r="http://schemas.openxmlformats.org/officeDocument/2006/relationships" id="266" r:id="R129cbc55ceed4c96"/>
    <p:sldId xmlns:r="http://schemas.openxmlformats.org/officeDocument/2006/relationships" id="267" r:id="R629a298ad0434e8c"/>
    <p:sldId xmlns:r="http://schemas.openxmlformats.org/officeDocument/2006/relationships" id="268" r:id="R037727991ccc4454"/>
    <p:sldId xmlns:r="http://schemas.openxmlformats.org/officeDocument/2006/relationships" id="269" r:id="R99c064a8420c4dac"/>
    <p:sldId xmlns:r="http://schemas.openxmlformats.org/officeDocument/2006/relationships" id="270" r:id="R12a3679d58cc4ba3"/>
    <p:sldId xmlns:r="http://schemas.openxmlformats.org/officeDocument/2006/relationships" id="271" r:id="Rc49c0e71933f4b38"/>
    <p:sldId xmlns:r="http://schemas.openxmlformats.org/officeDocument/2006/relationships" id="272" r:id="Rbc4411d8b821449d"/>
    <p:sldId xmlns:r="http://schemas.openxmlformats.org/officeDocument/2006/relationships" id="273" r:id="R4754d13d944f4589"/>
    <p:sldId xmlns:r="http://schemas.openxmlformats.org/officeDocument/2006/relationships" id="274" r:id="R0f60558816664606"/>
    <p:sldId xmlns:r="http://schemas.openxmlformats.org/officeDocument/2006/relationships" id="275" r:id="Rf5f4285caf2b4eda"/>
    <p:sldId xmlns:r="http://schemas.openxmlformats.org/officeDocument/2006/relationships" id="276" r:id="R16141a0cf8574d10"/>
    <p:sldId xmlns:r="http://schemas.openxmlformats.org/officeDocument/2006/relationships" id="277" r:id="R2839494e205a463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397875b788b48e0" /><Relationship Type="http://schemas.openxmlformats.org/officeDocument/2006/relationships/slideMaster" Target="/ppt/slideMasters/slideMaster1.xml" Id="R778319cb25c740c4" /><Relationship Type="http://schemas.openxmlformats.org/officeDocument/2006/relationships/notesMaster" Target="/ppt/notesMasters/notesMaster1.xml" Id="Rdd5e662b51ac4ad2" /><Relationship Type="http://schemas.openxmlformats.org/officeDocument/2006/relationships/presProps" Target="/ppt/presProps.xml" Id="R01bb2ea4de474c75" /><Relationship Type="http://schemas.openxmlformats.org/officeDocument/2006/relationships/viewProps" Target="/ppt/viewProps.xml" Id="R9ca559444484408e" /><Relationship Type="http://schemas.openxmlformats.org/officeDocument/2006/relationships/tableStyles" Target="/ppt/tableStyles.xml" Id="Rea0d483f376e4182" /><Relationship Type="http://schemas.openxmlformats.org/officeDocument/2006/relationships/slide" Target="/ppt/slides/slide1.xml" Id="R0f81184f82744e12" /><Relationship Type="http://schemas.openxmlformats.org/officeDocument/2006/relationships/slide" Target="/ppt/slides/slide2.xml" Id="R0e7c0c3a905a4a4c" /><Relationship Type="http://schemas.openxmlformats.org/officeDocument/2006/relationships/slide" Target="/ppt/slides/slide3.xml" Id="R43af0ebe99d344ad" /><Relationship Type="http://schemas.openxmlformats.org/officeDocument/2006/relationships/slide" Target="/ppt/slides/slide4.xml" Id="R8ed3ad502b354324" /><Relationship Type="http://schemas.openxmlformats.org/officeDocument/2006/relationships/slide" Target="/ppt/slides/slide5.xml" Id="R118f1861481045e5" /><Relationship Type="http://schemas.openxmlformats.org/officeDocument/2006/relationships/slide" Target="/ppt/slides/slide6.xml" Id="R6fdefaa7f64244cc" /><Relationship Type="http://schemas.openxmlformats.org/officeDocument/2006/relationships/slide" Target="/ppt/slides/slide7.xml" Id="R4405a33fa23641bd" /><Relationship Type="http://schemas.openxmlformats.org/officeDocument/2006/relationships/slide" Target="/ppt/slides/slide8.xml" Id="Rd51c7644c2ea40d5" /><Relationship Type="http://schemas.openxmlformats.org/officeDocument/2006/relationships/slide" Target="/ppt/slides/slide9.xml" Id="R07b0ddee00514c7c" /><Relationship Type="http://schemas.openxmlformats.org/officeDocument/2006/relationships/slide" Target="/ppt/slides/slide10.xml" Id="Ra052f6b44d3343c6" /><Relationship Type="http://schemas.openxmlformats.org/officeDocument/2006/relationships/slide" Target="/ppt/slides/slide11.xml" Id="R129cbc55ceed4c96" /><Relationship Type="http://schemas.openxmlformats.org/officeDocument/2006/relationships/slide" Target="/ppt/slides/slide12.xml" Id="R629a298ad0434e8c" /><Relationship Type="http://schemas.openxmlformats.org/officeDocument/2006/relationships/slide" Target="/ppt/slides/slide13.xml" Id="R037727991ccc4454" /><Relationship Type="http://schemas.openxmlformats.org/officeDocument/2006/relationships/slide" Target="/ppt/slides/slide14.xml" Id="R99c064a8420c4dac" /><Relationship Type="http://schemas.openxmlformats.org/officeDocument/2006/relationships/slide" Target="/ppt/slides/slide15.xml" Id="R12a3679d58cc4ba3" /><Relationship Type="http://schemas.openxmlformats.org/officeDocument/2006/relationships/slide" Target="/ppt/slides/slide16.xml" Id="Rc49c0e71933f4b38" /><Relationship Type="http://schemas.openxmlformats.org/officeDocument/2006/relationships/slide" Target="/ppt/slides/slide17.xml" Id="Rbc4411d8b821449d" /><Relationship Type="http://schemas.openxmlformats.org/officeDocument/2006/relationships/slide" Target="/ppt/slides/slide18.xml" Id="R4754d13d944f4589" /><Relationship Type="http://schemas.openxmlformats.org/officeDocument/2006/relationships/slide" Target="/ppt/slides/slide19.xml" Id="R0f60558816664606" /><Relationship Type="http://schemas.openxmlformats.org/officeDocument/2006/relationships/slide" Target="/ppt/slides/slide20.xml" Id="Rf5f4285caf2b4eda" /><Relationship Type="http://schemas.openxmlformats.org/officeDocument/2006/relationships/slide" Target="/ppt/slides/slide21.xml" Id="R16141a0cf8574d10" /><Relationship Type="http://schemas.openxmlformats.org/officeDocument/2006/relationships/slide" Target="/ppt/slides/slide22.xml" Id="R2839494e205a46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437642332245f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0c4d35b94704135" /><Relationship Type="http://schemas.openxmlformats.org/officeDocument/2006/relationships/notesMaster" Target="/ppt/notesMasters/notesMaster1.xml" Id="R9de6ad8c20a243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90e3ebab32f4db9" /><Relationship Type="http://schemas.openxmlformats.org/officeDocument/2006/relationships/notesMaster" Target="/ppt/notesMasters/notesMaster1.xml" Id="R114fc0f2b0af48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5e7a5243a34db0" /><Relationship Type="http://schemas.openxmlformats.org/officeDocument/2006/relationships/notesMaster" Target="/ppt/notesMasters/notesMaster1.xml" Id="Rdf919d5f56c7499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75f9f53be84aa3" /><Relationship Type="http://schemas.openxmlformats.org/officeDocument/2006/relationships/notesMaster" Target="/ppt/notesMasters/notesMaster1.xml" Id="R6732554355d34c8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4bd393a5da24fef" /><Relationship Type="http://schemas.openxmlformats.org/officeDocument/2006/relationships/notesMaster" Target="/ppt/notesMasters/notesMaster1.xml" Id="Rdee607e8d44e46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f2c06574d2f4d3a" /><Relationship Type="http://schemas.openxmlformats.org/officeDocument/2006/relationships/notesMaster" Target="/ppt/notesMasters/notesMaster1.xml" Id="Rdf6c28a63db84b4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4c3b52e3dca45a5" /><Relationship Type="http://schemas.openxmlformats.org/officeDocument/2006/relationships/notesMaster" Target="/ppt/notesMasters/notesMaster1.xml" Id="R8fc4e7c755aa4e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6e6024f24fb49e2" /><Relationship Type="http://schemas.openxmlformats.org/officeDocument/2006/relationships/notesMaster" Target="/ppt/notesMasters/notesMaster1.xml" Id="Re1fdb6ea0f6f456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4c6d78836e84b54" /><Relationship Type="http://schemas.openxmlformats.org/officeDocument/2006/relationships/notesMaster" Target="/ppt/notesMasters/notesMaster1.xml" Id="R6258678d9e54474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597481e71674cd9" /><Relationship Type="http://schemas.openxmlformats.org/officeDocument/2006/relationships/notesMaster" Target="/ppt/notesMasters/notesMaster1.xml" Id="Rc576ccd8cded4c1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8d7422d938a44bc" /><Relationship Type="http://schemas.openxmlformats.org/officeDocument/2006/relationships/notesMaster" Target="/ppt/notesMasters/notesMaster1.xml" Id="R1dc0b5636c4a488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bdfeb91b9404a1d" /><Relationship Type="http://schemas.openxmlformats.org/officeDocument/2006/relationships/notesMaster" Target="/ppt/notesMasters/notesMaster1.xml" Id="R10c8a434f15b468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5dae29562334b0e" /><Relationship Type="http://schemas.openxmlformats.org/officeDocument/2006/relationships/notesMaster" Target="/ppt/notesMasters/notesMaster1.xml" Id="R571a9f2d272b4e9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f9ca14af1ed429f" /><Relationship Type="http://schemas.openxmlformats.org/officeDocument/2006/relationships/notesMaster" Target="/ppt/notesMasters/notesMaster1.xml" Id="R13311f855c19413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6517bed30e44db4" /><Relationship Type="http://schemas.openxmlformats.org/officeDocument/2006/relationships/notesMaster" Target="/ppt/notesMasters/notesMaster1.xml" Id="Rd4d4a2b990da4ef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1bcb359f6484022" /><Relationship Type="http://schemas.openxmlformats.org/officeDocument/2006/relationships/notesMaster" Target="/ppt/notesMasters/notesMaster1.xml" Id="R05d35df0d0a44a6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0373604bec14160" /><Relationship Type="http://schemas.openxmlformats.org/officeDocument/2006/relationships/notesMaster" Target="/ppt/notesMasters/notesMaster1.xml" Id="R0dc6372d7060400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24c72ac12c44491" /><Relationship Type="http://schemas.openxmlformats.org/officeDocument/2006/relationships/notesMaster" Target="/ppt/notesMasters/notesMaster1.xml" Id="R13120ca11f37433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01f5eb4468d4a38" /><Relationship Type="http://schemas.openxmlformats.org/officeDocument/2006/relationships/notesMaster" Target="/ppt/notesMasters/notesMaster1.xml" Id="Rdb4d9fa79e504e7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20e1283bd374369" /><Relationship Type="http://schemas.openxmlformats.org/officeDocument/2006/relationships/notesMaster" Target="/ppt/notesMasters/notesMaster1.xml" Id="R480014b2fb2b471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8d70e00a1f14cb8" /><Relationship Type="http://schemas.openxmlformats.org/officeDocument/2006/relationships/notesMaster" Target="/ppt/notesMasters/notesMaster1.xml" Id="R93bf98a490684f1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7f7eaa6be69476b" /><Relationship Type="http://schemas.openxmlformats.org/officeDocument/2006/relationships/notesMaster" Target="/ppt/notesMasters/notesMaster1.xml" Id="Rb45dffb0e684448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Ada Lovelace – considered the world’s first computer programmer!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Operational Ada resource statements are retained from the source deck and should be verified before teaching.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GPGPU - </a:t>
            </a:r>
            <a:r>
              <a:rPr sz="1200" b="0" i="0">
                <a:solidFill>
                  <a:schemeClr val="tx1"/>
                </a:solidFill>
                <a:latin typeface="+mn-lt"/>
                <a:ea typeface="+mn-lt"/>
                <a:cs typeface="+mn-lt"/>
              </a:rPr>
              <a:t>General-Purpose computing on Graphics Processing Units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Microsoft Learn, Install WSL: https://learn.microsoft.com/en-us/windows/wsl/install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GNU Bash manual: https://www.gnu.org/software/bash/manual/</a:t>
            </a:r>
            <a:endParaRPr/>
          </a:p>
          <a:p xmlns:a="http://schemas.openxmlformats.org/drawingml/2006/main">
            <a:r>
              <a:t>- Apple Support, use zsh as the default shell: https://support.apple.com/en-gb/102360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OpenBSD manual, ssh-keygen: https://man.openbsd.org/ssh-keygen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OpenBSD manual, ssh-keygen: https://man.openbsd.org/ssh-keygen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OpenBSD manual, ssh_config: https://man.openbsd.org/ssh_config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7fb1ce7cb4434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aca2845ae146a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59dcbb3ba04f9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ac855059314b1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8951de6fde4a4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4a4615af34473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76fcca88f84f0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1fe3c6baad466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e3373282b0460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8ea19c06ef403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3f8c93ff7e448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D7AAECD-A2AC-DEAB-91C5-D69EE11C06A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2D78D54-299C-B412-2A8B-A41BCC2BDF1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9DFF191-2CE6-5C5C-6DD3-144BAD3672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B061E-8F2F-D342-BB88-8B219BD1F6BB}" type="datetimeFigureOut">
              <a:t>9/19/25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426273-CB16-CF10-F503-281850F4A5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54249D0-88F6-AE7B-D7DE-BE06A176E8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5DB5BD0-B2D0-604A-B295-FE35C37A7747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0E2D95D-23C4-06C8-AB04-71C8FB2831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DEDB848-88F1-1F3E-3AB4-B7040D5D46F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D655A80-F341-2E26-42AE-E095F953C1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B061E-8F2F-D342-BB88-8B219BD1F6BB}" type="datetimeFigureOut">
              <a:t>9/19/25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7DB296D-616F-742F-331B-21614EB995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E513264-C77A-ED26-745C-C37354719B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5DB5BD0-B2D0-604A-B295-FE35C37A7747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69ABD7-9115-B75F-00F1-35E01709DD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BDF09A4-4706-01A4-7074-95020B3AAD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889EF77-3033-12D9-BF38-1CEED44F3F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B061E-8F2F-D342-BB88-8B219BD1F6BB}" type="datetimeFigureOut">
              <a:t>9/19/25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3EE430F-C971-69FD-8D96-3221B8F7DB9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69E638D-F775-73A7-0334-B17FB23378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5DB5BD0-B2D0-604A-B295-FE35C37A7747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A23E090-35EE-0D4C-04B6-BB486BE48B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17FC36C-E8EC-9291-41B1-457D1CEBE40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BE3949F-C4F6-3A02-30F8-4EA23C2AC0A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DEFA1E0-7556-9E97-A357-62B9656EB91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B061E-8F2F-D342-BB88-8B219BD1F6BB}" type="datetimeFigureOut">
              <a:t>9/19/25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A4A1A7A-7C3B-42BA-BD92-C66DE62445B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B281D59-5D10-F3D1-FF1E-E6F7CC8604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5DB5BD0-B2D0-604A-B295-FE35C37A7747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AA4CC-2B8E-6D53-1DC7-896FC6E864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5004FDA-E44A-E66A-B6F6-16BDC2D7AA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DC59909-67CF-EC8D-D725-B83B9C0BC9F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7C20D1E-9B8B-81AF-250B-7653FC1885B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5DA70157-F711-9299-13EC-EB4C9087924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22AF8C0-1E62-DD94-12AC-F906BFCF5C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B061E-8F2F-D342-BB88-8B219BD1F6BB}" type="datetimeFigureOut">
              <a:t>9/19/25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B87A9FD-C17B-AEB7-D956-ABB78CFD46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1C730E1-DE07-FB58-256C-F9B04575F2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5DB5BD0-B2D0-604A-B295-FE35C37A7747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F9CB63-76E1-CFA1-9E45-F0D28A2289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B65850F-C6E1-4223-01EF-8775433E5C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B061E-8F2F-D342-BB88-8B219BD1F6BB}" type="datetimeFigureOut">
              <a:t>9/19/25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CD4CE44-4DCD-8C89-00D7-6183708AE49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D95B4EC-B851-F49B-09FD-064B056D6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5DB5BD0-B2D0-604A-B295-FE35C37A7747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FBDF56E-3F46-68F4-1C57-B361B32C3B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B061E-8F2F-D342-BB88-8B219BD1F6BB}" type="datetimeFigureOut">
              <a:t>9/19/25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CD75FE3-A412-0DD5-80E8-7BF43D6F23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2CE7E60-442A-2CB0-1585-BDF12DB765A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5DB5BD0-B2D0-604A-B295-FE35C37A7747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C91B8E-A787-7B00-9F0E-B0CF0954FA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6C416D-A36C-3D33-4C3F-4A5D6BBEBE2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A6E9A10-4373-8881-3085-D9E08FC5E15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A64430B-26D9-406D-F767-DA04B77729B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B061E-8F2F-D342-BB88-8B219BD1F6BB}" type="datetimeFigureOut">
              <a:t>9/19/25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5FA6F6B-847E-A764-3F06-0CCBAF882FC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B7212BA-0190-B6C3-4479-2E647F5AB37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5DB5BD0-B2D0-604A-B295-FE35C37A7747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86D482C-695D-5D24-94B4-04118BF9AC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4BA837C8-09C0-DFAA-6129-2521DD6182D8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21C31D6-3F83-3B95-0B4A-7113954874F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E589105-B0A8-B232-4812-6A2F3791BB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B061E-8F2F-D342-BB88-8B219BD1F6BB}" type="datetimeFigureOut">
              <a:t>9/19/25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CB253A9-634B-8CFC-48EE-B8E7CE79435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9491E9F-7EA8-9E33-255D-22F05707B6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5DB5BD0-B2D0-604A-B295-FE35C37A7747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FCD71E0-23E9-2403-B44F-D1F109F31B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D8BEBE8-67D7-2E05-59D6-5B27D1C7871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5AB6D40-18A6-C4DF-E87B-622C7D5BDD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B061E-8F2F-D342-BB88-8B219BD1F6BB}" type="datetimeFigureOut">
              <a:t>9/19/25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DD5DDCB-EA9C-C2CC-36DF-6D9AB86CA2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37CDE68-EA71-C84A-C6AD-442F6969DA9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5DB5BD0-B2D0-604A-B295-FE35C37A7747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AC3B3A63-E8FF-FC00-8284-FFF987A4BE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E752D9A-4FF0-9533-DF96-D5ACB22A4D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DAC78FB-139D-2898-BADC-C34A26BF9B7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B061E-8F2F-D342-BB88-8B219BD1F6BB}" type="datetimeFigureOut">
              <a:t>9/19/25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A4FB923-F66E-B673-008B-7CEF2482E7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2385B6-F7EE-9D16-A536-778A15F623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5DB5BD0-B2D0-604A-B295-FE35C37A7747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3518dc11864b3d" /><Relationship Type="http://schemas.openxmlformats.org/officeDocument/2006/relationships/slideLayout" Target="/ppt/slideLayouts/slideLayout1.xml" Id="Rfece9b9161ef421c" /><Relationship Type="http://schemas.openxmlformats.org/officeDocument/2006/relationships/slideLayout" Target="/ppt/slideLayouts/slideLayout2.xml" Id="Re1ad610da89b4ee0" /><Relationship Type="http://schemas.openxmlformats.org/officeDocument/2006/relationships/slideLayout" Target="/ppt/slideLayouts/slideLayout3.xml" Id="R2c0c1b25bda54152" /><Relationship Type="http://schemas.openxmlformats.org/officeDocument/2006/relationships/slideLayout" Target="/ppt/slideLayouts/slideLayout4.xml" Id="R4d85c4ea9f324b72" /><Relationship Type="http://schemas.openxmlformats.org/officeDocument/2006/relationships/slideLayout" Target="/ppt/slideLayouts/slideLayout5.xml" Id="R573323372abe480a" /><Relationship Type="http://schemas.openxmlformats.org/officeDocument/2006/relationships/slideLayout" Target="/ppt/slideLayouts/slideLayout6.xml" Id="Rf70c1cd5bae34814" /><Relationship Type="http://schemas.openxmlformats.org/officeDocument/2006/relationships/slideLayout" Target="/ppt/slideLayouts/slideLayout7.xml" Id="R7e39325a82c04d89" /><Relationship Type="http://schemas.openxmlformats.org/officeDocument/2006/relationships/slideLayout" Target="/ppt/slideLayouts/slideLayout8.xml" Id="R0ac2ca8e89574559" /><Relationship Type="http://schemas.openxmlformats.org/officeDocument/2006/relationships/slideLayout" Target="/ppt/slideLayouts/slideLayout9.xml" Id="Red1a784dd6fa4c53" /><Relationship Type="http://schemas.openxmlformats.org/officeDocument/2006/relationships/slideLayout" Target="/ppt/slideLayouts/slideLayout10.xml" Id="R2056bf6d7f6444b9" /><Relationship Type="http://schemas.openxmlformats.org/officeDocument/2006/relationships/slideLayout" Target="/ppt/slideLayouts/slideLayout11.xml" Id="R344a6a46814e499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D99CC49-6420-F582-3CC2-5881986945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5221738-29B5-3736-4657-F180D9FCCA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11CF777-0034-B940-FE37-1FCA28592DB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B70B061E-8F2F-D342-BB88-8B219BD1F6BB}" type="datetimeFigureOut">
              <a:t>9/19/25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911D2EE-B5C8-5738-9BBE-0618B419753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EF07C40-8495-88D9-FEBC-F4CF28719C8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05DB5BD0-B2D0-604A-B295-FE35C37A774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ece9b9161ef421c"/>
    <p:sldLayoutId xmlns:r="http://schemas.openxmlformats.org/officeDocument/2006/relationships" id="2147483650" r:id="Re1ad610da89b4ee0"/>
    <p:sldLayoutId xmlns:r="http://schemas.openxmlformats.org/officeDocument/2006/relationships" id="2147483651" r:id="R2c0c1b25bda54152"/>
    <p:sldLayoutId xmlns:r="http://schemas.openxmlformats.org/officeDocument/2006/relationships" id="2147483652" r:id="R4d85c4ea9f324b72"/>
    <p:sldLayoutId xmlns:r="http://schemas.openxmlformats.org/officeDocument/2006/relationships" id="2147483653" r:id="R573323372abe480a"/>
    <p:sldLayoutId xmlns:r="http://schemas.openxmlformats.org/officeDocument/2006/relationships" id="2147483654" r:id="Rf70c1cd5bae34814"/>
    <p:sldLayoutId xmlns:r="http://schemas.openxmlformats.org/officeDocument/2006/relationships" id="2147483655" r:id="R7e39325a82c04d89"/>
    <p:sldLayoutId xmlns:r="http://schemas.openxmlformats.org/officeDocument/2006/relationships" id="2147483656" r:id="R0ac2ca8e89574559"/>
    <p:sldLayoutId xmlns:r="http://schemas.openxmlformats.org/officeDocument/2006/relationships" id="2147483657" r:id="Red1a784dd6fa4c53"/>
    <p:sldLayoutId xmlns:r="http://schemas.openxmlformats.org/officeDocument/2006/relationships" id="2147483658" r:id="R2056bf6d7f6444b9"/>
    <p:sldLayoutId xmlns:r="http://schemas.openxmlformats.org/officeDocument/2006/relationships" id="2147483659" r:id="R344a6a46814e4995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0bcac80251402a" /><Relationship Type="http://schemas.openxmlformats.org/officeDocument/2006/relationships/image" Target="/ppt/media/image.jpeg" Id="R004d22ba6d654bfe" /><Relationship Type="http://schemas.openxmlformats.org/officeDocument/2006/relationships/notesSlide" Target="/ppt/notesSlides/notesSlide1.xml" Id="Ra22948617dbd41e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6c486181384f84" /><Relationship Type="http://schemas.openxmlformats.org/officeDocument/2006/relationships/notesSlide" Target="/ppt/notesSlides/notesSlide2.xml" Id="R9c3eca6a419e4f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2e0f52a4304c78" /><Relationship Type="http://schemas.openxmlformats.org/officeDocument/2006/relationships/image" Target="/ppt/media/image2.jpeg" Id="R4a60681e62074d7f" /><Relationship Type="http://schemas.openxmlformats.org/officeDocument/2006/relationships/notesSlide" Target="/ppt/notesSlides/notesSlide3.xml" Id="R17ebdaeea3e243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e1b787117a409b" /><Relationship Type="http://schemas.openxmlformats.org/officeDocument/2006/relationships/image" Target="/ppt/media/image.png" Id="Rb1b530351ebf4d23" /><Relationship Type="http://schemas.openxmlformats.org/officeDocument/2006/relationships/notesSlide" Target="/ppt/notesSlides/notesSlide4.xml" Id="Radf30c79a2894fb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0dc369a040427e" /><Relationship Type="http://schemas.openxmlformats.org/officeDocument/2006/relationships/image" Target="/ppt/media/image3.jpeg" Id="Rafe30408989b4b47" /><Relationship Type="http://schemas.openxmlformats.org/officeDocument/2006/relationships/notesSlide" Target="/ppt/notesSlides/notesSlide5.xml" Id="R4198726b50f244f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f12e19503547a7" /><Relationship Type="http://schemas.openxmlformats.org/officeDocument/2006/relationships/image" Target="/ppt/media/image4.jpeg" Id="Rec9b26f6806b45e7" /><Relationship Type="http://schemas.openxmlformats.org/officeDocument/2006/relationships/notesSlide" Target="/ppt/notesSlides/notesSlide6.xml" Id="Rbb8742ee06a64b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6570ce13594ea4" /><Relationship Type="http://schemas.openxmlformats.org/officeDocument/2006/relationships/image" Target="/ppt/media/image5.jpeg" Id="R7dc3faa7c20b4468" /><Relationship Type="http://schemas.openxmlformats.org/officeDocument/2006/relationships/notesSlide" Target="/ppt/notesSlides/notesSlide7.xml" Id="R452e4b347d0c455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7a918102734f30" /><Relationship Type="http://schemas.openxmlformats.org/officeDocument/2006/relationships/image" Target="/ppt/media/image2.png" Id="Rbcc97935076d4a67" /><Relationship Type="http://schemas.openxmlformats.org/officeDocument/2006/relationships/notesSlide" Target="/ppt/notesSlides/notesSlide8.xml" Id="Rac5ddcabff3e43d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2cb583a8b847d1" /><Relationship Type="http://schemas.openxmlformats.org/officeDocument/2006/relationships/image" Target="/ppt/media/image2.png" Id="R4015c2badc424789" /><Relationship Type="http://schemas.openxmlformats.org/officeDocument/2006/relationships/notesSlide" Target="/ppt/notesSlides/notesSlide9.xml" Id="R2ae26483307a402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9d21caa82540da" /><Relationship Type="http://schemas.openxmlformats.org/officeDocument/2006/relationships/image" Target="/ppt/media/image3.png" Id="R322de236356f4f5a" /><Relationship Type="http://schemas.openxmlformats.org/officeDocument/2006/relationships/image" Target="/ppt/media/image4.png" Id="R9d18ffab889a49e9" /><Relationship Type="http://schemas.openxmlformats.org/officeDocument/2006/relationships/image" Target="/ppt/media/image6.jpeg" Id="R5b7c65cfa9884f4e" /><Relationship Type="http://schemas.openxmlformats.org/officeDocument/2006/relationships/notesSlide" Target="/ppt/notesSlides/notesSlide10.xml" Id="R8f2b83ba009d445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4c5f794bc248d2" /><Relationship Type="http://schemas.openxmlformats.org/officeDocument/2006/relationships/image" Target="/ppt/media/image5.png" Id="R36bfb7859f144f23" /><Relationship Type="http://schemas.openxmlformats.org/officeDocument/2006/relationships/notesSlide" Target="/ppt/notesSlides/notesSlide11.xml" Id="R8d2f648abbf4419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2e5e3d6aab4ac6" /><Relationship Type="http://schemas.openxmlformats.org/officeDocument/2006/relationships/image" Target="/ppt/media/image6.png" Id="R36f88102371e4e87" /><Relationship Type="http://schemas.openxmlformats.org/officeDocument/2006/relationships/notesSlide" Target="/ppt/notesSlides/notesSlide12.xml" Id="R095390b551f1498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636d1ec8b840fa" /><Relationship Type="http://schemas.openxmlformats.org/officeDocument/2006/relationships/image" Target="/ppt/media/image7.png" Id="R8d694843729542e4" /><Relationship Type="http://schemas.openxmlformats.org/officeDocument/2006/relationships/image" Target="/ppt/media/image8.png" Id="R1ce19dd97cc04321" /><Relationship Type="http://schemas.openxmlformats.org/officeDocument/2006/relationships/notesSlide" Target="/ppt/notesSlides/notesSlide13.xml" Id="R097da93543714b7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580eedcd4547e3" /><Relationship Type="http://schemas.openxmlformats.org/officeDocument/2006/relationships/notesSlide" Target="/ppt/notesSlides/notesSlide14.xml" Id="R5acc206c7fa64d4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328c21840048ea" /><Relationship Type="http://schemas.openxmlformats.org/officeDocument/2006/relationships/image" Target="/ppt/media/image9.png" Id="Re878ce7479ac409c" /><Relationship Type="http://schemas.openxmlformats.org/officeDocument/2006/relationships/notesSlide" Target="/ppt/notesSlides/notesSlide15.xml" Id="R6754ead328d84e8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f140ec115a4d9a" /><Relationship Type="http://schemas.openxmlformats.org/officeDocument/2006/relationships/image" Target="/ppt/media/image.svg" Id="R661558d9904f4662" /><Relationship Type="http://schemas.openxmlformats.org/officeDocument/2006/relationships/image" Target="/ppt/media/image.jpeg" Id="R6ae9a44941e949cb" /><Relationship Type="http://schemas.openxmlformats.org/officeDocument/2006/relationships/image" Target="/ppt/media/image10.png" Id="R893db11b7be34d14" /><Relationship Type="http://schemas.openxmlformats.org/officeDocument/2006/relationships/notesSlide" Target="/ppt/notesSlides/notesSlide16.xml" Id="Rbf895320b448455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7c69f414f4d63" /><Relationship Type="http://schemas.openxmlformats.org/officeDocument/2006/relationships/image" Target="/ppt/media/image.jpeg" Id="Ra1e9553d5de84410" /><Relationship Type="http://schemas.openxmlformats.org/officeDocument/2006/relationships/image" Target="/ppt/media/image.svg" Id="Rd6570d5c333c47a3" /><Relationship Type="http://schemas.openxmlformats.org/officeDocument/2006/relationships/image" Target="/ppt/media/image11.png" Id="Rf4a0abfa3f6047c0" /><Relationship Type="http://schemas.openxmlformats.org/officeDocument/2006/relationships/notesSlide" Target="/ppt/notesSlides/notesSlide17.xml" Id="R7e8226b50ac2438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9ecef79e7d456b" /><Relationship Type="http://schemas.openxmlformats.org/officeDocument/2006/relationships/image" Target="/ppt/media/image.jpeg" Id="Re220d5982ba04316" /><Relationship Type="http://schemas.openxmlformats.org/officeDocument/2006/relationships/image" Target="/ppt/media/image.svg" Id="Ra39eef4efac74db0" /><Relationship Type="http://schemas.openxmlformats.org/officeDocument/2006/relationships/notesSlide" Target="/ppt/notesSlides/notesSlide18.xml" Id="R4e15fd861534499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ba6e9052e64259" /><Relationship Type="http://schemas.openxmlformats.org/officeDocument/2006/relationships/image" Target="/ppt/media/image7.jpeg" Id="R6e08cbfa81c74b41" /><Relationship Type="http://schemas.openxmlformats.org/officeDocument/2006/relationships/image" Target="/ppt/media/image12.png" Id="R2da6c36662434e7d" /><Relationship Type="http://schemas.openxmlformats.org/officeDocument/2006/relationships/notesSlide" Target="/ppt/notesSlides/notesSlide19.xml" Id="Rae9a623d908d43d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c44ff38e2d4c48" /><Relationship Type="http://schemas.openxmlformats.org/officeDocument/2006/relationships/image" Target="/ppt/media/image7.jpeg" Id="R00c4ac0db7ff4310" /><Relationship Type="http://schemas.openxmlformats.org/officeDocument/2006/relationships/notesSlide" Target="/ppt/notesSlides/notesSlide20.xml" Id="Rb0eb98996413451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f257214a9542ca" /><Relationship Type="http://schemas.openxmlformats.org/officeDocument/2006/relationships/hyperlink" Target="https://hpcondemand02.ada.nottingham.ac.uk/" TargetMode="External" Id="R29f589ba78b949ac" /><Relationship Type="http://schemas.openxmlformats.org/officeDocument/2006/relationships/image" Target="/ppt/media/image13.png" Id="R0c35cb505f6044fa" /><Relationship Type="http://schemas.openxmlformats.org/officeDocument/2006/relationships/notesSlide" Target="/ppt/notesSlides/notesSlide21.xml" Id="Rf532a94a9bf9434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d2f94996384dd0" /><Relationship Type="http://schemas.openxmlformats.org/officeDocument/2006/relationships/hyperlink" Target="https://uniofnottm.sharepoint.com/sites/DigitalResearch/SitePages/Ada-Commands-Partitions-and-Resources.aspx" TargetMode="External" Id="Rd6dfc3e9061e4ae4" /><Relationship Type="http://schemas.openxmlformats.org/officeDocument/2006/relationships/hyperlink" Target="https://uniofnottm.sharepoint.com/sites/DigitalResearch/SitePages/Ada-Compute-software.aspx" TargetMode="External" Id="R786e1bc0f82b472b" /><Relationship Type="http://schemas.openxmlformats.org/officeDocument/2006/relationships/hyperlink" Target="mailto:laura.dean@nottingham.ac.uk" TargetMode="External" Id="Rd92ad7542a6c450b" /><Relationship Type="http://schemas.openxmlformats.org/officeDocument/2006/relationships/hyperlink" Target="https://www.nottingham.ac.uk/dts/help/self-service-portal/self-service-portal.aspx" TargetMode="External" Id="R667d723e733a4c9b" /><Relationship Type="http://schemas.openxmlformats.org/officeDocument/2006/relationships/image" Target="/ppt/media/image14.png" Id="R3ab0eea8e74a4f54" /><Relationship Type="http://schemas.openxmlformats.org/officeDocument/2006/relationships/notesSlide" Target="/ppt/notesSlides/notesSlide22.xml" Id="Rf9556ca8dc7f486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 useBgFill="1">
        <p:nvSpPr>
          <p:cNvPr id="5129" name="Rectangle 5128">
            <a:extLst xmlns:a="http://schemas.openxmlformats.org/drawingml/2006/main">
              <a:ext uri="{FF2B5EF4-FFF2-40B4-BE49-F238E27FC236}">
                <a16:creationId xmlns:a16="http://schemas.microsoft.com/office/drawing/2014/main" id="{0671A8AE-40A1-4631-A6B8-581AFF06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513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4d22ba6d654bfe"/>
          <a:srcRect xmlns:a="http://schemas.openxmlformats.org/drawingml/2006/main" l="8162" t="0" r="26646" b="83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23488" y="10"/>
            <a:ext cx="8668512" cy="6857990"/>
          </a:xfrm>
          <a:prstGeom xmlns:a="http://schemas.openxmlformats.org/drawingml/2006/main" prst="rect">
            <a:avLst/>
          </a:prstGeom>
        </p:spPr>
      </p:pic>
      <p:sp>
        <p:nvSpPr>
          <p:cNvPr id="5131" name="Rectangle 5130">
            <a:extLst xmlns:a="http://schemas.openxmlformats.org/drawingml/2006/main">
              <a:ext uri="{FF2B5EF4-FFF2-40B4-BE49-F238E27FC236}">
                <a16:creationId xmlns:a16="http://schemas.microsoft.com/office/drawing/2014/main" id="{AB58EF07-17C2-48CF-ABB0-EEF1F17CB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" y="0"/>
            <a:ext cx="9339206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7CE777-ABEB-6023-40DD-660DFBDCFEC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477981" y="1122363"/>
            <a:ext cx="4023360" cy="3204134"/>
          </a:xfrm>
        </p:spPr>
        <p:txBody>
          <a:bodyPr xmlns:a="http://schemas.openxmlformats.org/drawingml/2006/main" vert="horz" lIns="91440" tIns="45720" rIns="91440" bIns="45720" anchor="b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800">
                <a:solidFill>
                  <a:schemeClr val="bg1"/>
                </a:solidFill>
              </a:rPr>
              <a:t>Getting set up on the UoN HPC “Ada”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1EADD31-250A-669C-CA6F-536A910C5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981" y="5026456"/>
            <a:ext cx="3045507" cy="721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90000"/>
              </a:lnSpc>
              <a:spcBef>
                <a:spcPts val="1000"/>
              </a:spcBef>
              <a:buNone/>
            </a:pPr>
            <a:r>
              <a:rPr sz="3200">
                <a:solidFill>
                  <a:schemeClr val="bg1"/>
                </a:solidFill>
              </a:rPr>
              <a:t>LIFE4138</a:t>
            </a:r>
          </a:p>
        </p:txBody>
      </p:sp>
      <p:sp>
        <p:nvSpPr>
          <p:cNvPr id="5133" name="Rectangle 5132">
            <a:extLst xmlns:a="http://schemas.openxmlformats.org/drawingml/2006/main">
              <a:ext uri="{FF2B5EF4-FFF2-40B4-BE49-F238E27FC236}">
                <a16:creationId xmlns:a16="http://schemas.microsoft.com/office/drawing/2014/main" id="{AF2F604E-43BE-4DC3-B983-E0715233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59921" y="346791"/>
            <a:ext cx="146304" cy="7040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135" name="Rectangle 5134">
            <a:extLst xmlns:a="http://schemas.openxmlformats.org/drawingml/2006/main">
              <a:ext uri="{FF2B5EF4-FFF2-40B4-BE49-F238E27FC236}">
                <a16:creationId xmlns:a16="http://schemas.microsoft.com/office/drawing/2014/main" id="{08C9B587-E65E-4B52-B37C-ABEBB6E8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29" y="4546920"/>
            <a:ext cx="397764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 w="3175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7002044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B04C88C-FFC5-B020-42A3-661BBE00752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3998" y="502081"/>
            <a:ext cx="9144000" cy="557441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3600"/>
              <a:t>Learning Objectives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529853A-E964-7B9A-D5BC-B3B7075A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42" y="1405367"/>
            <a:ext cx="10147077" cy="4480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sz="2400"/>
              <a:t>Understand what the HPC is</a:t>
            </a:r>
          </a:p>
          <a:p xmlns:a="http://schemas.openxmlformats.org/drawingml/2006/main"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sz="2400"/>
              <a:t>Understand what resources are available to you on the HPC</a:t>
            </a:r>
          </a:p>
          <a:p xmlns:a="http://schemas.openxmlformats.org/drawingml/2006/main"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sz="2400"/>
              <a:t>Understand what a terminal and shell are</a:t>
            </a:r>
          </a:p>
          <a:p xmlns:a="http://schemas.openxmlformats.org/drawingml/2006/main"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sz="2400"/>
              <a:t>Understand what the SSH command does</a:t>
            </a:r>
            <a:r>
              <a:rPr sz="2400"/>
              <a:t> and how to use it</a:t>
            </a:r>
          </a:p>
          <a:p xmlns:a="http://schemas.openxmlformats.org/drawingml/2006/main"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sz="2400"/>
              <a:t>Use SSH to log in to your Ada account</a:t>
            </a:r>
          </a:p>
          <a:p xmlns:a="http://schemas.openxmlformats.org/drawingml/2006/main"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sz="2400"/>
              <a:t>Understand what </a:t>
            </a:r>
            <a:r>
              <a:rPr sz="2400"/>
              <a:t>an SSH config file</a:t>
            </a:r>
            <a:r>
              <a:rPr sz="2400"/>
              <a:t> is</a:t>
            </a:r>
          </a:p>
          <a:p xmlns:a="http://schemas.openxmlformats.org/drawingml/2006/main"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sz="2400"/>
              <a:t>Create and </a:t>
            </a:r>
            <a:r>
              <a:rPr sz="2400"/>
              <a:t>use an SSH config file to log in</a:t>
            </a:r>
            <a:r>
              <a:rPr sz="2400"/>
              <a:t> to Ada</a:t>
            </a:r>
          </a:p>
          <a:p xmlns:a="http://schemas.openxmlformats.org/drawingml/2006/main"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sz="2400"/>
              <a:t>Know where to go for further support with the HPC</a:t>
            </a:r>
          </a:p>
        </p:txBody>
      </p:sp>
    </p:spTree>
    <p:extLst>
      <p:ext uri="{BB962C8B-B14F-4D97-AF65-F5344CB8AC3E}">
        <p14:creationId xmlns:p14="http://schemas.microsoft.com/office/powerpoint/2010/main" val="183943995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37C2960-1BAE-ED29-55ED-1C2BB2D555A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95695"/>
            <a:ext cx="9144000" cy="557441"/>
          </a:xfrm>
        </p:spPr>
        <p:txBody>
          <a:bodyPr xmlns:a="http://schemas.openxmlformats.org/drawingml/2006/main">
            <a:normAutofit fontScale="94375"/>
          </a:bodyPr>
          <a:lstStyle xmlns:a="http://schemas.openxmlformats.org/drawingml/2006/main"/>
          <a:p xmlns:a="http://schemas.openxmlformats.org/drawingml/2006/main">
            <a:r>
              <a:rPr sz="3600"/>
              <a:t>What is an HPC?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96621E9-E2D0-76D4-5C7B-47BE0333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0037" y="867928"/>
            <a:ext cx="10147077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HPC = high-performance computing; a cluster provides shared compute resources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Connect to it remotely from your terminal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>
                <a:solidFill>
                  <a:schemeClr val="accent5"/>
                </a:solidFill>
              </a:rPr>
              <a:t>Login nodes = shared access points for logging in, submitting jobs, and brief tasks such as viewing output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>
                <a:solidFill>
                  <a:schemeClr val="accent5"/>
                </a:solidFill>
              </a:rPr>
              <a:t>Compute nodes = where scheduled computational work runs</a:t>
            </a:r>
          </a:p>
        </p:txBody>
      </p:sp>
      <p:pic>
        <p:nvPicPr>
          <p:cNvPr id="9" name="Picture 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a60681e62074d7f"/>
          <a:srcRect xmlns:a="http://schemas.openxmlformats.org/drawingml/2006/main" l="0" t="0" r="0" b="39156"/>
          <a:stretch xmlns:a="http://schemas.openxmlformats.org/drawingml/2006/main"/>
        </p:blipFill>
        <p:spPr>
          <a:xfrm xmlns:a="http://schemas.openxmlformats.org/drawingml/2006/main">
            <a:off x="1774359" y="3633850"/>
            <a:ext cx="8643281" cy="295813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37439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C2C399-3929-D752-E6C4-6CD6831DEEA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310487"/>
            <a:ext cx="9144000" cy="557441"/>
          </a:xfrm>
        </p:spPr>
        <p:txBody>
          <a:bodyPr xmlns:a="http://schemas.openxmlformats.org/drawingml/2006/main">
            <a:normAutofit fontScale="90000"/>
          </a:bodyPr>
          <a:lstStyle xmlns:a="http://schemas.openxmlformats.org/drawingml/2006/main"/>
          <a:p xmlns:a="http://schemas.openxmlformats.org/drawingml/2006/main">
            <a:r>
              <a:rPr sz="3600"/>
              <a:t>Resources on Ada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D7EA3EB-F46B-981F-D3BA-C93DF9DCC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802" y="1687634"/>
            <a:ext cx="10147077" cy="374121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>
                <a:solidFill>
                  <a:schemeClr val="accent5"/>
                </a:solidFill>
              </a:rPr>
              <a:t>Login nodes </a:t>
            </a:r>
            <a:r>
              <a:rPr sz="2000"/>
              <a:t>= </a:t>
            </a:r>
          </a:p>
          <a:p xmlns:a="http://schemas.openxmlformats.org/drawingml/2006/main">
            <a:pPr marL="1200150" lvl="2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hpclogin01</a:t>
            </a:r>
          </a:p>
          <a:p xmlns:a="http://schemas.openxmlformats.org/drawingml/2006/main">
            <a:pPr marL="1200150" lvl="2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hpclogin02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>
                <a:solidFill>
                  <a:schemeClr val="accent5"/>
                </a:solidFill>
              </a:rPr>
              <a:t>Compute nodes </a:t>
            </a:r>
            <a:r>
              <a:rPr sz="2000"/>
              <a:t>=</a:t>
            </a:r>
          </a:p>
          <a:p xmlns:a="http://schemas.openxmlformats.org/drawingml/2006/main">
            <a:pPr marL="1200150" lvl="2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63 standard nodes, each with 96 cores &amp; 361 GB RAM</a:t>
            </a:r>
          </a:p>
          <a:p xmlns:a="http://schemas.openxmlformats.org/drawingml/2006/main">
            <a:pPr marL="1200150" lvl="2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10 high-memory nodes, each with 96 cores &amp; 1495 GB RAM</a:t>
            </a:r>
          </a:p>
          <a:p xmlns:a="http://schemas.openxmlformats.org/drawingml/2006/main">
            <a:pPr marL="1200150" lvl="2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4 GPGPU nodes, each with 96 cores, 747 GB RAM &amp; </a:t>
            </a:r>
            <a:r>
              <a:rPr sz="2000"/>
              <a:t>8 Nvidia A100 GPUs, with 80GB GPU memory each.</a:t>
            </a:r>
            <a:endParaRPr sz="2000"/>
          </a:p>
        </p:txBody>
      </p:sp>
      <p:pic>
        <p:nvPicPr>
          <p:cNvPr id="9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b530351ebf4d2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4628" y="1317424"/>
            <a:ext cx="6473372" cy="195330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67051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5A51E26-6349-1966-C60E-67FAEAC8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051" y="1919905"/>
            <a:ext cx="7204363" cy="3631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spcAft>
                <a:spcPts val="1200"/>
              </a:spcAft>
              <a:buNone/>
            </a:pPr>
            <a:r>
              <a:rPr sz="2400" b="1" i="0">
                <a:solidFill>
                  <a:srgbClr val="323130"/>
                </a:solidFill>
                <a:latin typeface="Segoe UI"/>
                <a:ea typeface="Segoe UI"/>
                <a:cs typeface="Segoe UI"/>
              </a:rPr>
              <a:t>The Exploration tier gives the exploration user: </a:t>
            </a:r>
          </a:p>
          <a:p xmlns:a="http://schemas.openxmlformats.org/drawingml/2006/main">
            <a:pPr algn="l">
              <a:spcAft>
                <a:spcPts val="1200"/>
              </a:spcAft>
              <a:buFont typeface="Arial"/>
              <a:buChar char="•"/>
            </a:pPr>
            <a:r>
              <a:rPr sz="2400" b="0" i="0">
                <a:solidFill>
                  <a:srgbClr val="323130"/>
                </a:solidFill>
                <a:latin typeface="var(--fontFamilyCustomFont900, var(--fontFamilyBase))"/>
                <a:ea typeface="var(--fontFamilyCustomFont900, var(--fontFamilyBase))"/>
                <a:cs typeface="var(--fontFamilyCustomFont900, var(--fontFamilyBase))"/>
              </a:rPr>
              <a:t> simultaneous use of up to 96 CPU cores</a:t>
            </a:r>
          </a:p>
          <a:p xmlns:a="http://schemas.openxmlformats.org/drawingml/2006/main">
            <a:pPr algn="l">
              <a:spcAft>
                <a:spcPts val="1200"/>
              </a:spcAft>
              <a:buFont typeface="Arial"/>
              <a:buChar char="•"/>
            </a:pPr>
            <a:r>
              <a:rPr sz="2400" b="0" i="0">
                <a:solidFill>
                  <a:srgbClr val="323130"/>
                </a:solidFill>
                <a:latin typeface="var(--fontFamilyCustomFont900, var(--fontFamilyBase))"/>
                <a:ea typeface="var(--fontFamilyCustomFont900, var(--fontFamilyBase))"/>
                <a:cs typeface="var(--fontFamilyCustomFont900, var(--fontFamilyBase))"/>
              </a:rPr>
              <a:t> 360 GB memory (RAM)</a:t>
            </a:r>
          </a:p>
          <a:p xmlns:a="http://schemas.openxmlformats.org/drawingml/2006/main">
            <a:pPr algn="l">
              <a:spcAft>
                <a:spcPts val="1200"/>
              </a:spcAft>
              <a:buFont typeface="Arial"/>
              <a:buChar char="•"/>
            </a:pPr>
            <a:r>
              <a:rPr sz="2400" b="0" i="0">
                <a:solidFill>
                  <a:srgbClr val="323130"/>
                </a:solidFill>
                <a:latin typeface="var(--fontFamilyCustomFont900, var(--fontFamilyBase))"/>
                <a:ea typeface="var(--fontFamilyCustomFont900, var(--fontFamilyBase))"/>
                <a:cs typeface="var(--fontFamilyCustomFont900, var(--fontFamilyBase))"/>
              </a:rPr>
              <a:t> Job lengths of up to 2 days.</a:t>
            </a:r>
          </a:p>
          <a:p xmlns:a="http://schemas.openxmlformats.org/drawingml/2006/main">
            <a:pPr algn="l">
              <a:spcAft>
                <a:spcPts val="1200"/>
              </a:spcAft>
              <a:buFont typeface="Arial"/>
              <a:buChar char="•"/>
            </a:pPr>
            <a:r>
              <a:rPr sz="2400" b="0" i="0">
                <a:solidFill>
                  <a:srgbClr val="323130"/>
                </a:solidFill>
                <a:latin typeface="var(--fontFamilyCustomFont900, var(--fontFamilyBase))"/>
                <a:ea typeface="var(--fontFamilyCustomFont900, var(--fontFamilyBase))"/>
                <a:cs typeface="var(--fontFamilyCustomFont900, var(--fontFamilyBase))"/>
              </a:rPr>
              <a:t> 1TB of storage (disk space) by default.</a:t>
            </a:r>
          </a:p>
          <a:p xmlns:a="http://schemas.openxmlformats.org/drawingml/2006/main">
            <a:pPr algn="l">
              <a:spcAft>
                <a:spcPts val="1200"/>
              </a:spcAft>
              <a:buFont typeface="Arial"/>
              <a:buChar char="•"/>
            </a:pPr>
            <a:r>
              <a:rPr sz="2400" b="0" i="0">
                <a:solidFill>
                  <a:srgbClr val="323130"/>
                </a:solidFill>
                <a:latin typeface="var(--fontFamilyCustomFont900, var(--fontFamilyBase))"/>
                <a:ea typeface="var(--fontFamilyCustomFont900, var(--fontFamilyBase))"/>
                <a:cs typeface="var(--fontFamilyCustomFont900, var(--fontFamilyBase))"/>
              </a:rPr>
              <a:t> Exploration tier users that need extra resource will be advised to apply for the ‘production’ tier.</a:t>
            </a:r>
          </a:p>
        </p:txBody>
      </p:sp>
      <p:sp>
        <p:nvSpPr>
          <p:cNvPr id="6" name="Title 1">
            <a:extLst xmlns:a="http://schemas.openxmlformats.org/drawingml/2006/main">
              <a:ext uri="{FF2B5EF4-FFF2-40B4-BE49-F238E27FC236}">
                <a16:creationId xmlns:a16="http://schemas.microsoft.com/office/drawing/2014/main" id="{FE8A0E26-2C96-7DC4-D325-B9657D31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327" y="205535"/>
            <a:ext cx="9144000" cy="55744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97500" lnSpcReduction="10000"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3600"/>
              <a:t>Exploration tier</a:t>
            </a:r>
            <a:r>
              <a:rPr sz="3600"/>
              <a:t> (your accounts semesters 1 &amp; 2)</a:t>
            </a:r>
            <a:endParaRPr sz="3600"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9B72639-31F1-2990-4562-5C47DC97D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345" y="913180"/>
            <a:ext cx="9555963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0" i="0">
                <a:solidFill>
                  <a:srgbClr val="323130"/>
                </a:solidFill>
                <a:latin typeface="Segoe UI"/>
                <a:ea typeface="Segoe UI"/>
                <a:cs typeface="Segoe UI"/>
              </a:rPr>
              <a:t>This tier gives you a ‘sandpit’ where you can develop your HPC skills.</a:t>
            </a:r>
          </a:p>
        </p:txBody>
      </p:sp>
      <p:pic>
        <p:nvPicPr>
          <p:cNvPr id="13" name="Picture 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fe30408989b4b47"/>
          <a:srcRect xmlns:a="http://schemas.openxmlformats.org/drawingml/2006/main" l="26566" t="7071" r="26566" b="7273"/>
          <a:stretch xmlns:a="http://schemas.openxmlformats.org/drawingml/2006/main"/>
        </p:blipFill>
        <p:spPr>
          <a:xfrm xmlns:a="http://schemas.openxmlformats.org/drawingml/2006/main">
            <a:off x="8049368" y="1615104"/>
            <a:ext cx="2474700" cy="452272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30122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820866B-F066-8714-B1C7-98C44C804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51" y="2085916"/>
            <a:ext cx="6636204" cy="4001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spcAft>
                <a:spcPts val="1200"/>
              </a:spcAft>
              <a:buNone/>
            </a:pPr>
            <a:r>
              <a:rPr sz="2400" b="1" i="0">
                <a:solidFill>
                  <a:srgbClr val="323130"/>
                </a:solidFill>
                <a:latin typeface="Segoe UI"/>
                <a:ea typeface="Segoe UI"/>
                <a:cs typeface="Segoe UI"/>
              </a:rPr>
              <a:t>Production tier gives the production user:</a:t>
            </a:r>
          </a:p>
          <a:p xmlns:a="http://schemas.openxmlformats.org/drawingml/2006/main">
            <a:pPr algn="l">
              <a:spcAft>
                <a:spcPts val="1200"/>
              </a:spcAft>
              <a:buFont typeface="Arial"/>
              <a:buChar char="•"/>
            </a:pPr>
            <a:r>
              <a:rPr sz="2400" b="0" i="0">
                <a:solidFill>
                  <a:srgbClr val="323130"/>
                </a:solidFill>
                <a:latin typeface="var(--fontFamilyCustomFont900, var(--fontFamilyBase))"/>
                <a:ea typeface="var(--fontFamilyCustomFont900, var(--fontFamilyBase))"/>
                <a:cs typeface="var(--fontFamilyCustomFont900, var(--fontFamilyBase))"/>
              </a:rPr>
              <a:t> Simultaneous use of up to 600 CPU cores</a:t>
            </a:r>
          </a:p>
          <a:p xmlns:a="http://schemas.openxmlformats.org/drawingml/2006/main">
            <a:pPr algn="l">
              <a:spcAft>
                <a:spcPts val="1200"/>
              </a:spcAft>
              <a:buFont typeface="Arial"/>
              <a:buChar char="•"/>
            </a:pPr>
            <a:r>
              <a:rPr sz="2400" b="0" i="0">
                <a:solidFill>
                  <a:srgbClr val="323130"/>
                </a:solidFill>
                <a:latin typeface="var(--fontFamilyCustomFont900, var(--fontFamilyBase))"/>
                <a:ea typeface="var(--fontFamilyCustomFont900, var(--fontFamilyBase))"/>
                <a:cs typeface="var(--fontFamilyCustomFont900, var(--fontFamilyBase))"/>
              </a:rPr>
              <a:t> 3000 GB memory (RAM).</a:t>
            </a:r>
          </a:p>
          <a:p xmlns:a="http://schemas.openxmlformats.org/drawingml/2006/main">
            <a:pPr algn="l">
              <a:spcAft>
                <a:spcPts val="1200"/>
              </a:spcAft>
              <a:buFont typeface="Arial"/>
              <a:buChar char="•"/>
            </a:pPr>
            <a:r>
              <a:rPr sz="2400" b="0" i="0">
                <a:solidFill>
                  <a:srgbClr val="323130"/>
                </a:solidFill>
                <a:latin typeface="var(--fontFamilyCustomFont900, var(--fontFamilyBase))"/>
                <a:ea typeface="var(--fontFamilyCustomFont900, var(--fontFamilyBase))"/>
                <a:cs typeface="var(--fontFamilyCustomFont900, var(--fontFamilyBase))"/>
              </a:rPr>
              <a:t> Job lengths of up to 7 days</a:t>
            </a:r>
          </a:p>
          <a:p xmlns:a="http://schemas.openxmlformats.org/drawingml/2006/main">
            <a:pPr algn="l">
              <a:spcAft>
                <a:spcPts val="1200"/>
              </a:spcAft>
              <a:buFont typeface="Arial"/>
              <a:buChar char="•"/>
            </a:pPr>
            <a:r>
              <a:rPr sz="2400" b="0" i="0">
                <a:solidFill>
                  <a:srgbClr val="323130"/>
                </a:solidFill>
                <a:latin typeface="var(--fontFamilyCustomFont900, var(--fontFamilyBase))"/>
                <a:ea typeface="var(--fontFamilyCustomFont900, var(--fontFamilyBase))"/>
                <a:cs typeface="var(--fontFamilyCustomFont900, var(--fontFamilyBase))"/>
              </a:rPr>
              <a:t> 1TB of storage (disk space) by default.</a:t>
            </a:r>
          </a:p>
          <a:p xmlns:a="http://schemas.openxmlformats.org/drawingml/2006/main">
            <a:pPr algn="l">
              <a:spcAft>
                <a:spcPts val="1200"/>
              </a:spcAft>
              <a:buFont typeface="Arial"/>
              <a:buChar char="•"/>
            </a:pPr>
            <a:r>
              <a:rPr sz="2400" b="0" i="0">
                <a:solidFill>
                  <a:srgbClr val="323130"/>
                </a:solidFill>
                <a:latin typeface="var(--fontFamilyCustomFont900, var(--fontFamilyBase))"/>
                <a:ea typeface="var(--fontFamilyCustomFont900, var(--fontFamilyBase))"/>
                <a:cs typeface="var(--fontFamilyCustomFont900, var(--fontFamilyBase))"/>
              </a:rPr>
              <a:t> Production users can also apply for larger limits on CPU cores, memory (RAM), and storage, and all requests will be considered.</a:t>
            </a:r>
          </a:p>
        </p:txBody>
      </p:sp>
      <p:sp>
        <p:nvSpPr>
          <p:cNvPr id="6" name="Title 1">
            <a:extLst xmlns:a="http://schemas.openxmlformats.org/drawingml/2006/main">
              <a:ext uri="{FF2B5EF4-FFF2-40B4-BE49-F238E27FC236}">
                <a16:creationId xmlns:a16="http://schemas.microsoft.com/office/drawing/2014/main" id="{A5F08A85-55ED-CF06-41AF-92210DA0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327" y="205535"/>
            <a:ext cx="9144000" cy="55744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97500" lnSpcReduction="10000"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3600"/>
              <a:t>Production tier</a:t>
            </a:r>
            <a:r>
              <a:rPr sz="3600"/>
              <a:t> (your accounts semester 3)</a:t>
            </a:r>
            <a:endParaRPr sz="3600"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F2027BA-9C66-4E6A-7890-45DF40AAD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51" y="913180"/>
            <a:ext cx="11277600" cy="8309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0" i="0">
                <a:solidFill>
                  <a:srgbClr val="323130"/>
                </a:solidFill>
                <a:latin typeface="Segoe UI"/>
                <a:ea typeface="Segoe UI"/>
                <a:cs typeface="Segoe UI"/>
              </a:rPr>
              <a:t>The </a:t>
            </a:r>
            <a:r>
              <a:rPr sz="2400" b="1" i="0">
                <a:solidFill>
                  <a:srgbClr val="323130"/>
                </a:solidFill>
                <a:latin typeface="Segoe UI"/>
                <a:ea typeface="Segoe UI"/>
                <a:cs typeface="Segoe UI"/>
              </a:rPr>
              <a:t>Production</a:t>
            </a:r>
            <a:r>
              <a:rPr sz="2400" b="0" i="0">
                <a:solidFill>
                  <a:srgbClr val="323130"/>
                </a:solidFill>
                <a:latin typeface="Segoe UI"/>
                <a:ea typeface="Segoe UI"/>
                <a:cs typeface="Segoe UI"/>
              </a:rPr>
              <a:t> tier is for university research projects, where you and your project team have existing HPC user experience.</a:t>
            </a:r>
          </a:p>
        </p:txBody>
      </p:sp>
      <p:pic>
        <p:nvPicPr>
          <p:cNvPr id="13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9b26f6806b45e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38098" y="2407332"/>
            <a:ext cx="4407786" cy="293716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51263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c3faa7c20b446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09800" y="1079500"/>
            <a:ext cx="7772400" cy="4699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86612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30932E7-5DBD-0C5C-892A-91D9A1F4AA1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09627" y="212178"/>
            <a:ext cx="9144000" cy="557441"/>
          </a:xfrm>
        </p:spPr>
        <p:txBody>
          <a:bodyPr xmlns:a="http://schemas.openxmlformats.org/drawingml/2006/main">
            <a:normAutofit fontScale="90000"/>
          </a:bodyPr>
          <a:lstStyle xmlns:a="http://schemas.openxmlformats.org/drawingml/2006/main"/>
          <a:p xmlns:a="http://schemas.openxmlformats.org/drawingml/2006/main">
            <a:r>
              <a:rPr sz="3600"/>
              <a:t>The terminal</a:t>
            </a:r>
          </a:p>
        </p:txBody>
      </p:sp>
      <p:pic>
        <p:nvPicPr>
          <p:cNvPr id="7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c97935076d4a67"/>
          <a:srcRect xmlns:a="http://schemas.openxmlformats.org/drawingml/2006/main" l="0" t="0" r="0" b="669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09627" y="4864723"/>
            <a:ext cx="8745844" cy="1781099"/>
          </a:xfrm>
          <a:prstGeom xmlns:a="http://schemas.openxmlformats.org/drawingml/2006/main" prst="rect">
            <a:avLst/>
          </a:prstGeom>
        </p:spPr>
      </p:pic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DF305EC-8534-A485-FD51-F6B692EB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4628"/>
            <a:ext cx="11544300" cy="374121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A terminal is a command line interface or CLI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It allows you to have text &amp; command-based interaction with your computer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It’s essentially a box where you can type things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Similar to a graphical user interface (GUI), which is menu-driven and what you are probably used to.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A CLI sends your typed commands to a shell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The shell interprets and executes the commands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This is basically all happening in the background when you run a GUI on your computer anyway, you just don’t see it!</a:t>
            </a:r>
          </a:p>
        </p:txBody>
      </p:sp>
    </p:spTree>
    <p:extLst>
      <p:ext uri="{BB962C8B-B14F-4D97-AF65-F5344CB8AC3E}">
        <p14:creationId xmlns:p14="http://schemas.microsoft.com/office/powerpoint/2010/main" val="128925198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7C8029B-1108-7032-18C8-6B10CE3A791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09627" y="212178"/>
            <a:ext cx="9144000" cy="557441"/>
          </a:xfrm>
        </p:spPr>
        <p:txBody>
          <a:bodyPr xmlns:a="http://schemas.openxmlformats.org/drawingml/2006/main">
            <a:normAutofit fontScale="90000"/>
          </a:bodyPr>
          <a:lstStyle xmlns:a="http://schemas.openxmlformats.org/drawingml/2006/main"/>
          <a:p xmlns:a="http://schemas.openxmlformats.org/drawingml/2006/main">
            <a:r>
              <a:rPr sz="3600"/>
              <a:t>The terminal</a:t>
            </a:r>
          </a:p>
        </p:txBody>
      </p:sp>
      <p:pic>
        <p:nvPicPr>
          <p:cNvPr id="27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15c2badc424789"/>
          <a:srcRect xmlns:a="http://schemas.openxmlformats.org/drawingml/2006/main" l="0" t="1" r="0" b="41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842620" y="1048845"/>
            <a:ext cx="8745844" cy="3176191"/>
          </a:xfrm>
          <a:prstGeom xmlns:a="http://schemas.openxmlformats.org/drawingml/2006/main" prst="rect">
            <a:avLst/>
          </a:prstGeom>
        </p:spPr>
      </p:pic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3FFF4A8F-6AEE-4533-8757-A91542AE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3637" y="2057130"/>
            <a:ext cx="2826327" cy="0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FF0000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E41A4677-8F0A-975F-D28C-B2A2C931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10981" y="1630938"/>
            <a:ext cx="566058" cy="522514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0000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cxnSp>
        <p:nvCxnSpPr>
          <p:cNvPr id="30" name="Straight Arrow Connector 9"/>
          <p:cNvCxnSpPr/>
          <p:nvPr/>
        </p:nvCxnSpPr>
        <p:spPr>
          <a:xfrm xmlns:a="http://schemas.openxmlformats.org/drawingml/2006/main" rot="0" flipH="0" flipV="1">
            <a:off x="2396592" y="2240208"/>
            <a:ext cx="0" cy="2420257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FF0000"/>
            </a:solidFill>
            <a:tailEnd type="triangle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31" name="Straight Arrow Connector 11"/>
          <p:cNvCxnSpPr/>
          <p:nvPr/>
        </p:nvCxnSpPr>
        <p:spPr>
          <a:xfrm xmlns:a="http://schemas.openxmlformats.org/drawingml/2006/main" rot="0" flipH="1" flipV="1">
            <a:off x="4194010" y="2240208"/>
            <a:ext cx="1152941" cy="2420257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FF0000"/>
            </a:solidFill>
            <a:tailEnd type="triangle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D734B06-CB03-046F-4E52-BC424464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4401" y="4631010"/>
            <a:ext cx="3464379" cy="14328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2000"/>
              <a:t>A part that tells you who you are and what computer you are communicating with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0B21FCE-6F9F-A3AD-15C1-A8DB5B2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94010" y="4751264"/>
            <a:ext cx="5797513" cy="18945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2000"/>
              <a:t>The command prompt. NOTE this tells you your terminal is ready to receive a new typed command from you. If you don’t see it – your computer is still executing something else.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8213907-1679-ACF3-617C-9477F1B5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5408" y="1630938"/>
            <a:ext cx="2298118" cy="23562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2000">
                <a:solidFill>
                  <a:schemeClr val="tx2">
                    <a:lumMod val="75000"/>
                    <a:lumOff val="25000"/>
                  </a:schemeClr>
                </a:solidFill>
              </a:rPr>
              <a:t>HINT – your command prompt is customizable, but we will come back to that!</a:t>
            </a:r>
          </a:p>
        </p:txBody>
      </p:sp>
    </p:spTree>
    <p:extLst>
      <p:ext uri="{BB962C8B-B14F-4D97-AF65-F5344CB8AC3E}">
        <p14:creationId xmlns:p14="http://schemas.microsoft.com/office/powerpoint/2010/main" val="39747756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8F6EA8-4124-D8E2-8091-81C8FE8CB10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09627" y="212178"/>
            <a:ext cx="9144000" cy="557441"/>
          </a:xfrm>
        </p:spPr>
        <p:txBody>
          <a:bodyPr xmlns:a="http://schemas.openxmlformats.org/drawingml/2006/main">
            <a:normAutofit fontScale="90000"/>
          </a:bodyPr>
          <a:lstStyle xmlns:a="http://schemas.openxmlformats.org/drawingml/2006/main"/>
          <a:p xmlns:a="http://schemas.openxmlformats.org/drawingml/2006/main">
            <a:r>
              <a:rPr sz="3600"/>
              <a:t>The terminal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03D9F39-E7E0-39BB-7C1F-E19602F8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62168"/>
            <a:ext cx="11544300" cy="51262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macOS includes the Terminal app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endParaRPr sz="2000"/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endParaRPr sz="2000"/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Other terminal apps are available, such as iTerm2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endParaRPr sz="2000"/>
          </a:p>
          <a:p xmlns:a="http://schemas.openxmlformats.org/drawingml/2006/main">
            <a:pPr>
              <a:lnSpc>
                <a:spcPct val="150000"/>
              </a:lnSpc>
              <a:buNone/>
            </a:pPr>
            <a:endParaRPr sz="2000"/>
          </a:p>
          <a:p xmlns:a="http://schemas.openxmlformats.org/drawingml/2006/main">
            <a:pPr>
              <a:lnSpc>
                <a:spcPct val="150000"/>
              </a:lnSpc>
              <a:buNone/>
            </a:pPr>
            <a:endParaRPr sz="2000"/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Windows includes Command Prompt and PowerShell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endParaRPr sz="2000"/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endParaRPr sz="2000"/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For this course, use WSL with a Linux distribution such as Ubuntu</a:t>
            </a:r>
          </a:p>
        </p:txBody>
      </p:sp>
      <p:pic>
        <p:nvPicPr>
          <p:cNvPr id="11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2de236356f4f5a"/>
          <a:srcRect xmlns:a="http://schemas.openxmlformats.org/drawingml/2006/main" l="50777" t="0" r="0" b="72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62978" y="596847"/>
            <a:ext cx="1371600" cy="1499150"/>
          </a:xfrm>
          <a:prstGeom xmlns:a="http://schemas.openxmlformats.org/drawingml/2006/main" prst="rect">
            <a:avLst/>
          </a:prstGeom>
        </p:spPr>
      </p:pic>
      <p:pic>
        <p:nvPicPr>
          <p:cNvPr id="12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2de236356f4f5a"/>
          <a:srcRect xmlns:a="http://schemas.openxmlformats.org/drawingml/2006/main" l="0" t="0" r="440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22664" y="1833648"/>
            <a:ext cx="1371600" cy="1422400"/>
          </a:xfrm>
          <a:prstGeom xmlns:a="http://schemas.openxmlformats.org/drawingml/2006/main" prst="rect">
            <a:avLst/>
          </a:prstGeom>
        </p:spPr>
      </p:pic>
      <p:pic>
        <p:nvPicPr>
          <p:cNvPr id="13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18ffab889a49e9"/>
          <a:srcRect xmlns:a="http://schemas.openxmlformats.org/drawingml/2006/main" l="0" t="17407" r="0" b="19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60640" y="3679354"/>
            <a:ext cx="3659897" cy="1200137"/>
          </a:xfrm>
          <a:prstGeom xmlns:a="http://schemas.openxmlformats.org/drawingml/2006/main" prst="rect">
            <a:avLst/>
          </a:prstGeom>
        </p:spPr>
      </p:pic>
      <p:pic>
        <p:nvPicPr>
          <p:cNvPr id="14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7c65cfa9884f4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182225" y="5302797"/>
            <a:ext cx="1790700" cy="13430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22359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70DB92-0097-FCFE-33BD-9A46BE94CE7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09627" y="212178"/>
            <a:ext cx="9144000" cy="557441"/>
          </a:xfrm>
        </p:spPr>
        <p:txBody>
          <a:bodyPr xmlns:a="http://schemas.openxmlformats.org/drawingml/2006/main">
            <a:normAutofit fontScale="90000"/>
          </a:bodyPr>
          <a:lstStyle xmlns:a="http://schemas.openxmlformats.org/drawingml/2006/main"/>
          <a:p xmlns:a="http://schemas.openxmlformats.org/drawingml/2006/main">
            <a:r>
              <a:rPr sz="3600"/>
              <a:t>The shell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8DAA93F-D8C2-698E-3297-6318D083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351" y="890872"/>
            <a:ext cx="9327322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A shell interprets commands typed in a terminal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There are many different types of shell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macOS uses Z shell (Zsh) by default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Windows commonly uses PowerShell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Linux HPC systems commonly use Bash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Bash and Zsh share core syntax; PowerShell differs</a:t>
            </a:r>
          </a:p>
        </p:txBody>
      </p:sp>
      <p:pic>
        <p:nvPicPr>
          <p:cNvPr id="14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bfb7859f144f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74480" y="3830013"/>
            <a:ext cx="3695789" cy="1558391"/>
          </a:xfrm>
          <a:prstGeom xmlns:a="http://schemas.openxmlformats.org/drawingml/2006/main" prst="rect">
            <a:avLst/>
          </a:prstGeom>
        </p:spPr>
      </p:pic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7A7AA5B-538F-351E-8418-634E6919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150" y="5579529"/>
            <a:ext cx="9552954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2000" b="1">
                <a:solidFill>
                  <a:schemeClr val="accent6">
                    <a:lumMod val="75000"/>
                  </a:schemeClr>
                </a:solidFill>
              </a:rPr>
              <a:t>We will learn Bash-compatible commands because they are used on the Linux-based HPC systems in this course</a:t>
            </a:r>
          </a:p>
        </p:txBody>
      </p:sp>
    </p:spTree>
    <p:extLst>
      <p:ext uri="{BB962C8B-B14F-4D97-AF65-F5344CB8AC3E}">
        <p14:creationId xmlns:p14="http://schemas.microsoft.com/office/powerpoint/2010/main" val="424144115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FD9CD2-601A-201F-660F-D60D38E26B8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96647" y="190467"/>
            <a:ext cx="10741415" cy="557441"/>
          </a:xfrm>
        </p:spPr>
        <p:txBody>
          <a:bodyPr xmlns:a="http://schemas.openxmlformats.org/drawingml/2006/main">
            <a:normAutofit fontScale="90000"/>
          </a:bodyPr>
          <a:lstStyle xmlns:a="http://schemas.openxmlformats.org/drawingml/2006/main"/>
          <a:p xmlns:a="http://schemas.openxmlformats.org/drawingml/2006/main">
            <a:r>
              <a:rPr sz="3600"/>
              <a:t>SSH – secure shell – used to connect to a remote machine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CAD74FA-6920-AA88-587A-E1D276CF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665" y="3975012"/>
            <a:ext cx="1124867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To connect to a </a:t>
            </a:r>
            <a:r>
              <a:rPr sz="2000" b="1" u="sng"/>
              <a:t>remote machine </a:t>
            </a:r>
            <a:r>
              <a:rPr sz="2000"/>
              <a:t>we use the </a:t>
            </a:r>
            <a:r>
              <a:rPr sz="2000"/>
              <a:t>SSH command</a:t>
            </a:r>
            <a:r>
              <a:rPr sz="2000"/>
              <a:t>.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Once you have successfully executed the ssh command you will be </a:t>
            </a:r>
            <a:r>
              <a:rPr sz="2000"/>
              <a:t>logged in to</a:t>
            </a:r>
            <a:r>
              <a:rPr sz="2000"/>
              <a:t> a remote machine (via the internet).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Everything you type will then be executed</a:t>
            </a:r>
            <a:r>
              <a:rPr sz="2000"/>
              <a:t> on the remote machine NOT your own laptop.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This will remain the case until you log out by typing exit, or by closing the terminal window (or if your connection to the remote machine drops because of </a:t>
            </a:r>
            <a:r>
              <a:rPr sz="2000"/>
              <a:t>a network interruption</a:t>
            </a:r>
            <a:r>
              <a:rPr sz="2000"/>
              <a:t>).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endParaRPr sz="2000"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E10DC03-D301-C619-3952-09977E06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22" y="747908"/>
            <a:ext cx="11362040" cy="9712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2000"/>
              <a:t>When you type commands into a terminal on your laptop</a:t>
            </a:r>
          </a:p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2000"/>
              <a:t> </a:t>
            </a:r>
            <a:r>
              <a:rPr sz="2000" u="sng"/>
              <a:t>YOU ARE INTERACTING WITH YOUR OWN MACHINE</a:t>
            </a:r>
          </a:p>
        </p:txBody>
      </p:sp>
      <p:pic>
        <p:nvPicPr>
          <p:cNvPr id="10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f88102371e4e8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26592" y="1843314"/>
            <a:ext cx="4338816" cy="227053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41876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791E29B-4B14-A7F9-5347-0DAFBB3DE61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96647" y="190467"/>
            <a:ext cx="10741415" cy="557441"/>
          </a:xfrm>
        </p:spPr>
        <p:txBody>
          <a:bodyPr xmlns:a="http://schemas.openxmlformats.org/drawingml/2006/main">
            <a:normAutofit fontScale="90000"/>
          </a:bodyPr>
          <a:lstStyle xmlns:a="http://schemas.openxmlformats.org/drawingml/2006/main"/>
          <a:p xmlns:a="http://schemas.openxmlformats.org/drawingml/2006/main">
            <a:r>
              <a:rPr sz="3600"/>
              <a:t>SSH – always look at your command prompt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0F44CD-88A1-9727-2664-08D0CB274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1142" y="1228408"/>
            <a:ext cx="2656919" cy="18945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2000"/>
              <a:t>When I first open a terminal, I am interacting with my own laptop</a:t>
            </a:r>
            <a:endParaRPr sz="2000" u="sng"/>
          </a:p>
        </p:txBody>
      </p:sp>
      <p:pic>
        <p:nvPicPr>
          <p:cNvPr id="29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694843729542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26528" y="1241749"/>
            <a:ext cx="7772400" cy="1881217"/>
          </a:xfrm>
          <a:prstGeom xmlns:a="http://schemas.openxmlformats.org/drawingml/2006/main" prst="rect">
            <a:avLst/>
          </a:prstGeom>
        </p:spPr>
      </p:pic>
      <p:pic>
        <p:nvPicPr>
          <p:cNvPr id="30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e19dd97cc043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26528" y="3216348"/>
            <a:ext cx="7772400" cy="3538270"/>
          </a:xfrm>
          <a:prstGeom xmlns:a="http://schemas.openxmlformats.org/drawingml/2006/main" prst="rect">
            <a:avLst/>
          </a:prstGeom>
        </p:spPr>
      </p:pic>
      <p:cxnSp>
        <p:nvCxnSpPr>
          <p:cNvPr id="31" name="Straight Arrow Connector 10"/>
          <p:cNvCxnSpPr/>
          <p:nvPr/>
        </p:nvCxnSpPr>
        <p:spPr>
          <a:xfrm xmlns:a="http://schemas.openxmlformats.org/drawingml/2006/main" rot="0" flipH="1" flipV="0">
            <a:off x="5950860" y="4238171"/>
            <a:ext cx="2119085" cy="0"/>
          </a:xfrm>
          <a:prstGeom xmlns:a="http://schemas.openxmlformats.org/drawingml/2006/main" prst="straightConnector1">
            <a:avLst/>
          </a:prstGeom>
          <a:ln xmlns:a="http://schemas.openxmlformats.org/drawingml/2006/main" w="50800">
            <a:solidFill>
              <a:srgbClr val="FF0000"/>
            </a:solidFill>
            <a:tailEnd type="triangle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32" name="Straight Arrow Connector 11"/>
          <p:cNvCxnSpPr/>
          <p:nvPr/>
        </p:nvCxnSpPr>
        <p:spPr>
          <a:xfrm xmlns:a="http://schemas.openxmlformats.org/drawingml/2006/main" rot="0" flipH="1" flipV="0">
            <a:off x="4412728" y="2073500"/>
            <a:ext cx="2119085" cy="0"/>
          </a:xfrm>
          <a:prstGeom xmlns:a="http://schemas.openxmlformats.org/drawingml/2006/main" prst="straightConnector1">
            <a:avLst/>
          </a:prstGeom>
          <a:ln xmlns:a="http://schemas.openxmlformats.org/drawingml/2006/main" w="50800">
            <a:solidFill>
              <a:srgbClr val="FF0000"/>
            </a:solidFill>
            <a:tailEnd type="triangle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33" name="Straight Arrow Connector 12"/>
          <p:cNvCxnSpPr/>
          <p:nvPr/>
        </p:nvCxnSpPr>
        <p:spPr>
          <a:xfrm xmlns:a="http://schemas.openxmlformats.org/drawingml/2006/main" rot="0" flipH="1" flipV="0">
            <a:off x="4441374" y="5711371"/>
            <a:ext cx="2119085" cy="0"/>
          </a:xfrm>
          <a:prstGeom xmlns:a="http://schemas.openxmlformats.org/drawingml/2006/main" prst="straightConnector1">
            <a:avLst/>
          </a:prstGeom>
          <a:ln xmlns:a="http://schemas.openxmlformats.org/drawingml/2006/main" w="50800">
            <a:solidFill>
              <a:srgbClr val="FF0000"/>
            </a:solidFill>
            <a:tailEnd type="triangle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26BA9F7-87E7-6399-57D0-3FCFCB20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1143" y="4038204"/>
            <a:ext cx="2656919" cy="18945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2000"/>
              <a:t>After connecting to </a:t>
            </a:r>
            <a:r>
              <a:rPr sz="2000"/>
              <a:t>ada</a:t>
            </a:r>
            <a:r>
              <a:rPr sz="2000"/>
              <a:t> using ssh, I am interacting with Ada, not my own laptop</a:t>
            </a:r>
            <a:endParaRPr sz="2000" u="sng"/>
          </a:p>
        </p:txBody>
      </p:sp>
    </p:spTree>
    <p:extLst>
      <p:ext uri="{BB962C8B-B14F-4D97-AF65-F5344CB8AC3E}">
        <p14:creationId xmlns:p14="http://schemas.microsoft.com/office/powerpoint/2010/main" val="328069787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E68557-33DC-6C46-24B9-82BA54A3F59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96647" y="190467"/>
            <a:ext cx="10741415" cy="557441"/>
          </a:xfrm>
        </p:spPr>
        <p:txBody>
          <a:bodyPr xmlns:a="http://schemas.openxmlformats.org/drawingml/2006/main">
            <a:normAutofit fontScale="94375"/>
          </a:bodyPr>
          <a:lstStyle xmlns:a="http://schemas.openxmlformats.org/drawingml/2006/main"/>
          <a:p xmlns:a="http://schemas.openxmlformats.org/drawingml/2006/main">
            <a:r>
              <a:rPr sz="3600"/>
              <a:t>SSH command structure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799AC9E-779A-500C-BFE8-EE5E1ABCF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59434" y="1060714"/>
            <a:ext cx="8882289" cy="18945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2000"/>
              <a:t>ssh – secure shell basic command:</a:t>
            </a:r>
          </a:p>
          <a:p xmlns:a="http://schemas.openxmlformats.org/drawingml/2006/main">
            <a:pPr>
              <a:lnSpc>
                <a:spcPct val="150000"/>
              </a:lnSpc>
              <a:buNone/>
            </a:pPr>
            <a:endParaRPr sz="20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2000">
                <a:latin typeface="Monaco"/>
                <a:ea typeface="Monaco"/>
                <a:cs typeface="Monaco"/>
              </a:rPr>
              <a:t>	</a:t>
            </a:r>
            <a:r>
              <a:rPr sz="2000">
                <a:solidFill>
                  <a:schemeClr val="bg1"/>
                </a:solidFill>
                <a:highlight>
                  <a:srgbClr val="000000"/>
                </a:highlight>
                <a:latin typeface="Monaco"/>
                <a:ea typeface="Monaco"/>
                <a:cs typeface="Monaco"/>
              </a:rPr>
              <a:t>ssh </a:t>
            </a:r>
            <a:r>
              <a:rPr sz="2000">
                <a:solidFill>
                  <a:schemeClr val="accent6">
                    <a:lumMod val="75000"/>
                  </a:schemeClr>
                </a:solidFill>
                <a:highlight>
                  <a:srgbClr val="000000"/>
                </a:highlight>
                <a:latin typeface="Monaco"/>
                <a:ea typeface="Monaco"/>
                <a:cs typeface="Monaco"/>
              </a:rPr>
              <a:t>username</a:t>
            </a:r>
            <a:r>
              <a:rPr sz="2000">
                <a:solidFill>
                  <a:schemeClr val="bg1"/>
                </a:solidFill>
                <a:highlight>
                  <a:srgbClr val="000000"/>
                </a:highlight>
                <a:latin typeface="Monaco"/>
                <a:ea typeface="Monaco"/>
                <a:cs typeface="Monaco"/>
              </a:rPr>
              <a:t>@hpclogin02.ada.nottingham.ac.uk 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endParaRPr sz="2000"/>
          </a:p>
        </p:txBody>
      </p:sp>
      <p:cxnSp>
        <p:nvCxnSpPr>
          <p:cNvPr id="40" name="Straight Arrow Connector 5"/>
          <p:cNvCxnSpPr/>
          <p:nvPr/>
        </p:nvCxnSpPr>
        <p:spPr>
          <a:xfrm xmlns:a="http://schemas.openxmlformats.org/drawingml/2006/main" rot="0" flipH="0" flipV="1">
            <a:off x="2259612" y="2432965"/>
            <a:ext cx="593024" cy="581891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tailEnd type="triangle" w="lg" len="lg"/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0">
            <a:schemeClr val="dk1"/>
          </a:fillRef>
          <a:effectRef xmlns:a="http://schemas.openxmlformats.org/drawingml/2006/main" idx="1">
            <a:schemeClr val="dk1"/>
          </a:effectRef>
          <a:fontRef xmlns:a="http://schemas.openxmlformats.org/drawingml/2006/main" idx="minor">
            <a:schemeClr val="tx1"/>
          </a:fontRef>
        </p:style>
      </p:cxn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46B03D9-0094-FE22-8815-01AB693E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58805" y="3059668"/>
            <a:ext cx="1268015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/>
              <a:t>command</a:t>
            </a: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4C8B359-6A6F-1476-DEDC-2F7864B2D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193548" y="3177308"/>
            <a:ext cx="1268015" cy="120032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/>
              <a:t>Name of user on the remote machine</a:t>
            </a:r>
            <a:endParaRPr/>
          </a:p>
        </p:txBody>
      </p:sp>
      <p:cxnSp>
        <p:nvCxnSpPr>
          <p:cNvPr id="43" name="Straight Arrow Connector 15"/>
          <p:cNvCxnSpPr/>
          <p:nvPr/>
        </p:nvCxnSpPr>
        <p:spPr>
          <a:xfrm xmlns:a="http://schemas.openxmlformats.org/drawingml/2006/main" rot="0" flipH="0" flipV="1">
            <a:off x="4854919" y="2595417"/>
            <a:ext cx="0" cy="581891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tailEnd type="triangle" w="lg" len="lg"/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0">
            <a:schemeClr val="dk1"/>
          </a:fillRef>
          <a:effectRef xmlns:a="http://schemas.openxmlformats.org/drawingml/2006/main" idx="1">
            <a:schemeClr val="dk1"/>
          </a:effectRef>
          <a:fontRef xmlns:a="http://schemas.openxmlformats.org/drawingml/2006/main" idx="minor">
            <a:schemeClr val="tx1"/>
          </a:fontRef>
        </p:style>
      </p:cxn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DE571CC-3B22-FAEF-512E-AB4AC3006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58965" y="3177308"/>
            <a:ext cx="1268015" cy="14773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/>
              <a:t>Symbol to separate username from host address</a:t>
            </a: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2821E2A-9BB1-7F34-982A-14B3A16E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76362" y="3164466"/>
            <a:ext cx="3204996" cy="120032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/>
              <a:t>Host address of remote machine. This can be an IP address or a domain name as above.</a:t>
            </a:r>
            <a:endParaRPr/>
          </a:p>
        </p:txBody>
      </p:sp>
      <p:sp>
        <p:nvSpPr>
          <p:cNvPr id="21" name="Left Brace 20">
            <a:extLst xmlns:a="http://schemas.openxmlformats.org/drawingml/2006/main">
              <a:ext uri="{FF2B5EF4-FFF2-40B4-BE49-F238E27FC236}">
                <a16:creationId xmlns:a16="http://schemas.microsoft.com/office/drawing/2014/main" id="{F444D916-45A4-BDCA-2B0F-ABAFB676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 flipH="0" flipV="0">
            <a:off x="7080699" y="438036"/>
            <a:ext cx="570984" cy="4740789"/>
          </a:xfrm>
          <a:prstGeom xmlns:a="http://schemas.openxmlformats.org/drawingml/2006/main" prst="leftBrace">
            <a:avLst>
              <a:gd name="adj1" fmla="val 73392"/>
              <a:gd name="adj2" fmla="val 49397"/>
            </a:avLst>
          </a:prstGeom>
          <a:ln xmlns:a="http://schemas.openxmlformats.org/drawingml/2006/main" w="22225"/>
        </p:spPr>
        <p:style>
          <a:lnRef xmlns:a="http://schemas.openxmlformats.org/drawingml/2006/main" idx="2">
            <a:schemeClr val="dk1"/>
          </a:lnRef>
          <a:fillRef xmlns:a="http://schemas.openxmlformats.org/drawingml/2006/main" idx="0">
            <a:schemeClr val="dk1"/>
          </a:fillRef>
          <a:effectRef xmlns:a="http://schemas.openxmlformats.org/drawingml/2006/main" idx="1">
            <a:schemeClr val="dk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Left Brace 21">
            <a:extLst xmlns:a="http://schemas.openxmlformats.org/drawingml/2006/main">
              <a:ext uri="{FF2B5EF4-FFF2-40B4-BE49-F238E27FC236}">
                <a16:creationId xmlns:a16="http://schemas.microsoft.com/office/drawing/2014/main" id="{7B873F36-6242-CAEF-93BC-2A6ACD4D0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 flipH="0" flipV="0">
            <a:off x="3917523" y="2225554"/>
            <a:ext cx="570984" cy="1162933"/>
          </a:xfrm>
          <a:prstGeom xmlns:a="http://schemas.openxmlformats.org/drawingml/2006/main" prst="leftBrace">
            <a:avLst>
              <a:gd name="adj1" fmla="val 73392"/>
              <a:gd name="adj2" fmla="val 26054"/>
            </a:avLst>
          </a:prstGeom>
          <a:ln xmlns:a="http://schemas.openxmlformats.org/drawingml/2006/main" w="22225"/>
        </p:spPr>
        <p:style>
          <a:lnRef xmlns:a="http://schemas.openxmlformats.org/drawingml/2006/main" idx="2">
            <a:schemeClr val="dk1"/>
          </a:lnRef>
          <a:fillRef xmlns:a="http://schemas.openxmlformats.org/drawingml/2006/main" idx="0">
            <a:schemeClr val="dk1"/>
          </a:fillRef>
          <a:effectRef xmlns:a="http://schemas.openxmlformats.org/drawingml/2006/main" idx="1">
            <a:schemeClr val="dk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13871EA-6236-D5C8-975A-270ECD88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9434" y="5178085"/>
            <a:ext cx="3599537" cy="6463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>On Ada this is your university username e.g. mine is </a:t>
            </a:r>
            <a:r>
              <a:t>mbzlld</a:t>
            </a:r>
            <a:endParaRPr/>
          </a:p>
        </p:txBody>
      </p:sp>
      <p:cxnSp>
        <p:nvCxnSpPr>
          <p:cNvPr id="49" name="Straight Arrow Connector 7"/>
          <p:cNvCxnSpPr/>
          <p:nvPr/>
        </p:nvCxnSpPr>
        <p:spPr>
          <a:xfrm xmlns:a="http://schemas.openxmlformats.org/drawingml/2006/main" flipV="1">
            <a:off x="3668732" y="4407636"/>
            <a:ext cx="0" cy="685654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tailEnd type="triangle" w="lg" len="lg"/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0">
            <a:schemeClr val="dk1"/>
          </a:fillRef>
          <a:effectRef xmlns:a="http://schemas.openxmlformats.org/drawingml/2006/main" idx="1">
            <a:schemeClr val="dk1"/>
          </a:effectRef>
          <a:fontRef xmlns:a="http://schemas.openxmlformats.org/drawingml/2006/main" idx="minor">
            <a:schemeClr val="tx1"/>
          </a:fontRef>
        </p:style>
      </p:cxn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0736B49-981E-0BD1-69A2-34763AE3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11301"/>
            <a:ext cx="5108615" cy="6463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>You can use either hpclogin01 or hpclogin02 here (these are the two login nodes on Ada).</a:t>
            </a:r>
          </a:p>
        </p:txBody>
      </p:sp>
      <p:cxnSp>
        <p:nvCxnSpPr>
          <p:cNvPr id="51" name="Straight Arrow Connector 13"/>
          <p:cNvCxnSpPr/>
          <p:nvPr/>
        </p:nvCxnSpPr>
        <p:spPr>
          <a:xfrm xmlns:a="http://schemas.openxmlformats.org/drawingml/2006/main" flipV="1">
            <a:off x="7217475" y="4377637"/>
            <a:ext cx="0" cy="685654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tailEnd type="triangle" w="lg" len="lg"/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0">
            <a:schemeClr val="dk1"/>
          </a:fillRef>
          <a:effectRef xmlns:a="http://schemas.openxmlformats.org/drawingml/2006/main" idx="1">
            <a:schemeClr val="dk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52" name="Straight Arrow Connector 14"/>
          <p:cNvCxnSpPr/>
          <p:nvPr/>
        </p:nvCxnSpPr>
        <p:spPr>
          <a:xfrm xmlns:a="http://schemas.openxmlformats.org/drawingml/2006/main" flipV="1">
            <a:off x="2259612" y="2511880"/>
            <a:ext cx="1163959" cy="1589811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tailEnd type="triangle" w="lg" len="lg"/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0">
            <a:schemeClr val="dk1"/>
          </a:fillRef>
          <a:effectRef xmlns:a="http://schemas.openxmlformats.org/drawingml/2006/main" idx="1">
            <a:schemeClr val="dk1"/>
          </a:effectRef>
          <a:fontRef xmlns:a="http://schemas.openxmlformats.org/drawingml/2006/main" idx="minor">
            <a:schemeClr val="tx1"/>
          </a:fontRef>
        </p:style>
      </p:cxn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BE0D48B-0075-AD13-EE49-2128E4F2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544" y="4146503"/>
            <a:ext cx="1268015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>o</a:t>
            </a:r>
            <a:r>
              <a:rPr sz="1800"/>
              <a:t>ne space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4897942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EBA257-5ECD-CC98-20EB-8AE00D9F13B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23915" y="83590"/>
            <a:ext cx="9144000" cy="557441"/>
          </a:xfrm>
        </p:spPr>
        <p:txBody>
          <a:bodyPr xmlns:a="http://schemas.openxmlformats.org/drawingml/2006/main">
            <a:normAutofit fontScale="90000"/>
          </a:bodyPr>
          <a:lstStyle xmlns:a="http://schemas.openxmlformats.org/drawingml/2006/main"/>
          <a:p xmlns:a="http://schemas.openxmlformats.org/drawingml/2006/main">
            <a:r>
              <a:rPr sz="3600"/>
              <a:t>EXERCISE: Connect to the UoN HPC – Ada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A557741-4338-4E0E-6F5A-A368999CE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117" y="657948"/>
            <a:ext cx="11016343" cy="6675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r>
              <a:rPr sz="2000">
                <a:solidFill>
                  <a:srgbClr val="FF0000"/>
                </a:solidFill>
              </a:rPr>
              <a:t>**Always connect to the VPN before </a:t>
            </a:r>
            <a:r>
              <a:rPr sz="2000">
                <a:solidFill>
                  <a:srgbClr val="FF0000"/>
                </a:solidFill>
              </a:rPr>
              <a:t>trying to log in</a:t>
            </a:r>
            <a:r>
              <a:rPr sz="2000">
                <a:solidFill>
                  <a:srgbClr val="FF0000"/>
                </a:solidFill>
              </a:rPr>
              <a:t> to Ada (even on campus)**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r>
              <a:rPr sz="2000">
                <a:solidFill>
                  <a:schemeClr val="bg2">
                    <a:lumMod val="50000"/>
                  </a:schemeClr>
                </a:solidFill>
              </a:rPr>
              <a:t>Then open a terminal (terminal or </a:t>
            </a:r>
            <a:r>
              <a:rPr sz="2000">
                <a:solidFill>
                  <a:schemeClr val="bg2">
                    <a:lumMod val="50000"/>
                  </a:schemeClr>
                </a:solidFill>
              </a:rPr>
              <a:t>iTerm2</a:t>
            </a:r>
            <a:r>
              <a:rPr sz="2000">
                <a:solidFill>
                  <a:schemeClr val="bg2">
                    <a:lumMod val="50000"/>
                  </a:schemeClr>
                </a:solidFill>
              </a:rPr>
              <a:t> for Mac users, </a:t>
            </a:r>
            <a:r>
              <a:rPr sz="2000">
                <a:solidFill>
                  <a:schemeClr val="bg2">
                    <a:lumMod val="50000"/>
                  </a:schemeClr>
                </a:solidFill>
              </a:rPr>
              <a:t>WSL/Ubuntu for Windows users</a:t>
            </a:r>
            <a:r>
              <a:rPr sz="2000">
                <a:solidFill>
                  <a:schemeClr val="bg2">
                    <a:lumMod val="50000"/>
                  </a:schemeClr>
                </a:solidFill>
              </a:rPr>
              <a:t>)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r>
              <a:rPr sz="2000">
                <a:solidFill>
                  <a:schemeClr val="bg2">
                    <a:lumMod val="50000"/>
                  </a:schemeClr>
                </a:solidFill>
              </a:rPr>
              <a:t>Type this command into your terminal (replacing ‘username’ with your university username)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endParaRPr sz="2000"/>
          </a:p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r>
              <a:rPr sz="2000">
                <a:solidFill>
                  <a:schemeClr val="bg2">
                    <a:lumMod val="50000"/>
                  </a:schemeClr>
                </a:solidFill>
              </a:rPr>
              <a:t>You should be prompted to enter your password (type your university password and hit return) – NOTE: you will not see any characters when you type your password. This is a safety feature but rest assured you are typing. If you get it wrong you will get multiple attempts.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r>
              <a:rPr sz="2000">
                <a:solidFill>
                  <a:schemeClr val="bg2">
                    <a:lumMod val="50000"/>
                  </a:schemeClr>
                </a:solidFill>
              </a:rPr>
              <a:t>The first time you log in</a:t>
            </a:r>
            <a:r>
              <a:rPr sz="2000">
                <a:solidFill>
                  <a:schemeClr val="bg2">
                    <a:lumMod val="50000"/>
                  </a:schemeClr>
                </a:solidFill>
              </a:rPr>
              <a:t> you will get a message about whether you trust this machine and want to add it to known hosts. Type </a:t>
            </a:r>
            <a:r>
              <a:rPr sz="2400">
                <a:latin typeface="Monaco"/>
                <a:ea typeface="Monaco"/>
                <a:cs typeface="Monaco"/>
              </a:rPr>
              <a:t>y</a:t>
            </a:r>
            <a:r>
              <a:rPr sz="2000"/>
              <a:t> </a:t>
            </a:r>
            <a:r>
              <a:rPr sz="2000">
                <a:solidFill>
                  <a:schemeClr val="bg2">
                    <a:lumMod val="50000"/>
                  </a:schemeClr>
                </a:solidFill>
              </a:rPr>
              <a:t>or</a:t>
            </a:r>
            <a:r>
              <a:rPr sz="2000"/>
              <a:t> </a:t>
            </a:r>
            <a:r>
              <a:rPr sz="2400">
                <a:latin typeface="Monaco"/>
                <a:ea typeface="Monaco"/>
                <a:cs typeface="Monaco"/>
              </a:rPr>
              <a:t>yes</a:t>
            </a:r>
            <a:r>
              <a:rPr sz="2000">
                <a:solidFill>
                  <a:schemeClr val="bg2">
                    <a:lumMod val="50000"/>
                  </a:schemeClr>
                </a:solidFill>
              </a:rPr>
              <a:t> to add to known hosts.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r>
              <a:rPr sz="2000">
                <a:solidFill>
                  <a:schemeClr val="bg2">
                    <a:lumMod val="50000"/>
                  </a:schemeClr>
                </a:solidFill>
              </a:rPr>
              <a:t>You should be connected. Check you see the word Ada at your command prompt: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endParaRPr sz="2000"/>
          </a:p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endParaRPr sz="2000"/>
          </a:p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r>
              <a:rPr sz="2000">
                <a:solidFill>
                  <a:schemeClr val="bg2">
                    <a:lumMod val="50000"/>
                  </a:schemeClr>
                </a:solidFill>
              </a:rPr>
              <a:t>Then log out with the command:</a:t>
            </a:r>
            <a:r>
              <a:rPr sz="2000">
                <a:solidFill>
                  <a:schemeClr val="bg2">
                    <a:lumMod val="50000"/>
                  </a:schemeClr>
                </a:solidFill>
              </a:rPr>
              <a:t>    </a:t>
            </a:r>
            <a:r>
              <a:rPr sz="2400">
                <a:latin typeface="Monaco"/>
                <a:ea typeface="Monaco"/>
                <a:cs typeface="Monaco"/>
              </a:rPr>
              <a:t>exit</a:t>
            </a:r>
            <a:endParaRPr sz="2000">
              <a:latin typeface="Monaco"/>
              <a:ea typeface="Monaco"/>
              <a:cs typeface="Monaco"/>
            </a:endParaR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36E6A4F-A803-F665-7EA3-58B63AA86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372" y="2091882"/>
            <a:ext cx="9364829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000">
                <a:latin typeface="Monaco"/>
                <a:ea typeface="Monaco"/>
                <a:cs typeface="Monaco"/>
              </a:rPr>
              <a:t>	</a:t>
            </a:r>
            <a:r>
              <a:rPr sz="2400">
                <a:latin typeface="Monaco"/>
                <a:ea typeface="Monaco"/>
                <a:cs typeface="Monaco"/>
              </a:rPr>
              <a:t>ssh </a:t>
            </a:r>
            <a:r>
              <a:rPr sz="2400">
                <a:solidFill>
                  <a:schemeClr val="accent6">
                    <a:lumMod val="75000"/>
                  </a:schemeClr>
                </a:solidFill>
                <a:latin typeface="Monaco"/>
                <a:ea typeface="Monaco"/>
                <a:cs typeface="Monaco"/>
              </a:rPr>
              <a:t>username</a:t>
            </a:r>
            <a:r>
              <a:rPr sz="2400">
                <a:latin typeface="Monaco"/>
                <a:ea typeface="Monaco"/>
                <a:cs typeface="Monaco"/>
              </a:rPr>
              <a:t>@hpclogin02.ada.nottingham.ac.uk</a:t>
            </a:r>
            <a:endParaRPr sz="2000"/>
          </a:p>
        </p:txBody>
      </p:sp>
      <p:pic>
        <p:nvPicPr>
          <p:cNvPr id="12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78ce7479ac40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63387" y="5510354"/>
            <a:ext cx="4622800" cy="5969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51048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5B0127F-D89A-0339-C16D-0D354F5CBCB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23915" y="328726"/>
            <a:ext cx="9144000" cy="557441"/>
          </a:xfrm>
        </p:spPr>
        <p:txBody>
          <a:bodyPr xmlns:a="http://schemas.openxmlformats.org/drawingml/2006/main">
            <a:normAutofit fontScale="94375"/>
          </a:bodyPr>
          <a:lstStyle xmlns:a="http://schemas.openxmlformats.org/drawingml/2006/main"/>
          <a:p xmlns:a="http://schemas.openxmlformats.org/drawingml/2006/main">
            <a:r>
              <a:rPr sz="3600"/>
              <a:t>SSH keys</a:t>
            </a:r>
          </a:p>
        </p:txBody>
      </p:sp>
      <p:pic>
        <p:nvPicPr>
          <p:cNvPr id="8" name="Graphic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e9a44941e949cb">
            <a:extLst>
              <a:ext uri="{96DAC541-7B7A-43D3-8B79-37D633B846F1}">
                <asvg:svgBlip xmlns:asvg="http://schemas.microsoft.com/office/drawing/2016/SVG/main" r:embed="R661558d9904f466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0524" y="150246"/>
            <a:ext cx="914400" cy="914400"/>
          </a:xfrm>
          <a:prstGeom xmlns:a="http://schemas.openxmlformats.org/drawingml/2006/main" prst="rect">
            <a:avLst/>
          </a:prstGeom>
        </p:spPr>
      </p:pic>
      <p:pic>
        <p:nvPicPr>
          <p:cNvPr id="9" name="Graphic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e9a44941e949cb">
            <a:extLst>
              <a:ext uri="{96DAC541-7B7A-43D3-8B79-37D633B846F1}">
                <asvg:svgBlip xmlns:asvg="http://schemas.microsoft.com/office/drawing/2016/SVG/main" r:embed="R661558d9904f466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034596" y="133993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131DB6-515C-B70B-6CC4-0EE5A5224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33" y="1248462"/>
            <a:ext cx="10687133" cy="17851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285750" indent="-285750">
              <a:spcAft>
                <a:spcPts val="1200"/>
              </a:spcAft>
              <a:buFont typeface="Arial"/>
              <a:buChar char="•"/>
            </a:pPr>
            <a:r>
              <a:rPr sz="2000"/>
              <a:t>SSH key pairs allow key-based login to a remote machine</a:t>
            </a:r>
          </a:p>
          <a:p xmlns:a="http://schemas.openxmlformats.org/drawingml/2006/main">
            <a:pPr marL="285750" indent="-285750">
              <a:spcAft>
                <a:spcPts val="1200"/>
              </a:spcAft>
              <a:buFont typeface="Arial"/>
              <a:buChar char="•"/>
            </a:pPr>
            <a:r>
              <a:rPr sz="2000"/>
              <a:t>Keep your private key only on your own device and never share it</a:t>
            </a:r>
          </a:p>
          <a:p xmlns:a="http://schemas.openxmlformats.org/drawingml/2006/main">
            <a:pPr marL="285750" indent="-285750">
              <a:spcAft>
                <a:spcPts val="1200"/>
              </a:spcAft>
              <a:buFont typeface="Arial"/>
              <a:buChar char="•"/>
            </a:pPr>
            <a:r>
              <a:rPr sz="2000"/>
              <a:t>Copy only the public key to a host you are authorised to use</a:t>
            </a:r>
          </a:p>
          <a:p xmlns:a="http://schemas.openxmlformats.org/drawingml/2006/main">
            <a:pPr marL="285750" indent="-285750">
              <a:spcAft>
                <a:spcPts val="1200"/>
              </a:spcAft>
              <a:buFont typeface="Arial"/>
              <a:buChar char="•"/>
            </a:pPr>
            <a:r>
              <a:rPr sz="2000"/>
              <a:t>Protect the private key with a passphrase and follow University guidance</a:t>
            </a:r>
          </a:p>
        </p:txBody>
      </p:sp>
      <p:pic>
        <p:nvPicPr>
          <p:cNvPr id="11" name="Picture 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3db11b7be34d14"/>
          <a:srcRect xmlns:a="http://schemas.openxmlformats.org/drawingml/2006/main" l="8652" t="11214" r="6904" b="295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17635" y="3429000"/>
            <a:ext cx="8021451" cy="281188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46233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1879CD6-AAAD-6DB9-0912-21F8919E916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23915" y="328726"/>
            <a:ext cx="9144000" cy="557441"/>
          </a:xfrm>
        </p:spPr>
        <p:txBody>
          <a:bodyPr xmlns:a="http://schemas.openxmlformats.org/drawingml/2006/main">
            <a:normAutofit fontScale="90000"/>
          </a:bodyPr>
          <a:lstStyle xmlns:a="http://schemas.openxmlformats.org/drawingml/2006/main"/>
          <a:p xmlns:a="http://schemas.openxmlformats.org/drawingml/2006/main">
            <a:r>
              <a:rPr sz="3600"/>
              <a:t>ssh keys – how they work</a:t>
            </a:r>
          </a:p>
        </p:txBody>
      </p:sp>
      <p:pic>
        <p:nvPicPr>
          <p:cNvPr id="7" name="Graphic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e9553d5de84410">
            <a:extLst>
              <a:ext uri="{96DAC541-7B7A-43D3-8B79-37D633B846F1}">
                <asvg:svgBlip xmlns:asvg="http://schemas.microsoft.com/office/drawing/2016/SVG/main" r:embed="Rd6570d5c333c47a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0524" y="150246"/>
            <a:ext cx="914400" cy="914400"/>
          </a:xfrm>
          <a:prstGeom xmlns:a="http://schemas.openxmlformats.org/drawingml/2006/main" prst="rect">
            <a:avLst/>
          </a:prstGeom>
        </p:spPr>
      </p:pic>
      <p:pic>
        <p:nvPicPr>
          <p:cNvPr id="8" name="Graphic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e9553d5de84410">
            <a:extLst>
              <a:ext uri="{96DAC541-7B7A-43D3-8B79-37D633B846F1}">
                <asvg:svgBlip xmlns:asvg="http://schemas.microsoft.com/office/drawing/2016/SVG/main" r:embed="Rd6570d5c333c47a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034596" y="133993"/>
            <a:ext cx="914400" cy="914400"/>
          </a:xfrm>
          <a:prstGeom xmlns:a="http://schemas.openxmlformats.org/drawingml/2006/main" prst="rect">
            <a:avLst/>
          </a:prstGeom>
        </p:spPr>
      </p:pic>
      <p:pic>
        <p:nvPicPr>
          <p:cNvPr id="9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a0abfa3f6047c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7019" y="1064646"/>
            <a:ext cx="10735482" cy="509435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19035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92F1C8-5B7C-3A2C-DB9F-686FE8F77B4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23915" y="328726"/>
            <a:ext cx="9144000" cy="557441"/>
          </a:xfrm>
        </p:spPr>
        <p:txBody>
          <a:bodyPr xmlns:a="http://schemas.openxmlformats.org/drawingml/2006/main">
            <a:normAutofit fontScale="94375"/>
          </a:bodyPr>
          <a:lstStyle xmlns:a="http://schemas.openxmlformats.org/drawingml/2006/main"/>
          <a:p xmlns:a="http://schemas.openxmlformats.org/drawingml/2006/main">
            <a:r>
              <a:rPr sz="3600"/>
              <a:t>EXERCISE: set up key-based SSH login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2BA3043-00DF-7FB5-9DD1-897E3DBDD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24" y="968137"/>
            <a:ext cx="11910951" cy="6812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>
                <a:solidFill>
                  <a:schemeClr val="accent5"/>
                </a:solidFill>
              </a:rPr>
              <a:t>SSH keys authenticate your device to the HPC; your private key stays on your device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t>Open WSL/Ubuntu on Windows or Terminal on macOS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t>Create an Ed25519 key pair. Accept the default file location and set a memorable passphrase:</a:t>
            </a:r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>
                <a:latin typeface="Monaco"/>
                <a:ea typeface="Monaco"/>
                <a:cs typeface="Monaco"/>
              </a:rPr>
              <a:t>	</a:t>
            </a:r>
            <a:r>
              <a:rPr sz="2000">
                <a:latin typeface="Monaco"/>
                <a:ea typeface="Monaco"/>
                <a:cs typeface="Monaco"/>
              </a:rPr>
              <a:t>ssh-keygen -t ed25519</a:t>
            </a:r>
          </a:p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t>This creates ~/.ssh/id_ed25519 (private) and ~/.ssh/id_ed25519.pub (public). Never share the private key.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Font typeface="+mj-lt"/>
              <a:buAutoNum type="arabicPeriod" startAt="3"/>
            </a:pPr>
            <a:r>
              <a:t>Copy the public key to Ada; replace username and enter your Ada password when prompted:</a:t>
            </a:r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t>	</a:t>
            </a:r>
            <a:r>
              <a:rPr sz="2000">
                <a:latin typeface="Monaco"/>
                <a:ea typeface="Monaco"/>
                <a:cs typeface="Monaco"/>
              </a:rPr>
              <a:t>ssh-copy-id </a:t>
            </a:r>
            <a:r>
              <a:rPr sz="2000">
                <a:solidFill>
                  <a:schemeClr val="accent6">
                    <a:lumMod val="75000"/>
                  </a:schemeClr>
                </a:solidFill>
                <a:latin typeface="Monaco"/>
                <a:ea typeface="Monaco"/>
                <a:cs typeface="Monaco"/>
              </a:rPr>
              <a:t>username</a:t>
            </a:r>
            <a:r>
              <a:rPr sz="2000">
                <a:latin typeface="Monaco"/>
                <a:ea typeface="Monaco"/>
                <a:cs typeface="Monaco"/>
              </a:rPr>
              <a:t>@hpclogin02.ada.nottingham.ac.uk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Font typeface="+mj-lt"/>
              <a:buAutoNum type="arabicPeriod" startAt="4"/>
            </a:pPr>
            <a:r>
              <a:t>Test the connection. You should enter the key passphrase, not the Ada password:</a:t>
            </a:r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>
                <a:latin typeface="Monaco"/>
                <a:ea typeface="Monaco"/>
                <a:cs typeface="Monaco"/>
              </a:rPr>
              <a:t>	 </a:t>
            </a:r>
            <a:r>
              <a:rPr sz="2000">
                <a:latin typeface="Monaco"/>
                <a:ea typeface="Monaco"/>
                <a:cs typeface="Monaco"/>
              </a:rPr>
              <a:t>ssh </a:t>
            </a:r>
            <a:r>
              <a:rPr sz="2000">
                <a:solidFill>
                  <a:schemeClr val="accent6">
                    <a:lumMod val="75000"/>
                  </a:schemeClr>
                </a:solidFill>
                <a:latin typeface="Monaco"/>
                <a:ea typeface="Monaco"/>
                <a:cs typeface="Monaco"/>
              </a:rPr>
              <a:t>username</a:t>
            </a:r>
            <a:r>
              <a:rPr sz="2000">
                <a:latin typeface="Monaco"/>
                <a:ea typeface="Monaco"/>
                <a:cs typeface="Monaco"/>
              </a:rPr>
              <a:t>@hpclogin02.</a:t>
            </a:r>
            <a:r>
              <a:rPr sz="2000">
                <a:latin typeface="Monaco"/>
                <a:ea typeface="Monaco"/>
                <a:cs typeface="Monaco"/>
              </a:rPr>
              <a:t>ada.nottingham.ac.uk </a:t>
            </a:r>
            <a:endParaRPr sz="2400">
              <a:latin typeface="Monaco"/>
              <a:ea typeface="Monaco"/>
              <a:cs typeface="Monaco"/>
            </a:endParaRPr>
          </a:p>
          <a:p xmlns:a="http://schemas.openxmlformats.org/drawingml/2006/main">
            <a:pPr>
              <a:lnSpc>
                <a:spcPct val="150000"/>
              </a:lnSpc>
              <a:buNone/>
            </a:pPr>
            <a:endParaRPr>
              <a:latin typeface="Monaco"/>
              <a:ea typeface="Monaco"/>
              <a:cs typeface="Monaco"/>
            </a:endParaRPr>
          </a:p>
        </p:txBody>
      </p:sp>
      <p:pic>
        <p:nvPicPr>
          <p:cNvPr id="10" name="Graphic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0d5982ba04316">
            <a:extLst>
              <a:ext uri="{96DAC541-7B7A-43D3-8B79-37D633B846F1}">
                <asvg:svgBlip xmlns:asvg="http://schemas.microsoft.com/office/drawing/2016/SVG/main" r:embed="Ra39eef4efac74db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0524" y="150246"/>
            <a:ext cx="914400" cy="914400"/>
          </a:xfrm>
          <a:prstGeom xmlns:a="http://schemas.openxmlformats.org/drawingml/2006/main" prst="rect">
            <a:avLst/>
          </a:prstGeom>
        </p:spPr>
      </p:pic>
      <p:pic>
        <p:nvPicPr>
          <p:cNvPr id="11" name="Graphic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0d5982ba04316">
            <a:extLst>
              <a:ext uri="{96DAC541-7B7A-43D3-8B79-37D633B846F1}">
                <asvg:svgBlip xmlns:asvg="http://schemas.microsoft.com/office/drawing/2016/SVG/main" r:embed="Ra39eef4efac74db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034596" y="133993"/>
            <a:ext cx="914400" cy="914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516566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08cbfa81c74b41"/>
          <a:srcRect xmlns:a="http://schemas.openxmlformats.org/drawingml/2006/main" l="0" t="31260" r="0" b="323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74755" y="5208026"/>
            <a:ext cx="2540000" cy="924911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4A9012-BE9D-978E-C7B0-FB80B717336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23915" y="140614"/>
            <a:ext cx="9144000" cy="557441"/>
          </a:xfrm>
        </p:spPr>
        <p:txBody>
          <a:bodyPr xmlns:a="http://schemas.openxmlformats.org/drawingml/2006/main">
            <a:normAutofit fontScale="90000"/>
          </a:bodyPr>
          <a:lstStyle xmlns:a="http://schemas.openxmlformats.org/drawingml/2006/main"/>
          <a:p xmlns:a="http://schemas.openxmlformats.org/drawingml/2006/main">
            <a:r>
              <a:rPr sz="3600"/>
              <a:t>ssh config file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842EBC-B494-B317-451B-26A2D0C6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414" y="1313264"/>
            <a:ext cx="6801257" cy="3279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An ssh config file specifies information about the different hosts you connect to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The config file is located here: ~/.ssh/config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It allows you to login without having to remember the domain name or </a:t>
            </a:r>
            <a:r>
              <a:rPr sz="2000"/>
              <a:t>ip</a:t>
            </a:r>
            <a:r>
              <a:rPr sz="2000"/>
              <a:t> address of each machine you want to ssh into.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Makes life much easier if you regularly use multiple HPCs</a:t>
            </a:r>
          </a:p>
        </p:txBody>
      </p:sp>
      <p:pic>
        <p:nvPicPr>
          <p:cNvPr id="14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a6c36662434e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77246" y="1116399"/>
            <a:ext cx="4516377" cy="5230702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BF698C0-A4DA-5B11-A7C5-E43A2E7C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246" y="698055"/>
            <a:ext cx="1367309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>Example:</a:t>
            </a:r>
          </a:p>
        </p:txBody>
      </p:sp>
    </p:spTree>
    <p:extLst>
      <p:ext uri="{BB962C8B-B14F-4D97-AF65-F5344CB8AC3E}">
        <p14:creationId xmlns:p14="http://schemas.microsoft.com/office/powerpoint/2010/main" val="1427272894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0744708-2303-9C7F-244D-58CFB7440C0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23915" y="140614"/>
            <a:ext cx="9144000" cy="557441"/>
          </a:xfrm>
        </p:spPr>
        <p:txBody>
          <a:bodyPr xmlns:a="http://schemas.openxmlformats.org/drawingml/2006/main">
            <a:normAutofit fontScale="90000"/>
          </a:bodyPr>
          <a:lstStyle xmlns:a="http://schemas.openxmlformats.org/drawingml/2006/main"/>
          <a:p xmlns:a="http://schemas.openxmlformats.org/drawingml/2006/main">
            <a:r>
              <a:rPr sz="3600"/>
              <a:t>Setting up a config file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AA229F2-331F-884B-93C5-DD4CECD1D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15" y="3569365"/>
            <a:ext cx="6581166" cy="18851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2">
              <a:lumMod val="25000"/>
              <a:lumOff val="75000"/>
            </a:schemeClr>
          </a:solidFill>
          <a:ln xmlns:a="http://schemas.openxmlformats.org/drawingml/2006/main">
            <a:solidFill>
              <a:schemeClr val="tx1"/>
            </a:solidFill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2000">
                <a:latin typeface="Monaco"/>
                <a:ea typeface="Monaco"/>
                <a:cs typeface="Monaco"/>
              </a:rPr>
              <a:t>Host </a:t>
            </a:r>
            <a:r>
              <a:rPr sz="2000">
                <a:latin typeface="Monaco"/>
                <a:ea typeface="Monaco"/>
                <a:cs typeface="Monaco"/>
              </a:rPr>
              <a:t>ada</a:t>
            </a:r>
            <a:endParaRPr sz="2000">
              <a:latin typeface="Monaco"/>
              <a:ea typeface="Monaco"/>
              <a:cs typeface="Monaco"/>
            </a:endParaRPr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2000">
                <a:latin typeface="Monaco"/>
                <a:ea typeface="Monaco"/>
                <a:cs typeface="Monaco"/>
              </a:rPr>
              <a:t> Hostname hpclogin02.ada.nottingham.ac.uk</a:t>
            </a:r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2000">
                <a:latin typeface="Monaco"/>
                <a:ea typeface="Monaco"/>
                <a:cs typeface="Monaco"/>
              </a:rPr>
              <a:t> User </a:t>
            </a:r>
            <a:r>
              <a:rPr sz="2000">
                <a:solidFill>
                  <a:schemeClr val="accent3"/>
                </a:solidFill>
                <a:latin typeface="Monaco"/>
                <a:ea typeface="Monaco"/>
                <a:cs typeface="Monaco"/>
              </a:rPr>
              <a:t>username</a:t>
            </a:r>
          </a:p>
          <a:p xmlns:a="http://schemas.openxmlformats.org/drawingml/2006/main">
            <a:pPr>
              <a:lnSpc>
                <a:spcPct val="150000"/>
              </a:lnSpc>
              <a:buNone/>
            </a:pPr>
            <a:endParaRPr sz="2000">
              <a:latin typeface="Monaco"/>
              <a:ea typeface="Monaco"/>
              <a:cs typeface="Monaco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C75CEE-9B2D-DE75-C8ED-E997E119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848" y="725063"/>
            <a:ext cx="10731062" cy="14328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We will create a config file together… use nano or vim or whatever text editor you prefer!</a:t>
            </a:r>
            <a:br/>
            <a:r>
              <a:rPr sz="2000"/>
              <a:t>E.g. type     </a:t>
            </a:r>
            <a:r>
              <a:rPr sz="2000">
                <a:latin typeface="Monaco"/>
                <a:ea typeface="Monaco"/>
                <a:cs typeface="Monaco"/>
              </a:rPr>
              <a:t>nano ~/.ssh/config   </a:t>
            </a:r>
            <a:r>
              <a:rPr sz="2000"/>
              <a:t>OR      </a:t>
            </a:r>
            <a:r>
              <a:rPr sz="2000">
                <a:latin typeface="Monaco"/>
                <a:ea typeface="Monaco"/>
                <a:cs typeface="Monaco"/>
              </a:rPr>
              <a:t>vim ~/.ssh/config </a:t>
            </a:r>
            <a:r>
              <a:rPr sz="2000"/>
              <a:t> into your terminal to create the file, type the text from the example below then save.</a:t>
            </a:r>
          </a:p>
        </p:txBody>
      </p:sp>
      <p:pic>
        <p:nvPicPr>
          <p:cNvPr id="14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c4ac0db7ff431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43558" y="3288636"/>
            <a:ext cx="2540000" cy="2540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CE8C22-9707-737C-6962-495BD2DE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848" y="5920934"/>
            <a:ext cx="10106484" cy="5074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After you have created your config file try logging in using the command:     </a:t>
            </a:r>
            <a:r>
              <a:rPr sz="2000">
                <a:latin typeface="Monaco"/>
                <a:ea typeface="Monaco"/>
                <a:cs typeface="Monaco"/>
              </a:rPr>
              <a:t>ssh </a:t>
            </a:r>
            <a:r>
              <a:rPr sz="2000">
                <a:latin typeface="Monaco"/>
                <a:ea typeface="Monaco"/>
                <a:cs typeface="Monaco"/>
              </a:rPr>
              <a:t>ada</a:t>
            </a:r>
            <a:endParaRPr sz="2000">
              <a:latin typeface="Monaco"/>
              <a:ea typeface="Monaco"/>
              <a:cs typeface="Monaco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289767E-C7FA-E2C7-7FB0-7BBE76942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0916" y="2642305"/>
            <a:ext cx="9256999" cy="6463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/>
              <a:t>Example config file: replace ‘username’ with your University username; indentation improves readability and the host/user values must be exact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734190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955C0C8-8EBF-8CE6-789E-A528C8C8405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95695"/>
            <a:ext cx="9144000" cy="557441"/>
          </a:xfrm>
        </p:spPr>
        <p:txBody>
          <a:bodyPr xmlns:a="http://schemas.openxmlformats.org/drawingml/2006/main">
            <a:normAutofit fontScale="90000"/>
          </a:bodyPr>
          <a:lstStyle xmlns:a="http://schemas.openxmlformats.org/drawingml/2006/main"/>
          <a:p xmlns:a="http://schemas.openxmlformats.org/drawingml/2006/main">
            <a:r>
              <a:rPr sz="3600"/>
              <a:t>OpenOnDemand</a:t>
            </a:r>
            <a:endParaRPr sz="3600"/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7F6267F-AC46-9087-9F2E-91E495B29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251" y="554952"/>
            <a:ext cx="11361426" cy="593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2400" b="1" i="0" u="sng">
                <a:solidFill>
                  <a:srgbClr val="03787C"/>
                </a:solidFill>
                <a:latin typeface="Segoe UI"/>
                <a:ea typeface="Segoe UI"/>
                <a:cs typeface="Segoe UI"/>
                <a:hlinkClick xmlns:r="http://schemas.openxmlformats.org/officeDocument/2006/relationships" r:id="R29f589ba78b949ac"/>
              </a:rPr>
              <a:t>https://hpcondemand01.ada.nottingham.ac.uk</a:t>
            </a:r>
            <a:endParaRPr sz="2400"/>
          </a:p>
        </p:txBody>
      </p:sp>
      <p:pic>
        <p:nvPicPr>
          <p:cNvPr id="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35cb505f6044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5092" y="1489603"/>
            <a:ext cx="10032095" cy="506098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72295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48B20D8B-6BDD-B027-76F9-356287EF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327" y="187287"/>
            <a:ext cx="9144000" cy="55744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97500" lnSpcReduction="10000"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3600"/>
              <a:t>UoN</a:t>
            </a:r>
            <a:r>
              <a:rPr sz="3600"/>
              <a:t> HPC – Ada – support &amp; information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28DC056-10AC-40A1-4F48-3426EDC7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73" y="1260255"/>
            <a:ext cx="11887200" cy="175432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tx2"/>
                </a:solidFill>
              </a:rPr>
              <a:t>Commands, partitions and resources:</a:t>
            </a:r>
          </a:p>
          <a:p xmlns:a="http://schemas.openxmlformats.org/drawingml/2006/main">
            <a:r>
              <a:rPr>
                <a:solidFill>
                  <a:schemeClr val="tx2"/>
                </a:solidFill>
                <a:hlinkClick xmlns:r="http://schemas.openxmlformats.org/officeDocument/2006/relationships" r:id="Rd6dfc3e9061e4ae4"/>
              </a:rPr>
              <a:t>https://uniofnottm.sharepoint.com/sites/DigitalResearch/SitePages/Ada-Commands-Partitions-and-Resources.aspx</a:t>
            </a:r>
            <a:endParaRPr>
              <a:solidFill>
                <a:schemeClr val="tx2"/>
              </a:solidFill>
            </a:endParaRPr>
          </a:p>
          <a:p xmlns:a="http://schemas.openxmlformats.org/drawingml/2006/main">
            <a:endParaRPr>
              <a:solidFill>
                <a:schemeClr val="tx2"/>
              </a:solidFill>
            </a:endParaRPr>
          </a:p>
          <a:p xmlns:a="http://schemas.openxmlformats.org/drawingml/2006/main">
            <a:r>
              <a:rPr>
                <a:solidFill>
                  <a:schemeClr val="tx2"/>
                </a:solidFill>
              </a:rPr>
              <a:t>Software modules:</a:t>
            </a:r>
          </a:p>
          <a:p xmlns:a="http://schemas.openxmlformats.org/drawingml/2006/main">
            <a:r>
              <a:rPr>
                <a:solidFill>
                  <a:schemeClr val="tx2"/>
                </a:solidFill>
                <a:hlinkClick xmlns:r="http://schemas.openxmlformats.org/officeDocument/2006/relationships" r:id="R786e1bc0f82b472b"/>
              </a:rPr>
              <a:t>https://uniofnottm.sharepoint.com/sites/DigitalResearch/SitePages/Ada-Compute-software.aspx</a:t>
            </a:r>
            <a:endParaRPr>
              <a:solidFill>
                <a:schemeClr val="tx2"/>
              </a:solidFill>
            </a:endParaRPr>
          </a:p>
          <a:p xmlns:a="http://schemas.openxmlformats.org/drawingml/2006/main">
            <a:endParaRPr>
              <a:solidFill>
                <a:schemeClr val="tx2"/>
              </a:solidFill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743B65B-B1BB-6242-F6F3-14AF5903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27" y="874673"/>
            <a:ext cx="2745955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 i="0">
                <a:solidFill>
                  <a:srgbClr val="323130"/>
                </a:solidFill>
                <a:highlight>
                  <a:srgbClr val="FFFFFF"/>
                </a:highlight>
                <a:latin typeface="Segoe UI"/>
                <a:ea typeface="Segoe UI"/>
                <a:cs typeface="Segoe UI"/>
              </a:rPr>
              <a:t>The </a:t>
            </a:r>
            <a:r>
              <a:rPr b="1" i="0">
                <a:solidFill>
                  <a:srgbClr val="323130"/>
                </a:solidFill>
                <a:highlight>
                  <a:srgbClr val="FFFFFF"/>
                </a:highlight>
                <a:latin typeface="Segoe UI"/>
                <a:ea typeface="Segoe UI"/>
                <a:cs typeface="Segoe UI"/>
              </a:rPr>
              <a:t>sharepoint</a:t>
            </a:r>
            <a:r>
              <a:rPr b="1" i="0">
                <a:solidFill>
                  <a:srgbClr val="323130"/>
                </a:solidFill>
                <a:highlight>
                  <a:srgbClr val="FFFFFF"/>
                </a:highlight>
                <a:latin typeface="Segoe UI"/>
                <a:ea typeface="Segoe UI"/>
                <a:cs typeface="Segoe UI"/>
              </a:rPr>
              <a:t> site:</a:t>
            </a:r>
            <a:endParaRPr b="0" i="0">
              <a:solidFill>
                <a:srgbClr val="323130"/>
              </a:solidFill>
              <a:highlight>
                <a:srgbClr val="FFFFFF"/>
              </a:highlight>
              <a:latin typeface="Segoe UI"/>
              <a:ea typeface="Segoe UI"/>
              <a:cs typeface="Segoe UI"/>
            </a:endParaR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9C89EC8-F7D7-F2C8-46B8-422186E8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451" y="3681586"/>
            <a:ext cx="11675855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 i="0">
                <a:solidFill>
                  <a:srgbClr val="323130"/>
                </a:solidFill>
                <a:highlight>
                  <a:srgbClr val="FFFFFF"/>
                </a:highlight>
                <a:latin typeface="Segoe UI"/>
                <a:ea typeface="Segoe UI"/>
                <a:cs typeface="Segoe UI"/>
              </a:rPr>
              <a:t>The IT helpdesk: (if you need something that requires admin rights, this is your only option!)</a:t>
            </a:r>
            <a:endParaRPr b="0" i="0">
              <a:solidFill>
                <a:srgbClr val="323130"/>
              </a:solidFill>
              <a:highlight>
                <a:srgbClr val="FFFFFF"/>
              </a:highlight>
              <a:latin typeface="Segoe UI"/>
              <a:ea typeface="Segoe UI"/>
              <a:cs typeface="Segoe UI"/>
            </a:endParaR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E489B18-306F-1FB4-ACA3-0425001B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451" y="5349399"/>
            <a:ext cx="6546776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 i="0">
                <a:solidFill>
                  <a:srgbClr val="323130"/>
                </a:solidFill>
                <a:highlight>
                  <a:srgbClr val="FFFFFF"/>
                </a:highlight>
                <a:latin typeface="Segoe UI"/>
                <a:ea typeface="Segoe UI"/>
                <a:cs typeface="Segoe UI"/>
              </a:rPr>
              <a:t>Me! : </a:t>
            </a:r>
            <a:r>
              <a:rPr i="0">
                <a:solidFill>
                  <a:srgbClr val="323130"/>
                </a:solidFill>
                <a:highlight>
                  <a:srgbClr val="FFFFFF"/>
                </a:highlight>
                <a:latin typeface="Segoe UI"/>
                <a:ea typeface="Segoe UI"/>
                <a:cs typeface="Segoe UI"/>
                <a:hlinkClick xmlns:r="http://schemas.openxmlformats.org/officeDocument/2006/relationships" r:id="Rd92ad7542a6c450b"/>
              </a:rPr>
              <a:t>laura.dean@nottingham.ac.uk</a:t>
            </a:r>
            <a:r>
              <a:rPr i="0">
                <a:solidFill>
                  <a:srgbClr val="323130"/>
                </a:solidFill>
                <a:highlight>
                  <a:srgbClr val="FFFFFF"/>
                </a:highlight>
                <a:latin typeface="Segoe UI"/>
                <a:ea typeface="Segoe UI"/>
                <a:cs typeface="Segoe UI"/>
              </a:rPr>
              <a:t> or teams chat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1EDDB11-FC1B-815F-FAA2-102F1945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27" y="4108602"/>
            <a:ext cx="9907000" cy="6463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tx2"/>
                </a:solidFill>
                <a:hlinkClick xmlns:r="http://schemas.openxmlformats.org/officeDocument/2006/relationships" r:id="R667d723e733a4c9b"/>
              </a:rPr>
              <a:t>https://www.nottingham.ac.uk/dts/help/self-service-portal/self-service-portal.aspx</a:t>
            </a:r>
            <a:endParaRPr>
              <a:solidFill>
                <a:schemeClr val="tx2"/>
              </a:solidFill>
            </a:endParaRPr>
          </a:p>
          <a:p xmlns:a="http://schemas.openxmlformats.org/drawingml/2006/main">
            <a:endParaRPr>
              <a:solidFill>
                <a:schemeClr val="tx2"/>
              </a:solidFill>
            </a:endParaRPr>
          </a:p>
        </p:txBody>
      </p:sp>
      <p:pic>
        <p:nvPicPr>
          <p:cNvPr id="19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b0eea8e74a4f5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74305" y="4766750"/>
            <a:ext cx="1724585" cy="190396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25007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2026-09-03T20:02:08.4040000Z</dcterms:created>
  <dcterms:modified xsi:type="dcterms:W3CDTF">2026-09-03T20:02:08.4040000Z</dcterms:modified>
</coreProperties>
</file>