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5"/>
  </p:normalViewPr>
  <p:slideViewPr>
    <p:cSldViewPr snapToGrid="0">
      <p:cViewPr varScale="1">
        <p:scale>
          <a:sx n="116" d="100"/>
          <a:sy n="116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Ada Lovelace – considered the world’s first computer programmer!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Operational Ada resource statements are retained from the source deck and should be verified before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GPGPU - </a:t>
            </a:r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General-Purpose computing on Graphics Processing Units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Microsoft Learn, Install WSL: https://learn.microsoft.com/en-us/windows/wsl/install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GNU Bash manual: https://www.gnu.org/software/bash/manual/</a:t>
            </a:r>
          </a:p>
          <a:p>
            <a:r>
              <a:t>- Apple Support, use zsh as the default shell: https://support.apple.com/en-gb/102360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OpenBSD manual, ssh-keygen: https://man.openbsd.org/ssh-keygen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OpenBSD manual, ssh-keygen: https://man.openbsd.org/ssh-keygen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OpenBSD manual, ssh_config: https://man.openbsd.org/ssh_config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AAECD-A2AC-DEAB-91C5-D69EE11C0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D78D54-299C-B412-2A8B-A41BCC2BD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FF191-2CE6-5C5C-6DD3-144BAD3672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0B061E-8F2F-D342-BB88-8B219BD1F6BB}" type="datetimeFigureOut">
              <a:t>10/5/26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26273-CB16-CF10-F503-281850F4A58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249D0-88F6-AE7B-D7DE-BE06A176E8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5DB5BD0-B2D0-604A-B295-FE35C37A774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95D-23C4-06C8-AB04-71C8FB283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DB848-88F1-1F3E-3AB4-B7040D5D4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55A80-F341-2E26-42AE-E095F953C19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0B061E-8F2F-D342-BB88-8B219BD1F6BB}" type="datetimeFigureOut">
              <a:t>10/5/26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B296D-616F-742F-331B-21614EB995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13264-C77A-ED26-745C-C37354719B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5DB5BD0-B2D0-604A-B295-FE35C37A774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9ABD7-9115-B75F-00F1-35E01709D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F09A4-4706-01A4-7074-95020B3AA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9EF77-3033-12D9-BF38-1CEED44F3FF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0B061E-8F2F-D342-BB88-8B219BD1F6BB}" type="datetimeFigureOut">
              <a:t>10/5/26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E430F-C971-69FD-8D96-3221B8F7DB9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E638D-F775-73A7-0334-B17FB23378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5DB5BD0-B2D0-604A-B295-FE35C37A774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3E090-35EE-0D4C-04B6-BB486BE48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FC36C-E8EC-9291-41B1-457D1CEBE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3949F-C4F6-3A02-30F8-4EA23C2AC0A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FA1E0-7556-9E97-A357-62B9656EB9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0B061E-8F2F-D342-BB88-8B219BD1F6BB}" type="datetimeFigureOut">
              <a:t>10/5/26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A1A7A-7C3B-42BA-BD92-C66DE62445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81D59-5D10-F3D1-FF1E-E6F7CC8604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5DB5BD0-B2D0-604A-B295-FE35C37A774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AA4CC-2B8E-6D53-1DC7-896FC6E86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04FDA-E44A-E66A-B6F6-16BDC2D7A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59909-67CF-EC8D-D725-B83B9C0BC9F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C20D1E-9B8B-81AF-250B-7653FC1885B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A70157-F711-9299-13EC-EB4C9087924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2AF8C0-1E62-DD94-12AC-F906BFCF5CC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0B061E-8F2F-D342-BB88-8B219BD1F6BB}" type="datetimeFigureOut">
              <a:t>10/5/26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87A9FD-C17B-AEB7-D956-ABB78CFD46F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C730E1-DE07-FB58-256C-F9B04575F2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5DB5BD0-B2D0-604A-B295-FE35C37A774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9CB63-76E1-CFA1-9E45-F0D28A228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65850F-C6E1-4223-01EF-8775433E5C4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0B061E-8F2F-D342-BB88-8B219BD1F6BB}" type="datetimeFigureOut">
              <a:t>10/5/26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D4CE44-4DCD-8C89-00D7-6183708AE49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5B4EC-B851-F49B-09FD-064B056D64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5DB5BD0-B2D0-604A-B295-FE35C37A774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BDF56E-3F46-68F4-1C57-B361B32C3B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0B061E-8F2F-D342-BB88-8B219BD1F6BB}" type="datetimeFigureOut">
              <a:t>10/5/26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75FE3-A412-0DD5-80E8-7BF43D6F23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E7E60-442A-2CB0-1585-BDF12DB765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5DB5BD0-B2D0-604A-B295-FE35C37A774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91B8E-A787-7B00-9F0E-B0CF0954F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C416D-A36C-3D33-4C3F-4A5D6BBEB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E9A10-4373-8881-3085-D9E08FC5E15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4430B-26D9-406D-F767-DA04B77729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0B061E-8F2F-D342-BB88-8B219BD1F6BB}" type="datetimeFigureOut">
              <a:t>10/5/26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A6F6B-847E-A764-3F06-0CCBAF882FC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212BA-0190-B6C3-4479-2E647F5AB3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5DB5BD0-B2D0-604A-B295-FE35C37A774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D482C-695D-5D24-94B4-04118BF9A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A837C8-09C0-DFAA-6129-2521DD618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C31D6-3F83-3B95-0B4A-7113954874F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89105-B0A8-B232-4812-6A2F3791BB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0B061E-8F2F-D342-BB88-8B219BD1F6BB}" type="datetimeFigureOut">
              <a:t>10/5/26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253A9-634B-8CFC-48EE-B8E7CE7943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91E9F-7EA8-9E33-255D-22F05707B6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5DB5BD0-B2D0-604A-B295-FE35C37A774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D71E0-23E9-2403-B44F-D1F109F31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BEBE8-67D7-2E05-59D6-5B27D1C78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B6D40-18A6-C4DF-E87B-622C7D5BDDB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0B061E-8F2F-D342-BB88-8B219BD1F6BB}" type="datetimeFigureOut">
              <a:t>10/5/26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5DDCB-EA9C-C2CC-36DF-6D9AB86CA22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CDE68-EA71-C84A-C6AD-442F6969DA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5DB5BD0-B2D0-604A-B295-FE35C37A774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3B3A63-E8FF-FC00-8284-FFF987A4B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752D9A-4FF0-9533-DF96-D5ACB22A4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C78FB-139D-2898-BADC-C34A26BF9B7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70B061E-8F2F-D342-BB88-8B219BD1F6BB}" type="datetimeFigureOut">
              <a:t>10/5/26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FB923-F66E-B673-008B-7CEF2482E7F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385B6-F7EE-9D16-A536-778A15F623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5DB5BD0-B2D0-604A-B295-FE35C37A774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99CC49-6420-F582-3CC2-588198694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21738-29B5-3736-4657-F180D9FCC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CF777-0034-B940-FE37-1FCA28592DB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0B061E-8F2F-D342-BB88-8B219BD1F6BB}" type="datetimeFigureOut">
              <a:t>10/5/26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1D2EE-B5C8-5738-9BBE-0618B419753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07C40-8495-88D9-FEBC-F4CF28719C8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B5BD0-B2D0-604A-B295-FE35C37A774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hpcondemand02.ada.nottingham.ac.uk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uniofnottm.sharepoint.com/sites/DigitalResearch/SitePages/Ada-Commands-Partitions-and-Resources.aspx" TargetMode="Externa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ottingham.ac.uk/dts/help/self-service-portal/self-service-portal.aspx" TargetMode="External"/><Relationship Id="rId5" Type="http://schemas.openxmlformats.org/officeDocument/2006/relationships/hyperlink" Target="mailto:laura.dean@nottingham.ac.uk" TargetMode="External"/><Relationship Id="rId4" Type="http://schemas.openxmlformats.org/officeDocument/2006/relationships/hyperlink" Target="https://uniofnottm.sharepoint.com/sites/DigitalResearch/SitePages/Ada-Compute-software.asp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0671A8AE-40A1-4631-A6B8-581AFF0654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138" name="Picture 4"/>
          <p:cNvPicPr>
            <a:picLocks noChangeAspect="1"/>
          </p:cNvPicPr>
          <p:nvPr/>
        </p:nvPicPr>
        <p:blipFill>
          <a:blip r:embed="rId3"/>
          <a:srcRect l="8162" r="26646" b="8309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5131" name="Rectangle 5130">
            <a:extLst>
              <a:ext uri="{FF2B5EF4-FFF2-40B4-BE49-F238E27FC236}">
                <a16:creationId xmlns:a16="http://schemas.microsoft.com/office/drawing/2014/main" id="{AB58EF07-17C2-48CF-ABB0-EEF1F17CB8F0}"/>
              </a:ext>
            </a:extLst>
          </p:cNvPr>
          <p:cNvSpPr>
            <a:spLocks noGrp="1"/>
          </p:cNvSpPr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CE777-ABEB-6023-40DD-660DFBDCF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buNone/>
            </a:pPr>
            <a:r>
              <a:rPr sz="4800">
                <a:solidFill>
                  <a:schemeClr val="bg1"/>
                </a:solidFill>
              </a:rPr>
              <a:t>Getting set up on the UoN HPC “Ada”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EADD31-250A-669C-CA6F-536A910C5B4C}"/>
              </a:ext>
            </a:extLst>
          </p:cNvPr>
          <p:cNvSpPr>
            <a:spLocks noGrp="1"/>
          </p:cNvSpPr>
          <p:nvPr/>
        </p:nvSpPr>
        <p:spPr>
          <a:xfrm>
            <a:off x="477981" y="5026456"/>
            <a:ext cx="3045507" cy="72105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None/>
            </a:pPr>
            <a:r>
              <a:rPr sz="3200">
                <a:solidFill>
                  <a:schemeClr val="bg1"/>
                </a:solidFill>
              </a:rPr>
              <a:t>LIFE4138</a:t>
            </a:r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AF2F604E-43BE-4DC3-B983-E071523364F8}"/>
              </a:ext>
            </a:extLst>
          </p:cNvPr>
          <p:cNvSpPr>
            <a:spLocks noGrp="1"/>
          </p:cNvSpPr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35" name="Rectangle 5134">
            <a:extLst>
              <a:ext uri="{FF2B5EF4-FFF2-40B4-BE49-F238E27FC236}">
                <a16:creationId xmlns:a16="http://schemas.microsoft.com/office/drawing/2014/main" id="{08C9B587-E65E-4B52-B37C-ABEBB6E87928}"/>
              </a:ext>
            </a:extLst>
          </p:cNvPr>
          <p:cNvSpPr>
            <a:spLocks noGrp="1"/>
          </p:cNvSpPr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0020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C88C-FFC5-B020-42A3-661BBE007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502081"/>
            <a:ext cx="9144000" cy="557441"/>
          </a:xfrm>
        </p:spPr>
        <p:txBody>
          <a:bodyPr>
            <a:noAutofit/>
          </a:bodyPr>
          <a:lstStyle/>
          <a:p>
            <a:r>
              <a:rPr sz="3600"/>
              <a:t>Learning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9853A-E964-7B9A-D5BC-B3B7075AC096}"/>
              </a:ext>
            </a:extLst>
          </p:cNvPr>
          <p:cNvSpPr>
            <a:spLocks noGrp="1"/>
          </p:cNvSpPr>
          <p:nvPr/>
        </p:nvSpPr>
        <p:spPr>
          <a:xfrm>
            <a:off x="1224342" y="1405367"/>
            <a:ext cx="10147077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sz="2400"/>
              <a:t>Understand what the HPC is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sz="2400"/>
              <a:t>Understand what resources are available to you on the HPC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sz="2400"/>
              <a:t>Understand what a terminal and shell are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sz="2400"/>
              <a:t>Understand what the SSH command does and how to use it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sz="2400"/>
              <a:t>Use SSH to log in to your Ada account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sz="2400"/>
              <a:t>Understand what an SSH config file is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sz="2400"/>
              <a:t>Create and use an SSH config file to log in to Ada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sz="2400"/>
              <a:t>Know where to go for further support with the HPC</a:t>
            </a:r>
          </a:p>
        </p:txBody>
      </p:sp>
    </p:spTree>
    <p:extLst>
      <p:ext uri="{BB962C8B-B14F-4D97-AF65-F5344CB8AC3E}">
        <p14:creationId xmlns:p14="http://schemas.microsoft.com/office/powerpoint/2010/main" val="1839439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2960-1BAE-ED29-55ED-1C2BB2D55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5695"/>
            <a:ext cx="9144000" cy="557441"/>
          </a:xfrm>
        </p:spPr>
        <p:txBody>
          <a:bodyPr>
            <a:normAutofit fontScale="90000"/>
          </a:bodyPr>
          <a:lstStyle/>
          <a:p>
            <a:r>
              <a:rPr sz="3600"/>
              <a:t>What is an HPC?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6621E9-E2D0-76D4-5C7B-47BE03336CD9}"/>
              </a:ext>
            </a:extLst>
          </p:cNvPr>
          <p:cNvSpPr>
            <a:spLocks noGrp="1"/>
          </p:cNvSpPr>
          <p:nvPr/>
        </p:nvSpPr>
        <p:spPr>
          <a:xfrm>
            <a:off x="1330037" y="867928"/>
            <a:ext cx="10147077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HPC = high-performance computing; a cluster provides shared compute resources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Connect to it remotely from your terminal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>
                <a:solidFill>
                  <a:schemeClr val="accent5"/>
                </a:solidFill>
              </a:rPr>
              <a:t>Login nodes = shared access points for logging in, submitting jobs, and brief tasks such as viewing output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>
                <a:solidFill>
                  <a:schemeClr val="accent5"/>
                </a:solidFill>
              </a:rPr>
              <a:t>Compute nodes = where scheduled computational work runs</a:t>
            </a:r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 rotWithShape="1">
          <a:blip r:embed="rId3"/>
          <a:srcRect b="39156"/>
          <a:stretch/>
        </p:blipFill>
        <p:spPr>
          <a:xfrm>
            <a:off x="1774359" y="3633850"/>
            <a:ext cx="8643281" cy="295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374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2C399-3929-D752-E6C4-6CD6831DE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0487"/>
            <a:ext cx="9144000" cy="557441"/>
          </a:xfrm>
        </p:spPr>
        <p:txBody>
          <a:bodyPr>
            <a:normAutofit fontScale="90000"/>
          </a:bodyPr>
          <a:lstStyle/>
          <a:p>
            <a:r>
              <a:rPr sz="3600"/>
              <a:t>Resources on Ada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7EA3EB-F46B-981F-D3BA-C93DF9DCCF8C}"/>
              </a:ext>
            </a:extLst>
          </p:cNvPr>
          <p:cNvSpPr>
            <a:spLocks noGrp="1"/>
          </p:cNvSpPr>
          <p:nvPr/>
        </p:nvSpPr>
        <p:spPr>
          <a:xfrm>
            <a:off x="862802" y="1687634"/>
            <a:ext cx="10147077" cy="3741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>
                <a:solidFill>
                  <a:schemeClr val="accent5"/>
                </a:solidFill>
              </a:rPr>
              <a:t>Login nodes </a:t>
            </a:r>
            <a:r>
              <a:rPr sz="2000"/>
              <a:t>= </a:t>
            </a:r>
          </a:p>
          <a:p>
            <a:pPr marL="1200150" lvl="2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hpclogin01</a:t>
            </a:r>
          </a:p>
          <a:p>
            <a:pPr marL="1200150" lvl="2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hpclogin02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>
                <a:solidFill>
                  <a:schemeClr val="accent5"/>
                </a:solidFill>
              </a:rPr>
              <a:t>Compute nodes </a:t>
            </a:r>
            <a:r>
              <a:rPr sz="2000"/>
              <a:t>=</a:t>
            </a:r>
          </a:p>
          <a:p>
            <a:pPr marL="1200150" lvl="2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63 standard nodes, each with 96 cores &amp; 361 GB RAM</a:t>
            </a:r>
          </a:p>
          <a:p>
            <a:pPr marL="1200150" lvl="2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10 high-memory nodes, each with 96 cores &amp; 1495 GB RAM</a:t>
            </a:r>
          </a:p>
          <a:p>
            <a:pPr marL="1200150" lvl="2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4 GPGPU nodes, each with 96 cores, 747 GB RAM &amp; 8 Nvidia A100 GPUs, with 80GB GPU memory each.</a:t>
            </a:r>
          </a:p>
        </p:txBody>
      </p:sp>
      <p:pic>
        <p:nvPicPr>
          <p:cNvPr id="9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94628" y="1317424"/>
            <a:ext cx="6473372" cy="195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70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A51E26-6349-1966-C60E-67FAEAC83F2A}"/>
              </a:ext>
            </a:extLst>
          </p:cNvPr>
          <p:cNvSpPr>
            <a:spLocks noGrp="1"/>
          </p:cNvSpPr>
          <p:nvPr/>
        </p:nvSpPr>
        <p:spPr>
          <a:xfrm>
            <a:off x="642051" y="1919905"/>
            <a:ext cx="7204363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  <a:buNone/>
            </a:pPr>
            <a:r>
              <a:rPr sz="2400" b="1" i="0">
                <a:solidFill>
                  <a:srgbClr val="323130"/>
                </a:solidFill>
                <a:latin typeface="Segoe UI"/>
                <a:ea typeface="Segoe UI"/>
                <a:cs typeface="Segoe UI"/>
              </a:rPr>
              <a:t>The Exploration tier gives the exploration user: </a:t>
            </a:r>
          </a:p>
          <a:p>
            <a:pPr algn="l">
              <a:spcAft>
                <a:spcPts val="1200"/>
              </a:spcAft>
              <a:buFont typeface="Arial"/>
              <a:buChar char="•"/>
            </a:pPr>
            <a:r>
              <a:rPr sz="2400" b="0" i="0">
                <a:solidFill>
                  <a:srgbClr val="323130"/>
                </a:solidFill>
                <a:latin typeface="var(--fontFamilyCustomFont900, var(--fontFamilyBase))"/>
                <a:ea typeface="var(--fontFamilyCustomFont900, var(--fontFamilyBase))"/>
                <a:cs typeface="var(--fontFamilyCustomFont900, var(--fontFamilyBase))"/>
              </a:rPr>
              <a:t> simultaneous use of up to 96 CPU cores</a:t>
            </a:r>
          </a:p>
          <a:p>
            <a:pPr algn="l">
              <a:spcAft>
                <a:spcPts val="1200"/>
              </a:spcAft>
              <a:buFont typeface="Arial"/>
              <a:buChar char="•"/>
            </a:pPr>
            <a:r>
              <a:rPr sz="2400" b="0" i="0">
                <a:solidFill>
                  <a:srgbClr val="323130"/>
                </a:solidFill>
                <a:latin typeface="var(--fontFamilyCustomFont900, var(--fontFamilyBase))"/>
                <a:ea typeface="var(--fontFamilyCustomFont900, var(--fontFamilyBase))"/>
                <a:cs typeface="var(--fontFamilyCustomFont900, var(--fontFamilyBase))"/>
              </a:rPr>
              <a:t> 360 GB memory (RAM)</a:t>
            </a:r>
          </a:p>
          <a:p>
            <a:pPr algn="l">
              <a:spcAft>
                <a:spcPts val="1200"/>
              </a:spcAft>
              <a:buFont typeface="Arial"/>
              <a:buChar char="•"/>
            </a:pPr>
            <a:r>
              <a:rPr sz="2400" b="0" i="0">
                <a:solidFill>
                  <a:srgbClr val="323130"/>
                </a:solidFill>
                <a:latin typeface="var(--fontFamilyCustomFont900, var(--fontFamilyBase))"/>
                <a:ea typeface="var(--fontFamilyCustomFont900, var(--fontFamilyBase))"/>
                <a:cs typeface="var(--fontFamilyCustomFont900, var(--fontFamilyBase))"/>
              </a:rPr>
              <a:t> Job lengths of up to 2 days.</a:t>
            </a:r>
          </a:p>
          <a:p>
            <a:pPr algn="l">
              <a:spcAft>
                <a:spcPts val="1200"/>
              </a:spcAft>
              <a:buFont typeface="Arial"/>
              <a:buChar char="•"/>
            </a:pPr>
            <a:r>
              <a:rPr sz="2400" b="0" i="0">
                <a:solidFill>
                  <a:srgbClr val="323130"/>
                </a:solidFill>
                <a:latin typeface="var(--fontFamilyCustomFont900, var(--fontFamilyBase))"/>
                <a:ea typeface="var(--fontFamilyCustomFont900, var(--fontFamilyBase))"/>
                <a:cs typeface="var(--fontFamilyCustomFont900, var(--fontFamilyBase))"/>
              </a:rPr>
              <a:t> 1TB of storage (disk space) by default.</a:t>
            </a:r>
          </a:p>
          <a:p>
            <a:pPr algn="l">
              <a:spcAft>
                <a:spcPts val="1200"/>
              </a:spcAft>
              <a:buFont typeface="Arial"/>
              <a:buChar char="•"/>
            </a:pPr>
            <a:r>
              <a:rPr sz="2400" b="0" i="0">
                <a:solidFill>
                  <a:srgbClr val="323130"/>
                </a:solidFill>
                <a:latin typeface="var(--fontFamilyCustomFont900, var(--fontFamilyBase))"/>
                <a:ea typeface="var(--fontFamilyCustomFont900, var(--fontFamilyBase))"/>
                <a:cs typeface="var(--fontFamilyCustomFont900, var(--fontFamilyBase))"/>
              </a:rPr>
              <a:t> Exploration tier users that need extra resource will be advised to apply for the ‘production’ tier.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E8A0E26-2C96-7DC4-D325-B9657D319786}"/>
              </a:ext>
            </a:extLst>
          </p:cNvPr>
          <p:cNvSpPr>
            <a:spLocks noGrp="1"/>
          </p:cNvSpPr>
          <p:nvPr/>
        </p:nvSpPr>
        <p:spPr>
          <a:xfrm>
            <a:off x="1520327" y="205535"/>
            <a:ext cx="9144000" cy="557441"/>
          </a:xfrm>
          <a:prstGeom prst="rect">
            <a:avLst/>
          </a:prstGeom>
        </p:spPr>
        <p:txBody>
          <a:bodyPr vert="horz" lIns="91440" tIns="45720" rIns="91440" bIns="45720" anchor="ctr">
            <a:normAutofit fontScale="97500" lnSpcReduction="10000"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buNone/>
            </a:pPr>
            <a:r>
              <a:rPr sz="3600"/>
              <a:t>Exploration tier (your accounts semesters 1 &amp; 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72639-31F1-2990-4562-5C47DC97D661}"/>
              </a:ext>
            </a:extLst>
          </p:cNvPr>
          <p:cNvSpPr>
            <a:spLocks noGrp="1"/>
          </p:cNvSpPr>
          <p:nvPr/>
        </p:nvSpPr>
        <p:spPr>
          <a:xfrm>
            <a:off x="1314345" y="913180"/>
            <a:ext cx="95559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0" i="0">
                <a:solidFill>
                  <a:srgbClr val="323130"/>
                </a:solidFill>
                <a:latin typeface="Segoe UI"/>
                <a:ea typeface="Segoe UI"/>
                <a:cs typeface="Segoe UI"/>
              </a:rPr>
              <a:t>This tier gives you a ‘sandpit’ where you can develop your HPC skills.</a:t>
            </a:r>
          </a:p>
        </p:txBody>
      </p:sp>
      <p:pic>
        <p:nvPicPr>
          <p:cNvPr id="13" name="Picture 4"/>
          <p:cNvPicPr>
            <a:picLocks noChangeAspect="1"/>
          </p:cNvPicPr>
          <p:nvPr/>
        </p:nvPicPr>
        <p:blipFill rotWithShape="1">
          <a:blip r:embed="rId3"/>
          <a:srcRect l="26566" t="7071" r="26566" b="7273"/>
          <a:stretch/>
        </p:blipFill>
        <p:spPr>
          <a:xfrm>
            <a:off x="8049368" y="1615104"/>
            <a:ext cx="2474700" cy="452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01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20866B-F066-8714-B1C7-98C44C804A4A}"/>
              </a:ext>
            </a:extLst>
          </p:cNvPr>
          <p:cNvSpPr>
            <a:spLocks noGrp="1"/>
          </p:cNvSpPr>
          <p:nvPr/>
        </p:nvSpPr>
        <p:spPr>
          <a:xfrm>
            <a:off x="540451" y="2085916"/>
            <a:ext cx="6636204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  <a:buNone/>
            </a:pPr>
            <a:r>
              <a:rPr sz="2400" b="1" i="0">
                <a:solidFill>
                  <a:srgbClr val="323130"/>
                </a:solidFill>
                <a:latin typeface="Segoe UI"/>
                <a:ea typeface="Segoe UI"/>
                <a:cs typeface="Segoe UI"/>
              </a:rPr>
              <a:t>Production tier gives the production user:</a:t>
            </a:r>
          </a:p>
          <a:p>
            <a:pPr algn="l">
              <a:spcAft>
                <a:spcPts val="1200"/>
              </a:spcAft>
              <a:buFont typeface="Arial"/>
              <a:buChar char="•"/>
            </a:pPr>
            <a:r>
              <a:rPr sz="2400" b="0" i="0">
                <a:solidFill>
                  <a:srgbClr val="323130"/>
                </a:solidFill>
                <a:latin typeface="var(--fontFamilyCustomFont900, var(--fontFamilyBase))"/>
                <a:ea typeface="var(--fontFamilyCustomFont900, var(--fontFamilyBase))"/>
                <a:cs typeface="var(--fontFamilyCustomFont900, var(--fontFamilyBase))"/>
              </a:rPr>
              <a:t> Simultaneous use of up to 600 CPU cores</a:t>
            </a:r>
          </a:p>
          <a:p>
            <a:pPr algn="l">
              <a:spcAft>
                <a:spcPts val="1200"/>
              </a:spcAft>
              <a:buFont typeface="Arial"/>
              <a:buChar char="•"/>
            </a:pPr>
            <a:r>
              <a:rPr sz="2400" b="0" i="0">
                <a:solidFill>
                  <a:srgbClr val="323130"/>
                </a:solidFill>
                <a:latin typeface="var(--fontFamilyCustomFont900, var(--fontFamilyBase))"/>
                <a:ea typeface="var(--fontFamilyCustomFont900, var(--fontFamilyBase))"/>
                <a:cs typeface="var(--fontFamilyCustomFont900, var(--fontFamilyBase))"/>
              </a:rPr>
              <a:t> 3000 GB memory (RAM).</a:t>
            </a:r>
          </a:p>
          <a:p>
            <a:pPr algn="l">
              <a:spcAft>
                <a:spcPts val="1200"/>
              </a:spcAft>
              <a:buFont typeface="Arial"/>
              <a:buChar char="•"/>
            </a:pPr>
            <a:r>
              <a:rPr sz="2400" b="0" i="0">
                <a:solidFill>
                  <a:srgbClr val="323130"/>
                </a:solidFill>
                <a:latin typeface="var(--fontFamilyCustomFont900, var(--fontFamilyBase))"/>
                <a:ea typeface="var(--fontFamilyCustomFont900, var(--fontFamilyBase))"/>
                <a:cs typeface="var(--fontFamilyCustomFont900, var(--fontFamilyBase))"/>
              </a:rPr>
              <a:t> Job lengths of up to 7 days</a:t>
            </a:r>
          </a:p>
          <a:p>
            <a:pPr algn="l">
              <a:spcAft>
                <a:spcPts val="1200"/>
              </a:spcAft>
              <a:buFont typeface="Arial"/>
              <a:buChar char="•"/>
            </a:pPr>
            <a:r>
              <a:rPr sz="2400" b="0" i="0">
                <a:solidFill>
                  <a:srgbClr val="323130"/>
                </a:solidFill>
                <a:latin typeface="var(--fontFamilyCustomFont900, var(--fontFamilyBase))"/>
                <a:ea typeface="var(--fontFamilyCustomFont900, var(--fontFamilyBase))"/>
                <a:cs typeface="var(--fontFamilyCustomFont900, var(--fontFamilyBase))"/>
              </a:rPr>
              <a:t> 1TB of storage (disk space) by default.</a:t>
            </a:r>
          </a:p>
          <a:p>
            <a:pPr algn="l">
              <a:spcAft>
                <a:spcPts val="1200"/>
              </a:spcAft>
              <a:buFont typeface="Arial"/>
              <a:buChar char="•"/>
            </a:pPr>
            <a:r>
              <a:rPr sz="2400" b="0" i="0">
                <a:solidFill>
                  <a:srgbClr val="323130"/>
                </a:solidFill>
                <a:latin typeface="var(--fontFamilyCustomFont900, var(--fontFamilyBase))"/>
                <a:ea typeface="var(--fontFamilyCustomFont900, var(--fontFamilyBase))"/>
                <a:cs typeface="var(--fontFamilyCustomFont900, var(--fontFamilyBase))"/>
              </a:rPr>
              <a:t> Production users can also apply for larger limits on CPU cores, memory (RAM), and storage, and all requests will be considered.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5F08A85-55ED-CF06-41AF-92210DA05A44}"/>
              </a:ext>
            </a:extLst>
          </p:cNvPr>
          <p:cNvSpPr>
            <a:spLocks noGrp="1"/>
          </p:cNvSpPr>
          <p:nvPr/>
        </p:nvSpPr>
        <p:spPr>
          <a:xfrm>
            <a:off x="1520327" y="205535"/>
            <a:ext cx="9144000" cy="557441"/>
          </a:xfrm>
          <a:prstGeom prst="rect">
            <a:avLst/>
          </a:prstGeom>
        </p:spPr>
        <p:txBody>
          <a:bodyPr vert="horz" lIns="91440" tIns="45720" rIns="91440" bIns="45720" anchor="ctr">
            <a:normAutofit fontScale="97500" lnSpcReduction="10000"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buNone/>
            </a:pPr>
            <a:r>
              <a:rPr sz="3600"/>
              <a:t>Production tier (your accounts semester 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027BA-9C66-4E6A-7890-45DF40AAD349}"/>
              </a:ext>
            </a:extLst>
          </p:cNvPr>
          <p:cNvSpPr>
            <a:spLocks noGrp="1"/>
          </p:cNvSpPr>
          <p:nvPr/>
        </p:nvSpPr>
        <p:spPr>
          <a:xfrm>
            <a:off x="540451" y="913180"/>
            <a:ext cx="11277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400" b="0" i="0">
                <a:solidFill>
                  <a:srgbClr val="323130"/>
                </a:solidFill>
                <a:latin typeface="Segoe UI"/>
                <a:ea typeface="Segoe UI"/>
                <a:cs typeface="Segoe UI"/>
              </a:rPr>
              <a:t>The </a:t>
            </a:r>
            <a:r>
              <a:rPr sz="2400" b="1" i="0">
                <a:solidFill>
                  <a:srgbClr val="323130"/>
                </a:solidFill>
                <a:latin typeface="Segoe UI"/>
                <a:ea typeface="Segoe UI"/>
                <a:cs typeface="Segoe UI"/>
              </a:rPr>
              <a:t>Production</a:t>
            </a:r>
            <a:r>
              <a:rPr sz="2400" b="0" i="0">
                <a:solidFill>
                  <a:srgbClr val="323130"/>
                </a:solidFill>
                <a:latin typeface="Segoe UI"/>
                <a:ea typeface="Segoe UI"/>
                <a:cs typeface="Segoe UI"/>
              </a:rPr>
              <a:t> tier is for university research projects, where you and your project team have existing HPC user experience.</a:t>
            </a:r>
          </a:p>
        </p:txBody>
      </p:sp>
      <p:pic>
        <p:nvPicPr>
          <p:cNvPr id="13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38098" y="2407332"/>
            <a:ext cx="4407786" cy="293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512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209800" y="1079500"/>
            <a:ext cx="7772400" cy="46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66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32E7-5DBD-0C5C-892A-91D9A1F4AA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9627" y="212178"/>
            <a:ext cx="9144000" cy="557441"/>
          </a:xfrm>
        </p:spPr>
        <p:txBody>
          <a:bodyPr>
            <a:normAutofit fontScale="90000"/>
          </a:bodyPr>
          <a:lstStyle/>
          <a:p>
            <a:r>
              <a:rPr sz="3600"/>
              <a:t>The terminal</a:t>
            </a:r>
          </a:p>
        </p:txBody>
      </p:sp>
      <p:pic>
        <p:nvPicPr>
          <p:cNvPr id="7" name="Picture 2"/>
          <p:cNvPicPr>
            <a:picLocks noChangeAspect="1"/>
          </p:cNvPicPr>
          <p:nvPr/>
        </p:nvPicPr>
        <p:blipFill>
          <a:blip r:embed="rId3"/>
          <a:srcRect b="66961"/>
          <a:stretch>
            <a:fillRect/>
          </a:stretch>
        </p:blipFill>
        <p:spPr>
          <a:xfrm>
            <a:off x="1309627" y="4864723"/>
            <a:ext cx="8745844" cy="17810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F305EC-8534-A485-FD51-F6B692EB579C}"/>
              </a:ext>
            </a:extLst>
          </p:cNvPr>
          <p:cNvSpPr>
            <a:spLocks noGrp="1"/>
          </p:cNvSpPr>
          <p:nvPr/>
        </p:nvSpPr>
        <p:spPr>
          <a:xfrm>
            <a:off x="323850" y="954628"/>
            <a:ext cx="11544300" cy="3741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A terminal is a command line interface or CLI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It allows you to have text &amp; command-based interaction with your computer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It’s essentially a box where you can type things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Similar to a graphical user interface (GUI), which is menu-driven and what you are probably used to.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A CLI sends your typed commands to a shell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The shell interprets and executes the commands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This is basically all happening in the background when you run a GUI on your computer anyway, you just don’t see it!</a:t>
            </a:r>
          </a:p>
        </p:txBody>
      </p:sp>
    </p:spTree>
    <p:extLst>
      <p:ext uri="{BB962C8B-B14F-4D97-AF65-F5344CB8AC3E}">
        <p14:creationId xmlns:p14="http://schemas.microsoft.com/office/powerpoint/2010/main" val="1289251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8029B-1108-7032-18C8-6B10CE3A7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9627" y="212178"/>
            <a:ext cx="9144000" cy="557441"/>
          </a:xfrm>
        </p:spPr>
        <p:txBody>
          <a:bodyPr>
            <a:normAutofit fontScale="90000"/>
          </a:bodyPr>
          <a:lstStyle/>
          <a:p>
            <a:r>
              <a:rPr sz="3600"/>
              <a:t>The terminal</a:t>
            </a:r>
          </a:p>
        </p:txBody>
      </p:sp>
      <p:pic>
        <p:nvPicPr>
          <p:cNvPr id="27" name="Picture 2"/>
          <p:cNvPicPr>
            <a:picLocks noChangeAspect="1"/>
          </p:cNvPicPr>
          <p:nvPr/>
        </p:nvPicPr>
        <p:blipFill>
          <a:blip r:embed="rId3"/>
          <a:srcRect t="1" b="41082"/>
          <a:stretch>
            <a:fillRect/>
          </a:stretch>
        </p:blipFill>
        <p:spPr>
          <a:xfrm>
            <a:off x="842620" y="1048845"/>
            <a:ext cx="8745844" cy="3176191"/>
          </a:xfrm>
          <a:prstGeom prst="rect">
            <a:avLst/>
          </a:prstGeom>
        </p:spPr>
      </p:pic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3FFF4A8F-6AEE-4533-8757-A91542AE27BE}"/>
              </a:ext>
            </a:extLst>
          </p:cNvPr>
          <p:cNvSpPr>
            <a:spLocks noGrp="1"/>
          </p:cNvSpPr>
          <p:nvPr/>
        </p:nvSpPr>
        <p:spPr>
          <a:xfrm>
            <a:off x="963637" y="2057130"/>
            <a:ext cx="282632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41A4677-8F0A-975F-D28C-B2A2C93116D5}"/>
              </a:ext>
            </a:extLst>
          </p:cNvPr>
          <p:cNvSpPr>
            <a:spLocks noGrp="1"/>
          </p:cNvSpPr>
          <p:nvPr/>
        </p:nvSpPr>
        <p:spPr>
          <a:xfrm>
            <a:off x="3910981" y="1630938"/>
            <a:ext cx="566058" cy="5225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cxnSp>
        <p:nvCxnSpPr>
          <p:cNvPr id="30" name="Straight Arrow Connector 9"/>
          <p:cNvCxnSpPr/>
          <p:nvPr/>
        </p:nvCxnSpPr>
        <p:spPr>
          <a:xfrm flipV="1">
            <a:off x="2396592" y="2240208"/>
            <a:ext cx="0" cy="24202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11"/>
          <p:cNvCxnSpPr/>
          <p:nvPr/>
        </p:nvCxnSpPr>
        <p:spPr>
          <a:xfrm flipH="1" flipV="1">
            <a:off x="4194010" y="2240208"/>
            <a:ext cx="1152941" cy="24202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D734B06-CB03-046F-4E52-BC4244644543}"/>
              </a:ext>
            </a:extLst>
          </p:cNvPr>
          <p:cNvSpPr>
            <a:spLocks noGrp="1"/>
          </p:cNvSpPr>
          <p:nvPr/>
        </p:nvSpPr>
        <p:spPr>
          <a:xfrm>
            <a:off x="184401" y="4631010"/>
            <a:ext cx="3464379" cy="143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000"/>
              <a:t>A part that tells you who you are and what computer you are communicating with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B21FCE-6F9F-A3AD-15C1-A8DB5B21A3BD}"/>
              </a:ext>
            </a:extLst>
          </p:cNvPr>
          <p:cNvSpPr>
            <a:spLocks noGrp="1"/>
          </p:cNvSpPr>
          <p:nvPr/>
        </p:nvSpPr>
        <p:spPr>
          <a:xfrm>
            <a:off x="4194010" y="4751264"/>
            <a:ext cx="5797513" cy="1894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000"/>
              <a:t>The command prompt. NOTE this tells you your terminal is ready to receive a new typed command from you. If you don’t see it – your computer is still executing something else.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213907-1679-ACF3-617C-9477F1B597D0}"/>
              </a:ext>
            </a:extLst>
          </p:cNvPr>
          <p:cNvSpPr>
            <a:spLocks noGrp="1"/>
          </p:cNvSpPr>
          <p:nvPr/>
        </p:nvSpPr>
        <p:spPr>
          <a:xfrm>
            <a:off x="9795408" y="1630938"/>
            <a:ext cx="2298118" cy="2356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000">
                <a:solidFill>
                  <a:schemeClr val="tx2">
                    <a:lumMod val="75000"/>
                    <a:lumOff val="25000"/>
                  </a:schemeClr>
                </a:solidFill>
              </a:rPr>
              <a:t>HINT – your command prompt is customizable, but we will come back to that!</a:t>
            </a:r>
          </a:p>
        </p:txBody>
      </p:sp>
    </p:spTree>
    <p:extLst>
      <p:ext uri="{BB962C8B-B14F-4D97-AF65-F5344CB8AC3E}">
        <p14:creationId xmlns:p14="http://schemas.microsoft.com/office/powerpoint/2010/main" val="397477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F6EA8-4124-D8E2-8091-81C8FE8CB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9627" y="212178"/>
            <a:ext cx="9144000" cy="557441"/>
          </a:xfrm>
        </p:spPr>
        <p:txBody>
          <a:bodyPr>
            <a:normAutofit fontScale="90000"/>
          </a:bodyPr>
          <a:lstStyle/>
          <a:p>
            <a:r>
              <a:rPr sz="3600"/>
              <a:t>The terminal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3D9F39-E7E0-39BB-7C1F-E19602F814A8}"/>
              </a:ext>
            </a:extLst>
          </p:cNvPr>
          <p:cNvSpPr>
            <a:spLocks noGrp="1"/>
          </p:cNvSpPr>
          <p:nvPr/>
        </p:nvSpPr>
        <p:spPr>
          <a:xfrm>
            <a:off x="323850" y="962168"/>
            <a:ext cx="11544300" cy="5126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macOS includes the Terminal app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sz="20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sz="20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Other terminal apps are available, such as iTerm2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sz="2000"/>
          </a:p>
          <a:p>
            <a:pPr>
              <a:lnSpc>
                <a:spcPct val="150000"/>
              </a:lnSpc>
              <a:buNone/>
            </a:pPr>
            <a:endParaRPr sz="2000"/>
          </a:p>
          <a:p>
            <a:pPr>
              <a:lnSpc>
                <a:spcPct val="150000"/>
              </a:lnSpc>
              <a:buNone/>
            </a:pPr>
            <a:endParaRPr sz="20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Windows includes Command Prompt and PowerShell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sz="20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sz="200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For this course, use WSL with a Linux distribution such as Ubuntu</a:t>
            </a:r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3"/>
          <a:srcRect l="50777" b="7291"/>
          <a:stretch>
            <a:fillRect/>
          </a:stretch>
        </p:blipFill>
        <p:spPr>
          <a:xfrm>
            <a:off x="7262978" y="596847"/>
            <a:ext cx="1371600" cy="1499150"/>
          </a:xfrm>
          <a:prstGeom prst="rect">
            <a:avLst/>
          </a:prstGeom>
        </p:spPr>
      </p:pic>
      <p:pic>
        <p:nvPicPr>
          <p:cNvPr id="12" name="Picture 5"/>
          <p:cNvPicPr>
            <a:picLocks noChangeAspect="1"/>
          </p:cNvPicPr>
          <p:nvPr/>
        </p:nvPicPr>
        <p:blipFill>
          <a:blip r:embed="rId3"/>
          <a:srcRect r="44042"/>
          <a:stretch>
            <a:fillRect/>
          </a:stretch>
        </p:blipFill>
        <p:spPr>
          <a:xfrm>
            <a:off x="9222664" y="1833648"/>
            <a:ext cx="1371600" cy="1422400"/>
          </a:xfrm>
          <a:prstGeom prst="rect">
            <a:avLst/>
          </a:prstGeom>
        </p:spPr>
      </p:pic>
      <p:pic>
        <p:nvPicPr>
          <p:cNvPr id="13" name="Picture 6"/>
          <p:cNvPicPr>
            <a:picLocks noChangeAspect="1"/>
          </p:cNvPicPr>
          <p:nvPr/>
        </p:nvPicPr>
        <p:blipFill>
          <a:blip r:embed="rId4"/>
          <a:srcRect t="17407" b="19875"/>
          <a:stretch>
            <a:fillRect/>
          </a:stretch>
        </p:blipFill>
        <p:spPr>
          <a:xfrm>
            <a:off x="8260640" y="3679354"/>
            <a:ext cx="3659897" cy="1200137"/>
          </a:xfrm>
          <a:prstGeom prst="rect">
            <a:avLst/>
          </a:prstGeom>
        </p:spPr>
      </p:pic>
      <p:pic>
        <p:nvPicPr>
          <p:cNvPr id="14" name="Picture 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182225" y="5302797"/>
            <a:ext cx="17907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23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0DB92-0097-FCFE-33BD-9A46BE94C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9627" y="212178"/>
            <a:ext cx="9144000" cy="557441"/>
          </a:xfrm>
        </p:spPr>
        <p:txBody>
          <a:bodyPr>
            <a:normAutofit fontScale="90000"/>
          </a:bodyPr>
          <a:lstStyle/>
          <a:p>
            <a:r>
              <a:rPr sz="3600"/>
              <a:t>The shell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DAA93F-D8C2-698E-3297-6318D083DE0C}"/>
              </a:ext>
            </a:extLst>
          </p:cNvPr>
          <p:cNvSpPr>
            <a:spLocks noGrp="1"/>
          </p:cNvSpPr>
          <p:nvPr/>
        </p:nvSpPr>
        <p:spPr>
          <a:xfrm>
            <a:off x="1562351" y="890872"/>
            <a:ext cx="932732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A shell interprets commands typed in a terminal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There are many different types of shell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macOS uses Z shell (Zsh) by default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Windows commonly uses PowerShell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Linux HPC systems commonly use Bash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Bash and Zsh share core syntax; PowerShell differs</a:t>
            </a:r>
          </a:p>
        </p:txBody>
      </p:sp>
      <p:pic>
        <p:nvPicPr>
          <p:cNvPr id="14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480" y="3830013"/>
            <a:ext cx="3695789" cy="15583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A7AA5B-538F-351E-8418-634E69192C34}"/>
              </a:ext>
            </a:extLst>
          </p:cNvPr>
          <p:cNvSpPr>
            <a:spLocks noGrp="1"/>
          </p:cNvSpPr>
          <p:nvPr/>
        </p:nvSpPr>
        <p:spPr>
          <a:xfrm>
            <a:off x="1105150" y="5579529"/>
            <a:ext cx="955295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sz="2000" b="1">
                <a:solidFill>
                  <a:schemeClr val="accent6">
                    <a:lumMod val="75000"/>
                  </a:schemeClr>
                </a:solidFill>
              </a:rPr>
              <a:t>We will learn Bash-compatible commands because they are used on the Linux-based HPC systems in this course</a:t>
            </a:r>
          </a:p>
        </p:txBody>
      </p:sp>
    </p:spTree>
    <p:extLst>
      <p:ext uri="{BB962C8B-B14F-4D97-AF65-F5344CB8AC3E}">
        <p14:creationId xmlns:p14="http://schemas.microsoft.com/office/powerpoint/2010/main" val="4241441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D9CD2-601A-201F-660F-D60D38E26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647" y="190467"/>
            <a:ext cx="10741415" cy="557441"/>
          </a:xfrm>
        </p:spPr>
        <p:txBody>
          <a:bodyPr>
            <a:normAutofit fontScale="90000"/>
          </a:bodyPr>
          <a:lstStyle/>
          <a:p>
            <a:r>
              <a:rPr sz="3600"/>
              <a:t>SSH – secure shell – used to connect to a remote machine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D74FA-6920-AA88-587A-E1D276CFD69C}"/>
              </a:ext>
            </a:extLst>
          </p:cNvPr>
          <p:cNvSpPr>
            <a:spLocks noGrp="1"/>
          </p:cNvSpPr>
          <p:nvPr/>
        </p:nvSpPr>
        <p:spPr>
          <a:xfrm>
            <a:off x="471665" y="3975012"/>
            <a:ext cx="1124867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To connect to a </a:t>
            </a:r>
            <a:r>
              <a:rPr sz="2000" b="1" u="sng"/>
              <a:t>remote machine </a:t>
            </a:r>
            <a:r>
              <a:rPr sz="2000"/>
              <a:t>we use the SSH command.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Once you have successfully executed the ssh command you will be logged in to a remote machine (via the internet).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Everything you type will then be executed on the remote machine NOT your own laptop.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This will remain the case until you log out by typing exit, or by closing the terminal window (or if your connection to the remote machine drops because of a network interruption).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10DC03-D301-C619-3952-09977E06A024}"/>
              </a:ext>
            </a:extLst>
          </p:cNvPr>
          <p:cNvSpPr>
            <a:spLocks noGrp="1"/>
          </p:cNvSpPr>
          <p:nvPr/>
        </p:nvSpPr>
        <p:spPr>
          <a:xfrm>
            <a:off x="76022" y="747908"/>
            <a:ext cx="11362040" cy="971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sz="2000"/>
              <a:t>When you type commands into a terminal on your laptop</a:t>
            </a:r>
          </a:p>
          <a:p>
            <a:pPr algn="ctr">
              <a:lnSpc>
                <a:spcPct val="150000"/>
              </a:lnSpc>
              <a:buNone/>
            </a:pPr>
            <a:r>
              <a:rPr sz="2000"/>
              <a:t> </a:t>
            </a:r>
            <a:r>
              <a:rPr sz="2000" u="sng"/>
              <a:t>YOU ARE INTERACTING WITH YOUR OWN MACHINE</a:t>
            </a:r>
          </a:p>
        </p:txBody>
      </p:sp>
      <p:pic>
        <p:nvPicPr>
          <p:cNvPr id="10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26592" y="1843314"/>
            <a:ext cx="4338816" cy="227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418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1E29B-4B14-A7F9-5347-0DAFBB3DE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647" y="190467"/>
            <a:ext cx="10741415" cy="557441"/>
          </a:xfrm>
        </p:spPr>
        <p:txBody>
          <a:bodyPr>
            <a:normAutofit fontScale="90000"/>
          </a:bodyPr>
          <a:lstStyle/>
          <a:p>
            <a:r>
              <a:rPr sz="3600"/>
              <a:t>SSH – always look at your command prompt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0F44CD-88A1-9727-2664-08D0CB274EC6}"/>
              </a:ext>
            </a:extLst>
          </p:cNvPr>
          <p:cNvSpPr>
            <a:spLocks noGrp="1"/>
          </p:cNvSpPr>
          <p:nvPr/>
        </p:nvSpPr>
        <p:spPr>
          <a:xfrm>
            <a:off x="8781142" y="1228408"/>
            <a:ext cx="2656919" cy="1894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sz="2000"/>
              <a:t>When I first open a terminal, I am interacting with my own laptop</a:t>
            </a:r>
            <a:endParaRPr sz="2000" u="sng"/>
          </a:p>
        </p:txBody>
      </p:sp>
      <p:pic>
        <p:nvPicPr>
          <p:cNvPr id="29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28" y="1241749"/>
            <a:ext cx="7772400" cy="1881217"/>
          </a:xfrm>
          <a:prstGeom prst="rect">
            <a:avLst/>
          </a:prstGeom>
        </p:spPr>
      </p:pic>
      <p:pic>
        <p:nvPicPr>
          <p:cNvPr id="30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528" y="3216348"/>
            <a:ext cx="7772400" cy="3538270"/>
          </a:xfrm>
          <a:prstGeom prst="rect">
            <a:avLst/>
          </a:prstGeom>
        </p:spPr>
      </p:pic>
      <p:cxnSp>
        <p:nvCxnSpPr>
          <p:cNvPr id="31" name="Straight Arrow Connector 10"/>
          <p:cNvCxnSpPr/>
          <p:nvPr/>
        </p:nvCxnSpPr>
        <p:spPr>
          <a:xfrm flipH="1">
            <a:off x="5950860" y="4238171"/>
            <a:ext cx="2119085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11"/>
          <p:cNvCxnSpPr/>
          <p:nvPr/>
        </p:nvCxnSpPr>
        <p:spPr>
          <a:xfrm flipH="1">
            <a:off x="4412728" y="2073500"/>
            <a:ext cx="2119085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12"/>
          <p:cNvCxnSpPr/>
          <p:nvPr/>
        </p:nvCxnSpPr>
        <p:spPr>
          <a:xfrm flipH="1">
            <a:off x="4441374" y="5711371"/>
            <a:ext cx="2119085" cy="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26BA9F7-87E7-6399-57D0-3FCFCB209A30}"/>
              </a:ext>
            </a:extLst>
          </p:cNvPr>
          <p:cNvSpPr>
            <a:spLocks noGrp="1"/>
          </p:cNvSpPr>
          <p:nvPr/>
        </p:nvSpPr>
        <p:spPr>
          <a:xfrm>
            <a:off x="8781143" y="4038204"/>
            <a:ext cx="2656919" cy="1894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sz="2000"/>
              <a:t>After connecting to ada using ssh, I am interacting with Ada, not my own laptop</a:t>
            </a:r>
            <a:endParaRPr sz="2000" u="sng"/>
          </a:p>
        </p:txBody>
      </p:sp>
    </p:spTree>
    <p:extLst>
      <p:ext uri="{BB962C8B-B14F-4D97-AF65-F5344CB8AC3E}">
        <p14:creationId xmlns:p14="http://schemas.microsoft.com/office/powerpoint/2010/main" val="3280697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68557-33DC-6C46-24B9-82BA54A3F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647" y="190467"/>
            <a:ext cx="10741415" cy="557441"/>
          </a:xfrm>
        </p:spPr>
        <p:txBody>
          <a:bodyPr>
            <a:normAutofit fontScale="90000"/>
          </a:bodyPr>
          <a:lstStyle/>
          <a:p>
            <a:r>
              <a:rPr sz="3600"/>
              <a:t>SSH command 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99AC9E-779A-500C-BFE8-EE5E1ABCF399}"/>
              </a:ext>
            </a:extLst>
          </p:cNvPr>
          <p:cNvSpPr>
            <a:spLocks noGrp="1"/>
          </p:cNvSpPr>
          <p:nvPr/>
        </p:nvSpPr>
        <p:spPr>
          <a:xfrm>
            <a:off x="1959434" y="1060714"/>
            <a:ext cx="8882289" cy="1894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000"/>
              <a:t>ssh – secure shell basic command:</a:t>
            </a:r>
          </a:p>
          <a:p>
            <a:pPr>
              <a:lnSpc>
                <a:spcPct val="150000"/>
              </a:lnSpc>
              <a:buNone/>
            </a:pPr>
            <a:endParaRPr sz="2000"/>
          </a:p>
          <a:p>
            <a:pPr>
              <a:lnSpc>
                <a:spcPct val="150000"/>
              </a:lnSpc>
              <a:buNone/>
            </a:pPr>
            <a:r>
              <a:rPr sz="2000">
                <a:latin typeface="Monaco"/>
                <a:ea typeface="Monaco"/>
                <a:cs typeface="Monaco"/>
              </a:rPr>
              <a:t>	</a:t>
            </a:r>
            <a:r>
              <a:rPr sz="2000">
                <a:solidFill>
                  <a:schemeClr val="bg1"/>
                </a:solidFill>
                <a:highlight>
                  <a:srgbClr val="000000"/>
                </a:highlight>
                <a:latin typeface="Monaco"/>
                <a:ea typeface="Monaco"/>
                <a:cs typeface="Monaco"/>
              </a:rPr>
              <a:t>ssh </a:t>
            </a:r>
            <a:r>
              <a:rPr sz="2000">
                <a:solidFill>
                  <a:schemeClr val="accent6">
                    <a:lumMod val="75000"/>
                  </a:schemeClr>
                </a:solidFill>
                <a:highlight>
                  <a:srgbClr val="000000"/>
                </a:highlight>
                <a:latin typeface="Monaco"/>
                <a:ea typeface="Monaco"/>
                <a:cs typeface="Monaco"/>
              </a:rPr>
              <a:t>username</a:t>
            </a:r>
            <a:r>
              <a:rPr sz="2000">
                <a:solidFill>
                  <a:schemeClr val="bg1"/>
                </a:solidFill>
                <a:highlight>
                  <a:srgbClr val="000000"/>
                </a:highlight>
                <a:latin typeface="Monaco"/>
                <a:ea typeface="Monaco"/>
                <a:cs typeface="Monaco"/>
              </a:rPr>
              <a:t>@hpclogin02.ada.nottingham.ac.uk 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sz="2000"/>
          </a:p>
        </p:txBody>
      </p:sp>
      <p:cxnSp>
        <p:nvCxnSpPr>
          <p:cNvPr id="40" name="Straight Arrow Connector 5"/>
          <p:cNvCxnSpPr/>
          <p:nvPr/>
        </p:nvCxnSpPr>
        <p:spPr>
          <a:xfrm flipV="1">
            <a:off x="2259612" y="2432965"/>
            <a:ext cx="593024" cy="58189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46B03D9-0094-FE22-8815-01AB693EED45}"/>
              </a:ext>
            </a:extLst>
          </p:cNvPr>
          <p:cNvSpPr>
            <a:spLocks noGrp="1"/>
          </p:cNvSpPr>
          <p:nvPr/>
        </p:nvSpPr>
        <p:spPr>
          <a:xfrm>
            <a:off x="1158805" y="3059668"/>
            <a:ext cx="1268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command</a:t>
            </a: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C8B359-6A6F-1476-DEDC-2F7864B2DC78}"/>
              </a:ext>
            </a:extLst>
          </p:cNvPr>
          <p:cNvSpPr>
            <a:spLocks noGrp="1"/>
          </p:cNvSpPr>
          <p:nvPr/>
        </p:nvSpPr>
        <p:spPr>
          <a:xfrm>
            <a:off x="3193548" y="3177308"/>
            <a:ext cx="12680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Name of user on the remote machine</a:t>
            </a:r>
            <a:endParaRPr/>
          </a:p>
        </p:txBody>
      </p:sp>
      <p:cxnSp>
        <p:nvCxnSpPr>
          <p:cNvPr id="43" name="Straight Arrow Connector 15"/>
          <p:cNvCxnSpPr/>
          <p:nvPr/>
        </p:nvCxnSpPr>
        <p:spPr>
          <a:xfrm flipV="1">
            <a:off x="4854919" y="2595417"/>
            <a:ext cx="0" cy="58189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DE571CC-3B22-FAEF-512E-AB4AC300679B}"/>
              </a:ext>
            </a:extLst>
          </p:cNvPr>
          <p:cNvSpPr>
            <a:spLocks noGrp="1"/>
          </p:cNvSpPr>
          <p:nvPr/>
        </p:nvSpPr>
        <p:spPr>
          <a:xfrm>
            <a:off x="4458965" y="3177308"/>
            <a:ext cx="12680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Symbol to separate username from host address</a:t>
            </a: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821E2A-9BB1-7F34-982A-14B3A16E0D53}"/>
              </a:ext>
            </a:extLst>
          </p:cNvPr>
          <p:cNvSpPr>
            <a:spLocks noGrp="1"/>
          </p:cNvSpPr>
          <p:nvPr/>
        </p:nvSpPr>
        <p:spPr>
          <a:xfrm>
            <a:off x="5976362" y="3164466"/>
            <a:ext cx="32049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Host address of remote machine. This can be an IP address or a domain name as above.</a:t>
            </a:r>
            <a:endParaRPr/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F444D916-45A4-BDCA-2B0F-ABAFB676E403}"/>
              </a:ext>
            </a:extLst>
          </p:cNvPr>
          <p:cNvSpPr>
            <a:spLocks noGrp="1"/>
          </p:cNvSpPr>
          <p:nvPr/>
        </p:nvSpPr>
        <p:spPr>
          <a:xfrm rot="16200000">
            <a:off x="7080699" y="438036"/>
            <a:ext cx="570984" cy="4740789"/>
          </a:xfrm>
          <a:prstGeom prst="leftBrace">
            <a:avLst>
              <a:gd name="adj1" fmla="val 73392"/>
              <a:gd name="adj2" fmla="val 49397"/>
            </a:avLst>
          </a:prstGeom>
          <a:ln w="222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7B873F36-6242-CAEF-93BC-2A6ACD4D063A}"/>
              </a:ext>
            </a:extLst>
          </p:cNvPr>
          <p:cNvSpPr>
            <a:spLocks noGrp="1"/>
          </p:cNvSpPr>
          <p:nvPr/>
        </p:nvSpPr>
        <p:spPr>
          <a:xfrm rot="16200000">
            <a:off x="3917523" y="2225554"/>
            <a:ext cx="570984" cy="1162933"/>
          </a:xfrm>
          <a:prstGeom prst="leftBrace">
            <a:avLst>
              <a:gd name="adj1" fmla="val 73392"/>
              <a:gd name="adj2" fmla="val 26054"/>
            </a:avLst>
          </a:prstGeom>
          <a:ln w="222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3871EA-6236-D5C8-975A-270ECD88341B}"/>
              </a:ext>
            </a:extLst>
          </p:cNvPr>
          <p:cNvSpPr>
            <a:spLocks noGrp="1"/>
          </p:cNvSpPr>
          <p:nvPr/>
        </p:nvSpPr>
        <p:spPr>
          <a:xfrm>
            <a:off x="1959434" y="5178085"/>
            <a:ext cx="3599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On Ada this is your university username e.g. mine is mbzlld</a:t>
            </a:r>
          </a:p>
        </p:txBody>
      </p:sp>
      <p:cxnSp>
        <p:nvCxnSpPr>
          <p:cNvPr id="49" name="Straight Arrow Connector 7"/>
          <p:cNvCxnSpPr/>
          <p:nvPr/>
        </p:nvCxnSpPr>
        <p:spPr>
          <a:xfrm flipV="1">
            <a:off x="3668732" y="4407636"/>
            <a:ext cx="0" cy="685654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0736B49-981E-0BD1-69A2-34763AE32A7E}"/>
              </a:ext>
            </a:extLst>
          </p:cNvPr>
          <p:cNvSpPr>
            <a:spLocks noGrp="1"/>
          </p:cNvSpPr>
          <p:nvPr/>
        </p:nvSpPr>
        <p:spPr>
          <a:xfrm>
            <a:off x="6096000" y="5211301"/>
            <a:ext cx="51086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You can use either hpclogin01 or hpclogin02 here (these are the two login nodes on Ada).</a:t>
            </a:r>
          </a:p>
        </p:txBody>
      </p:sp>
      <p:cxnSp>
        <p:nvCxnSpPr>
          <p:cNvPr id="51" name="Straight Arrow Connector 13"/>
          <p:cNvCxnSpPr/>
          <p:nvPr/>
        </p:nvCxnSpPr>
        <p:spPr>
          <a:xfrm flipV="1">
            <a:off x="7217475" y="4377637"/>
            <a:ext cx="0" cy="685654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14"/>
          <p:cNvCxnSpPr/>
          <p:nvPr/>
        </p:nvCxnSpPr>
        <p:spPr>
          <a:xfrm flipV="1">
            <a:off x="2259612" y="2511880"/>
            <a:ext cx="1163959" cy="158981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BE0D48B-0075-AD13-EE49-2128E4F220FB}"/>
              </a:ext>
            </a:extLst>
          </p:cNvPr>
          <p:cNvSpPr>
            <a:spLocks noGrp="1"/>
          </p:cNvSpPr>
          <p:nvPr/>
        </p:nvSpPr>
        <p:spPr>
          <a:xfrm>
            <a:off x="1213544" y="4146503"/>
            <a:ext cx="1268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</a:t>
            </a:r>
            <a:r>
              <a:rPr sz="1800"/>
              <a:t>ne space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48979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BA257-5ECD-CC98-20EB-8AE00D9F1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915" y="83590"/>
            <a:ext cx="9144000" cy="557441"/>
          </a:xfrm>
        </p:spPr>
        <p:txBody>
          <a:bodyPr>
            <a:normAutofit fontScale="90000"/>
          </a:bodyPr>
          <a:lstStyle/>
          <a:p>
            <a:r>
              <a:rPr sz="3600"/>
              <a:t>EXERCISE: Connect to the UoN HPC – Ada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557741-4338-4E0E-6F5A-A368999CE262}"/>
              </a:ext>
            </a:extLst>
          </p:cNvPr>
          <p:cNvSpPr>
            <a:spLocks noGrp="1"/>
          </p:cNvSpPr>
          <p:nvPr/>
        </p:nvSpPr>
        <p:spPr>
          <a:xfrm>
            <a:off x="624117" y="657948"/>
            <a:ext cx="11016343" cy="6675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sz="2000" dirty="0">
                <a:solidFill>
                  <a:srgbClr val="FF0000"/>
                </a:solidFill>
              </a:rPr>
              <a:t>**Always connect to the VPN before trying to log in to Ada (even on campus)**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Then open a terminal (terminal or iTerm2 for Mac users, WSL/Ubuntu for Windows users)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Type this command into your terminal (replacing ‘username’ with your university username)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endParaRPr sz="20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You should be prompted to enter your password (type your university password and hit return) – NOTE: you will not see any characters when you type your password. This is a safety feature but rest assured you are typing. If you get it wrong you will get multiple attempts.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The first time you log in you will get a message about whether you trust this machine and want to add it to known hosts. Type </a:t>
            </a:r>
            <a:r>
              <a:rPr sz="2400" dirty="0">
                <a:latin typeface="Monaco"/>
                <a:ea typeface="Monaco"/>
                <a:cs typeface="Monaco"/>
              </a:rPr>
              <a:t>y</a:t>
            </a:r>
            <a:r>
              <a:rPr sz="2000" dirty="0"/>
              <a:t> 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or</a:t>
            </a:r>
            <a:r>
              <a:rPr sz="2000" dirty="0"/>
              <a:t> </a:t>
            </a:r>
            <a:r>
              <a:rPr sz="2400" dirty="0">
                <a:latin typeface="Monaco"/>
                <a:ea typeface="Monaco"/>
                <a:cs typeface="Monaco"/>
              </a:rPr>
              <a:t>yes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to add to known hosts.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You should be connected. Check you see the word Ada at your command prompt: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endParaRPr sz="2000" dirty="0"/>
          </a:p>
          <a:p>
            <a:pPr marL="457200" indent="-457200">
              <a:lnSpc>
                <a:spcPct val="150000"/>
              </a:lnSpc>
              <a:buAutoNum type="arabicPeriod"/>
            </a:pPr>
            <a:endParaRPr sz="20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Then log out with the command:    </a:t>
            </a:r>
            <a:r>
              <a:rPr sz="2400" dirty="0">
                <a:latin typeface="Monaco"/>
                <a:ea typeface="Monaco"/>
                <a:cs typeface="Monaco"/>
              </a:rPr>
              <a:t>exit</a:t>
            </a:r>
            <a:endParaRPr sz="2000" dirty="0">
              <a:latin typeface="Monaco"/>
              <a:ea typeface="Monaco"/>
              <a:cs typeface="Monac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6E6A4F-A803-F665-7EA3-58B63AA86C36}"/>
              </a:ext>
            </a:extLst>
          </p:cNvPr>
          <p:cNvSpPr>
            <a:spLocks noGrp="1"/>
          </p:cNvSpPr>
          <p:nvPr/>
        </p:nvSpPr>
        <p:spPr>
          <a:xfrm>
            <a:off x="892372" y="2091882"/>
            <a:ext cx="93648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latin typeface="Monaco"/>
                <a:ea typeface="Monaco"/>
                <a:cs typeface="Monaco"/>
              </a:rPr>
              <a:t>	</a:t>
            </a:r>
            <a:r>
              <a:rPr sz="2400">
                <a:latin typeface="Monaco"/>
                <a:ea typeface="Monaco"/>
                <a:cs typeface="Monaco"/>
              </a:rPr>
              <a:t>ssh </a:t>
            </a:r>
            <a:r>
              <a:rPr sz="2400">
                <a:solidFill>
                  <a:schemeClr val="accent6">
                    <a:lumMod val="75000"/>
                  </a:schemeClr>
                </a:solidFill>
                <a:latin typeface="Monaco"/>
                <a:ea typeface="Monaco"/>
                <a:cs typeface="Monaco"/>
              </a:rPr>
              <a:t>username</a:t>
            </a:r>
            <a:r>
              <a:rPr sz="2400">
                <a:latin typeface="Monaco"/>
                <a:ea typeface="Monaco"/>
                <a:cs typeface="Monaco"/>
              </a:rPr>
              <a:t>@hpclogin02.ada.nottingham.ac.uk</a:t>
            </a:r>
            <a:endParaRPr sz="2000"/>
          </a:p>
        </p:txBody>
      </p:sp>
      <p:pic>
        <p:nvPicPr>
          <p:cNvPr id="12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387" y="5510354"/>
            <a:ext cx="46228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510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127F-D89A-0339-C16D-0D354F5CB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915" y="328726"/>
            <a:ext cx="9144000" cy="557441"/>
          </a:xfrm>
        </p:spPr>
        <p:txBody>
          <a:bodyPr>
            <a:normAutofit fontScale="90000"/>
          </a:bodyPr>
          <a:lstStyle/>
          <a:p>
            <a:r>
              <a:rPr sz="3600"/>
              <a:t>SSH keys</a:t>
            </a:r>
          </a:p>
        </p:txBody>
      </p:sp>
      <p:pic>
        <p:nvPicPr>
          <p:cNvPr id="8" name="Graphic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524" y="150246"/>
            <a:ext cx="914400" cy="914400"/>
          </a:xfrm>
          <a:prstGeom prst="rect">
            <a:avLst/>
          </a:prstGeom>
        </p:spPr>
      </p:pic>
      <p:pic>
        <p:nvPicPr>
          <p:cNvPr id="9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4596" y="133993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131DB6-515C-B70B-6CC4-0EE5A522454B}"/>
              </a:ext>
            </a:extLst>
          </p:cNvPr>
          <p:cNvSpPr>
            <a:spLocks noGrp="1"/>
          </p:cNvSpPr>
          <p:nvPr/>
        </p:nvSpPr>
        <p:spPr>
          <a:xfrm>
            <a:off x="1717635" y="1248462"/>
            <a:ext cx="972193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2000" dirty="0"/>
              <a:t>SSH key pairs allow key-based login to a remote machine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2000" dirty="0"/>
              <a:t>Keep your private key only on your own device and never share it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sz="2000" dirty="0"/>
              <a:t>Copy only the public key to a host you are authorised to use</a:t>
            </a:r>
            <a:endParaRPr lang="en-GB" sz="2000" dirty="0"/>
          </a:p>
          <a:p>
            <a:pPr marL="285750" indent="-285750">
              <a:spcAft>
                <a:spcPts val="1200"/>
              </a:spcAft>
              <a:buFont typeface="Arial"/>
              <a:buChar char="•"/>
            </a:pPr>
            <a:r>
              <a:rPr lang="en-GB" sz="2000" dirty="0"/>
              <a:t>Allow you to login without typing your password</a:t>
            </a:r>
            <a:endParaRPr sz="2000" dirty="0"/>
          </a:p>
        </p:txBody>
      </p:sp>
      <p:pic>
        <p:nvPicPr>
          <p:cNvPr id="11" name="Picture 2"/>
          <p:cNvPicPr>
            <a:picLocks noChangeAspect="1"/>
          </p:cNvPicPr>
          <p:nvPr/>
        </p:nvPicPr>
        <p:blipFill rotWithShape="1">
          <a:blip r:embed="rId4"/>
          <a:srcRect l="8652" t="11214" r="6904" b="29583"/>
          <a:stretch>
            <a:fillRect/>
          </a:stretch>
        </p:blipFill>
        <p:spPr>
          <a:xfrm>
            <a:off x="1717635" y="3429000"/>
            <a:ext cx="8021451" cy="281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462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79CD6-AAAD-6DB9-0912-21F8919E9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915" y="328726"/>
            <a:ext cx="9144000" cy="557441"/>
          </a:xfrm>
        </p:spPr>
        <p:txBody>
          <a:bodyPr>
            <a:normAutofit fontScale="90000"/>
          </a:bodyPr>
          <a:lstStyle/>
          <a:p>
            <a:r>
              <a:rPr sz="3600"/>
              <a:t>ssh keys – how they work</a:t>
            </a:r>
          </a:p>
        </p:txBody>
      </p:sp>
      <p:pic>
        <p:nvPicPr>
          <p:cNvPr id="7" name="Graphic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524" y="150246"/>
            <a:ext cx="914400" cy="914400"/>
          </a:xfrm>
          <a:prstGeom prst="rect">
            <a:avLst/>
          </a:prstGeom>
        </p:spPr>
      </p:pic>
      <p:pic>
        <p:nvPicPr>
          <p:cNvPr id="8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4596" y="133993"/>
            <a:ext cx="914400" cy="914400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7019" y="1064646"/>
            <a:ext cx="10735482" cy="509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190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2F1C8-5B7C-3A2C-DB9F-686FE8F77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915" y="328726"/>
            <a:ext cx="9144000" cy="557441"/>
          </a:xfrm>
        </p:spPr>
        <p:txBody>
          <a:bodyPr>
            <a:normAutofit fontScale="90000"/>
          </a:bodyPr>
          <a:lstStyle/>
          <a:p>
            <a:r>
              <a:rPr sz="3600" dirty="0"/>
              <a:t>EXERCISE: set up key-based SSH login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BA3043-00DF-7FB5-9DD1-897E3DBDD204}"/>
              </a:ext>
            </a:extLst>
          </p:cNvPr>
          <p:cNvSpPr>
            <a:spLocks noGrp="1"/>
          </p:cNvSpPr>
          <p:nvPr/>
        </p:nvSpPr>
        <p:spPr>
          <a:xfrm>
            <a:off x="140524" y="968137"/>
            <a:ext cx="11910951" cy="573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buNone/>
            </a:pPr>
            <a:r>
              <a:rPr dirty="0">
                <a:solidFill>
                  <a:schemeClr val="accent5"/>
                </a:solidFill>
              </a:rPr>
              <a:t>SSH keys authenticate your device to the HPC; your private key stays on your device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Open WSL/Ubuntu on Windows or Terminal on macOS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Create an Ed25519 key pair. Accept the default file location and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leave the passphrase blank</a:t>
            </a:r>
            <a:r>
              <a:rPr dirty="0">
                <a:solidFill>
                  <a:schemeClr val="bg2">
                    <a:lumMod val="50000"/>
                  </a:schemeClr>
                </a:solidFill>
              </a:rPr>
              <a:t>:</a:t>
            </a:r>
          </a:p>
          <a:p>
            <a:pPr>
              <a:lnSpc>
                <a:spcPct val="200000"/>
              </a:lnSpc>
              <a:buNone/>
            </a:pPr>
            <a:r>
              <a:rPr dirty="0">
                <a:latin typeface="Monaco"/>
                <a:ea typeface="Monaco"/>
                <a:cs typeface="Monaco"/>
              </a:rPr>
              <a:t>	</a:t>
            </a:r>
            <a:r>
              <a:rPr sz="2000" dirty="0">
                <a:latin typeface="Monaco"/>
                <a:ea typeface="Monaco"/>
                <a:cs typeface="Monaco"/>
              </a:rPr>
              <a:t>ssh-keygen -t ed25519</a:t>
            </a:r>
          </a:p>
          <a:p>
            <a:pPr algn="ctr">
              <a:lnSpc>
                <a:spcPct val="200000"/>
              </a:lnSpc>
              <a:buNone/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This creates ~/.ssh/id_ed25519 (private) and ~/.ssh/id_ed25519.pub (public). Never share the private key.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 startAt="3"/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Copy the public key to Ada; replace username and enter your Ada password when prompted:</a:t>
            </a:r>
          </a:p>
          <a:p>
            <a:pPr>
              <a:lnSpc>
                <a:spcPct val="200000"/>
              </a:lnSpc>
              <a:buNone/>
            </a:pPr>
            <a:r>
              <a:rPr dirty="0"/>
              <a:t>	</a:t>
            </a:r>
            <a:r>
              <a:rPr sz="2000" dirty="0">
                <a:latin typeface="Monaco"/>
                <a:ea typeface="Monaco"/>
                <a:cs typeface="Monaco"/>
              </a:rPr>
              <a:t>ssh-copy-id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Monaco"/>
                <a:ea typeface="Monaco"/>
                <a:cs typeface="Monaco"/>
              </a:rPr>
              <a:t>username</a:t>
            </a:r>
            <a:r>
              <a:rPr sz="2000" dirty="0">
                <a:latin typeface="Monaco"/>
                <a:ea typeface="Monaco"/>
                <a:cs typeface="Monaco"/>
              </a:rPr>
              <a:t>@hpclogin02.ada.nottingham.ac.uk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 startAt="4"/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Test the connection. You should 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not need to enter your password this time</a:t>
            </a:r>
            <a:r>
              <a:rPr dirty="0">
                <a:solidFill>
                  <a:schemeClr val="bg2">
                    <a:lumMod val="50000"/>
                  </a:schemeClr>
                </a:solidFill>
              </a:rPr>
              <a:t>:</a:t>
            </a:r>
          </a:p>
          <a:p>
            <a:pPr>
              <a:lnSpc>
                <a:spcPct val="200000"/>
              </a:lnSpc>
              <a:buNone/>
            </a:pPr>
            <a:r>
              <a:rPr dirty="0">
                <a:latin typeface="Monaco"/>
                <a:ea typeface="Monaco"/>
                <a:cs typeface="Monaco"/>
              </a:rPr>
              <a:t>	 </a:t>
            </a:r>
            <a:r>
              <a:rPr sz="2000" dirty="0">
                <a:latin typeface="Monaco"/>
                <a:ea typeface="Monaco"/>
                <a:cs typeface="Monaco"/>
              </a:rPr>
              <a:t>ssh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Monaco"/>
                <a:ea typeface="Monaco"/>
                <a:cs typeface="Monaco"/>
              </a:rPr>
              <a:t>username</a:t>
            </a:r>
            <a:r>
              <a:rPr sz="2000" dirty="0">
                <a:latin typeface="Monaco"/>
                <a:ea typeface="Monaco"/>
                <a:cs typeface="Monaco"/>
              </a:rPr>
              <a:t>@hpclogin02.ada.nottingham.ac.uk </a:t>
            </a:r>
            <a:endParaRPr sz="2400" dirty="0">
              <a:latin typeface="Monaco"/>
              <a:ea typeface="Monaco"/>
              <a:cs typeface="Monaco"/>
            </a:endParaRPr>
          </a:p>
          <a:p>
            <a:pPr>
              <a:lnSpc>
                <a:spcPct val="200000"/>
              </a:lnSpc>
              <a:buNone/>
            </a:pPr>
            <a:endParaRPr dirty="0">
              <a:latin typeface="Monaco"/>
              <a:ea typeface="Monaco"/>
              <a:cs typeface="Monaco"/>
            </a:endParaRPr>
          </a:p>
        </p:txBody>
      </p:sp>
      <p:pic>
        <p:nvPicPr>
          <p:cNvPr id="10" name="Graphic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524" y="150246"/>
            <a:ext cx="914400" cy="914400"/>
          </a:xfrm>
          <a:prstGeom prst="rect">
            <a:avLst/>
          </a:prstGeom>
        </p:spPr>
      </p:pic>
      <p:pic>
        <p:nvPicPr>
          <p:cNvPr id="11" name="Graphic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4596" y="13399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516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/>
          </p:cNvPicPr>
          <p:nvPr/>
        </p:nvPicPr>
        <p:blipFill rotWithShape="1">
          <a:blip r:embed="rId3"/>
          <a:srcRect t="31260" b="32326"/>
          <a:stretch>
            <a:fillRect/>
          </a:stretch>
        </p:blipFill>
        <p:spPr>
          <a:xfrm>
            <a:off x="2174755" y="5208026"/>
            <a:ext cx="2540000" cy="9249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4A9012-BE9D-978E-C7B0-FB80B7173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915" y="140614"/>
            <a:ext cx="9144000" cy="557441"/>
          </a:xfrm>
        </p:spPr>
        <p:txBody>
          <a:bodyPr>
            <a:normAutofit fontScale="90000"/>
          </a:bodyPr>
          <a:lstStyle/>
          <a:p>
            <a:r>
              <a:rPr sz="3600"/>
              <a:t>ssh config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842EBC-B494-B317-451B-26A2D0C611A8}"/>
              </a:ext>
            </a:extLst>
          </p:cNvPr>
          <p:cNvSpPr>
            <a:spLocks noGrp="1"/>
          </p:cNvSpPr>
          <p:nvPr/>
        </p:nvSpPr>
        <p:spPr>
          <a:xfrm>
            <a:off x="420414" y="1313264"/>
            <a:ext cx="6801257" cy="327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An ssh config file specifies information about the different hosts you connect to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The config file is located here: ~/.ssh/config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It allows you to login without having to remember the domain name or ip address of each machine you want to ssh into.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Makes life much easier if you regularly use multiple HPCs</a:t>
            </a:r>
          </a:p>
        </p:txBody>
      </p:sp>
      <p:pic>
        <p:nvPicPr>
          <p:cNvPr id="1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246" y="1116399"/>
            <a:ext cx="4516377" cy="52307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F698C0-A4DA-5B11-A7C5-E43A2E7CD639}"/>
              </a:ext>
            </a:extLst>
          </p:cNvPr>
          <p:cNvSpPr>
            <a:spLocks noGrp="1"/>
          </p:cNvSpPr>
          <p:nvPr/>
        </p:nvSpPr>
        <p:spPr>
          <a:xfrm>
            <a:off x="7477246" y="698055"/>
            <a:ext cx="1367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1427272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44708-2303-9C7F-244D-58CFB7440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915" y="140614"/>
            <a:ext cx="9144000" cy="557441"/>
          </a:xfrm>
        </p:spPr>
        <p:txBody>
          <a:bodyPr>
            <a:normAutofit fontScale="90000"/>
          </a:bodyPr>
          <a:lstStyle/>
          <a:p>
            <a:r>
              <a:rPr sz="3600"/>
              <a:t>Setting up a config 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229F2-331F-884B-93C5-DD4CECD1D7F9}"/>
              </a:ext>
            </a:extLst>
          </p:cNvPr>
          <p:cNvSpPr>
            <a:spLocks noGrp="1"/>
          </p:cNvSpPr>
          <p:nvPr/>
        </p:nvSpPr>
        <p:spPr>
          <a:xfrm>
            <a:off x="1323915" y="3569365"/>
            <a:ext cx="6581166" cy="18851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000">
                <a:latin typeface="Monaco"/>
                <a:ea typeface="Monaco"/>
                <a:cs typeface="Monaco"/>
              </a:rPr>
              <a:t>Host ada</a:t>
            </a:r>
          </a:p>
          <a:p>
            <a:pPr>
              <a:lnSpc>
                <a:spcPct val="150000"/>
              </a:lnSpc>
              <a:buNone/>
            </a:pPr>
            <a:r>
              <a:rPr sz="2000">
                <a:latin typeface="Monaco"/>
                <a:ea typeface="Monaco"/>
                <a:cs typeface="Monaco"/>
              </a:rPr>
              <a:t> Hostname hpclogin02.ada.nottingham.ac.uk</a:t>
            </a:r>
          </a:p>
          <a:p>
            <a:pPr>
              <a:lnSpc>
                <a:spcPct val="150000"/>
              </a:lnSpc>
              <a:buNone/>
            </a:pPr>
            <a:r>
              <a:rPr sz="2000">
                <a:latin typeface="Monaco"/>
                <a:ea typeface="Monaco"/>
                <a:cs typeface="Monaco"/>
              </a:rPr>
              <a:t> User </a:t>
            </a:r>
            <a:r>
              <a:rPr sz="2000">
                <a:solidFill>
                  <a:schemeClr val="accent3"/>
                </a:solidFill>
                <a:latin typeface="Monaco"/>
                <a:ea typeface="Monaco"/>
                <a:cs typeface="Monaco"/>
              </a:rPr>
              <a:t>username</a:t>
            </a:r>
          </a:p>
          <a:p>
            <a:pPr>
              <a:lnSpc>
                <a:spcPct val="150000"/>
              </a:lnSpc>
              <a:buNone/>
            </a:pPr>
            <a:endParaRPr sz="2000">
              <a:latin typeface="Monaco"/>
              <a:ea typeface="Monaco"/>
              <a:cs typeface="Monac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C75CEE-9B2D-DE75-C8ED-E997E119F0DC}"/>
              </a:ext>
            </a:extLst>
          </p:cNvPr>
          <p:cNvSpPr>
            <a:spLocks noGrp="1"/>
          </p:cNvSpPr>
          <p:nvPr/>
        </p:nvSpPr>
        <p:spPr>
          <a:xfrm>
            <a:off x="861848" y="725063"/>
            <a:ext cx="10731062" cy="143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We will create a config file together… use nano or vim or whatever text editor you prefer!</a:t>
            </a:r>
            <a:br/>
            <a:r>
              <a:rPr sz="2000"/>
              <a:t>E.g. type     </a:t>
            </a:r>
            <a:r>
              <a:rPr sz="2000">
                <a:latin typeface="Monaco"/>
                <a:ea typeface="Monaco"/>
                <a:cs typeface="Monaco"/>
              </a:rPr>
              <a:t>nano ~/.ssh/config   </a:t>
            </a:r>
            <a:r>
              <a:rPr sz="2000"/>
              <a:t>OR      </a:t>
            </a:r>
            <a:r>
              <a:rPr sz="2000">
                <a:latin typeface="Monaco"/>
                <a:ea typeface="Monaco"/>
                <a:cs typeface="Monaco"/>
              </a:rPr>
              <a:t>vim ~/.ssh/config </a:t>
            </a:r>
            <a:r>
              <a:rPr sz="2000"/>
              <a:t> into your terminal to create the file, type the text from the example below then save.</a:t>
            </a:r>
          </a:p>
        </p:txBody>
      </p:sp>
      <p:pic>
        <p:nvPicPr>
          <p:cNvPr id="14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43558" y="3288636"/>
            <a:ext cx="2540000" cy="254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CE8C22-9707-737C-6962-495BD2DE9DD3}"/>
              </a:ext>
            </a:extLst>
          </p:cNvPr>
          <p:cNvSpPr>
            <a:spLocks noGrp="1"/>
          </p:cNvSpPr>
          <p:nvPr/>
        </p:nvSpPr>
        <p:spPr>
          <a:xfrm>
            <a:off x="861848" y="5920934"/>
            <a:ext cx="10106484" cy="507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sz="2000"/>
              <a:t>After you have created your config file try logging in using the command:     </a:t>
            </a:r>
            <a:r>
              <a:rPr sz="2000">
                <a:latin typeface="Monaco"/>
                <a:ea typeface="Monaco"/>
                <a:cs typeface="Monaco"/>
              </a:rPr>
              <a:t>ssh ada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9767E-C7FA-E2C7-7FB0-7BBE76942EAD}"/>
              </a:ext>
            </a:extLst>
          </p:cNvPr>
          <p:cNvSpPr>
            <a:spLocks noGrp="1"/>
          </p:cNvSpPr>
          <p:nvPr/>
        </p:nvSpPr>
        <p:spPr>
          <a:xfrm>
            <a:off x="1210916" y="2642305"/>
            <a:ext cx="9256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Example config file: replace ‘username’ with your University username; indentation improves readability and the host/user values must be exact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73419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5C0C8-8EBF-8CE6-789E-A528C8C84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5695"/>
            <a:ext cx="9144000" cy="557441"/>
          </a:xfrm>
        </p:spPr>
        <p:txBody>
          <a:bodyPr>
            <a:normAutofit fontScale="90000"/>
          </a:bodyPr>
          <a:lstStyle/>
          <a:p>
            <a:r>
              <a:rPr sz="3600"/>
              <a:t>OpenOnDemand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F6267F-AC46-9087-9F2E-91E495B29F8B}"/>
              </a:ext>
            </a:extLst>
          </p:cNvPr>
          <p:cNvSpPr>
            <a:spLocks noGrp="1"/>
          </p:cNvSpPr>
          <p:nvPr/>
        </p:nvSpPr>
        <p:spPr>
          <a:xfrm>
            <a:off x="609251" y="554952"/>
            <a:ext cx="11361426" cy="593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sz="2400" b="1" i="0" u="sng">
                <a:solidFill>
                  <a:srgbClr val="03787C"/>
                </a:solidFill>
                <a:latin typeface="Segoe UI"/>
                <a:ea typeface="Segoe UI"/>
                <a:cs typeface="Segoe UI"/>
                <a:hlinkClick r:id="rId3"/>
              </a:rPr>
              <a:t>https://hpcondemand01.ada.nottingham.ac.uk</a:t>
            </a:r>
            <a:endParaRPr sz="2400"/>
          </a:p>
        </p:txBody>
      </p:sp>
      <p:pic>
        <p:nvPicPr>
          <p:cNvPr id="9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92" y="1489603"/>
            <a:ext cx="10032095" cy="506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722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B20D8B-6BDD-B027-76F9-356287EF4930}"/>
              </a:ext>
            </a:extLst>
          </p:cNvPr>
          <p:cNvSpPr>
            <a:spLocks noGrp="1"/>
          </p:cNvSpPr>
          <p:nvPr/>
        </p:nvSpPr>
        <p:spPr>
          <a:xfrm>
            <a:off x="1520327" y="187287"/>
            <a:ext cx="9144000" cy="557441"/>
          </a:xfrm>
          <a:prstGeom prst="rect">
            <a:avLst/>
          </a:prstGeom>
        </p:spPr>
        <p:txBody>
          <a:bodyPr vert="horz" lIns="91440" tIns="45720" rIns="91440" bIns="45720" anchor="ctr">
            <a:normAutofit fontScale="97500" lnSpcReduction="10000"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buNone/>
            </a:pPr>
            <a:r>
              <a:rPr sz="3600"/>
              <a:t>UoN HPC – Ada – support &amp;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8DC056-10AC-40A1-4F48-3426EDC77E3E}"/>
              </a:ext>
            </a:extLst>
          </p:cNvPr>
          <p:cNvSpPr>
            <a:spLocks noGrp="1"/>
          </p:cNvSpPr>
          <p:nvPr/>
        </p:nvSpPr>
        <p:spPr>
          <a:xfrm>
            <a:off x="156073" y="1260255"/>
            <a:ext cx="11887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tx2"/>
                </a:solidFill>
              </a:rPr>
              <a:t>Commands, partitions and resources:</a:t>
            </a:r>
          </a:p>
          <a:p>
            <a:r>
              <a:rPr>
                <a:solidFill>
                  <a:schemeClr val="tx2"/>
                </a:solidFill>
                <a:hlinkClick r:id="rId3"/>
              </a:rPr>
              <a:t>https://uniofnottm.sharepoint.com/sites/DigitalResearch/SitePages/Ada-Commands-Partitions-and-Resources.aspx</a:t>
            </a:r>
            <a:endParaRPr>
              <a:solidFill>
                <a:schemeClr val="tx2"/>
              </a:solidFill>
            </a:endParaRPr>
          </a:p>
          <a:p>
            <a:endParaRPr>
              <a:solidFill>
                <a:schemeClr val="tx2"/>
              </a:solidFill>
            </a:endParaRPr>
          </a:p>
          <a:p>
            <a:r>
              <a:rPr>
                <a:solidFill>
                  <a:schemeClr val="tx2"/>
                </a:solidFill>
              </a:rPr>
              <a:t>Software modules:</a:t>
            </a:r>
          </a:p>
          <a:p>
            <a:r>
              <a:rPr>
                <a:solidFill>
                  <a:schemeClr val="tx2"/>
                </a:solidFill>
                <a:hlinkClick r:id="rId4"/>
              </a:rPr>
              <a:t>https://uniofnottm.sharepoint.com/sites/DigitalResearch/SitePages/Ada-Compute-software.aspx</a:t>
            </a:r>
            <a:endParaRPr>
              <a:solidFill>
                <a:schemeClr val="tx2"/>
              </a:solidFill>
            </a:endParaRPr>
          </a:p>
          <a:p>
            <a:endParaRPr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3B65B-B1BB-6242-F6F3-14AF5903B12C}"/>
              </a:ext>
            </a:extLst>
          </p:cNvPr>
          <p:cNvSpPr>
            <a:spLocks noGrp="1"/>
          </p:cNvSpPr>
          <p:nvPr/>
        </p:nvSpPr>
        <p:spPr>
          <a:xfrm>
            <a:off x="148727" y="874673"/>
            <a:ext cx="2745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b="1" i="0">
                <a:solidFill>
                  <a:srgbClr val="323130"/>
                </a:solidFill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The sharepoint site:</a:t>
            </a:r>
            <a:endParaRPr b="0" i="0">
              <a:solidFill>
                <a:srgbClr val="323130"/>
              </a:solidFill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89EC8-F7D7-F2C8-46B8-422186E81126}"/>
              </a:ext>
            </a:extLst>
          </p:cNvPr>
          <p:cNvSpPr>
            <a:spLocks noGrp="1"/>
          </p:cNvSpPr>
          <p:nvPr/>
        </p:nvSpPr>
        <p:spPr>
          <a:xfrm>
            <a:off x="184451" y="3681586"/>
            <a:ext cx="11675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b="1" i="0">
                <a:solidFill>
                  <a:srgbClr val="323130"/>
                </a:solidFill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The IT helpdesk: (if you need something that requires admin rights, this is your only option!)</a:t>
            </a:r>
            <a:endParaRPr b="0" i="0">
              <a:solidFill>
                <a:srgbClr val="323130"/>
              </a:solidFill>
              <a:highlight>
                <a:srgbClr val="FFFFFF"/>
              </a:highlight>
              <a:latin typeface="Segoe UI"/>
              <a:ea typeface="Segoe U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489B18-306F-1FB4-ACA3-0425001B697D}"/>
              </a:ext>
            </a:extLst>
          </p:cNvPr>
          <p:cNvSpPr>
            <a:spLocks noGrp="1"/>
          </p:cNvSpPr>
          <p:nvPr/>
        </p:nvSpPr>
        <p:spPr>
          <a:xfrm>
            <a:off x="184451" y="5349399"/>
            <a:ext cx="6546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b="1" i="0">
                <a:solidFill>
                  <a:srgbClr val="323130"/>
                </a:solidFill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Me! : </a:t>
            </a:r>
            <a:r>
              <a:rPr i="0">
                <a:solidFill>
                  <a:srgbClr val="323130"/>
                </a:solidFill>
                <a:highlight>
                  <a:srgbClr val="FFFFFF"/>
                </a:highlight>
                <a:latin typeface="Segoe UI"/>
                <a:ea typeface="Segoe UI"/>
                <a:cs typeface="Segoe UI"/>
                <a:hlinkClick r:id="rId5"/>
              </a:rPr>
              <a:t>laura.dean@nottingham.ac.uk</a:t>
            </a:r>
            <a:r>
              <a:rPr i="0">
                <a:solidFill>
                  <a:srgbClr val="323130"/>
                </a:solidFill>
                <a:highlight>
                  <a:srgbClr val="FFFFFF"/>
                </a:highlight>
                <a:latin typeface="Segoe UI"/>
                <a:ea typeface="Segoe UI"/>
                <a:cs typeface="Segoe UI"/>
              </a:rPr>
              <a:t> or teams chat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EDDB11-FC1B-815F-FAA2-102F194500DF}"/>
              </a:ext>
            </a:extLst>
          </p:cNvPr>
          <p:cNvSpPr>
            <a:spLocks noGrp="1"/>
          </p:cNvSpPr>
          <p:nvPr/>
        </p:nvSpPr>
        <p:spPr>
          <a:xfrm>
            <a:off x="148727" y="4108602"/>
            <a:ext cx="9907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tx2"/>
                </a:solidFill>
                <a:hlinkClick r:id="rId6"/>
              </a:rPr>
              <a:t>https://www.nottingham.ac.uk/dts/help/self-service-portal/self-service-portal.aspx</a:t>
            </a:r>
            <a:endParaRPr>
              <a:solidFill>
                <a:schemeClr val="tx2"/>
              </a:solidFill>
            </a:endParaRPr>
          </a:p>
          <a:p>
            <a:endParaRPr>
              <a:solidFill>
                <a:schemeClr val="tx2"/>
              </a:solidFill>
            </a:endParaRPr>
          </a:p>
        </p:txBody>
      </p:sp>
      <p:pic>
        <p:nvPicPr>
          <p:cNvPr id="19" name="Picture 2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574305" y="4766750"/>
            <a:ext cx="1724585" cy="190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250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1734</Words>
  <Application>Microsoft Macintosh PowerPoint</Application>
  <DocSecurity>0</DocSecurity>
  <PresentationFormat>Widescreen</PresentationFormat>
  <Paragraphs>161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Monaco</vt:lpstr>
      <vt:lpstr>Segoe UI</vt:lpstr>
      <vt:lpstr>var(--fontFamilyCustomFont900, var(--fontFamilyBase))</vt:lpstr>
      <vt:lpstr>Office Theme</vt:lpstr>
      <vt:lpstr>Getting set up on the UoN HPC “Ada”</vt:lpstr>
      <vt:lpstr>Learning Objectives</vt:lpstr>
      <vt:lpstr>What is an HPC?</vt:lpstr>
      <vt:lpstr>Resources on Ada</vt:lpstr>
      <vt:lpstr>PowerPoint Presentation</vt:lpstr>
      <vt:lpstr>PowerPoint Presentation</vt:lpstr>
      <vt:lpstr>PowerPoint Presentation</vt:lpstr>
      <vt:lpstr>The terminal</vt:lpstr>
      <vt:lpstr>The terminal</vt:lpstr>
      <vt:lpstr>The terminal</vt:lpstr>
      <vt:lpstr>The shell</vt:lpstr>
      <vt:lpstr>SSH – secure shell – used to connect to a remote machine</vt:lpstr>
      <vt:lpstr>SSH – always look at your command prompt</vt:lpstr>
      <vt:lpstr>SSH command structure</vt:lpstr>
      <vt:lpstr>EXERCISE: Connect to the UoN HPC – Ada</vt:lpstr>
      <vt:lpstr>SSH keys</vt:lpstr>
      <vt:lpstr>ssh keys – how they work</vt:lpstr>
      <vt:lpstr>EXERCISE: set up key-based SSH login</vt:lpstr>
      <vt:lpstr>ssh config file</vt:lpstr>
      <vt:lpstr>Setting up a config file</vt:lpstr>
      <vt:lpstr>OpenOnDemand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Laura Dean (staff)</cp:lastModifiedBy>
  <cp:revision>2</cp:revision>
  <dcterms:created xsi:type="dcterms:W3CDTF">2026-09-03T20:02:08Z</dcterms:created>
  <dcterms:modified xsi:type="dcterms:W3CDTF">2026-10-05T10:33:58Z</dcterms:modified>
</cp:coreProperties>
</file>