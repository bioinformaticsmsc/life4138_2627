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09" r:id="rId3"/>
    <p:sldId id="274" r:id="rId4"/>
    <p:sldId id="314" r:id="rId5"/>
    <p:sldId id="277" r:id="rId6"/>
    <p:sldId id="261" r:id="rId7"/>
    <p:sldId id="281" r:id="rId8"/>
    <p:sldId id="291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2" r:id="rId17"/>
    <p:sldId id="303" r:id="rId18"/>
    <p:sldId id="257" r:id="rId19"/>
    <p:sldId id="293" r:id="rId20"/>
    <p:sldId id="298" r:id="rId21"/>
    <p:sldId id="304" r:id="rId22"/>
    <p:sldId id="260" r:id="rId23"/>
    <p:sldId id="310" r:id="rId24"/>
    <p:sldId id="262" r:id="rId25"/>
    <p:sldId id="263" r:id="rId26"/>
    <p:sldId id="312" r:id="rId27"/>
    <p:sldId id="305" r:id="rId28"/>
    <p:sldId id="306" r:id="rId29"/>
    <p:sldId id="264" r:id="rId30"/>
    <p:sldId id="307" r:id="rId31"/>
    <p:sldId id="265" r:id="rId32"/>
    <p:sldId id="276" r:id="rId33"/>
    <p:sldId id="259" r:id="rId34"/>
    <p:sldId id="29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gging in" id="{286D0511-4436-324B-AFCB-CBCBCB46791C}">
          <p14:sldIdLst>
            <p14:sldId id="256"/>
            <p14:sldId id="309"/>
            <p14:sldId id="274"/>
            <p14:sldId id="314"/>
            <p14:sldId id="277"/>
            <p14:sldId id="261"/>
            <p14:sldId id="281"/>
            <p14:sldId id="291"/>
            <p14:sldId id="284"/>
            <p14:sldId id="285"/>
            <p14:sldId id="286"/>
            <p14:sldId id="287"/>
            <p14:sldId id="288"/>
            <p14:sldId id="289"/>
            <p14:sldId id="290"/>
            <p14:sldId id="292"/>
            <p14:sldId id="303"/>
          </p14:sldIdLst>
        </p14:section>
        <p14:section name="Slurm" id="{4A71A5F1-8CE4-A941-9AAA-5CE0A7FE0DE5}">
          <p14:sldIdLst>
            <p14:sldId id="257"/>
            <p14:sldId id="293"/>
            <p14:sldId id="298"/>
          </p14:sldIdLst>
        </p14:section>
        <p14:section name="different queues" id="{A5B95123-E103-F949-B8DD-AA61F87E35B5}">
          <p14:sldIdLst>
            <p14:sldId id="304"/>
            <p14:sldId id="260"/>
          </p14:sldIdLst>
        </p14:section>
        <p14:section name="Software" id="{AA0C938F-F3F6-E946-96F9-2DC8117B10E5}">
          <p14:sldIdLst>
            <p14:sldId id="310"/>
            <p14:sldId id="262"/>
            <p14:sldId id="263"/>
            <p14:sldId id="312"/>
            <p14:sldId id="305"/>
            <p14:sldId id="306"/>
            <p14:sldId id="264"/>
            <p14:sldId id="307"/>
          </p14:sldIdLst>
        </p14:section>
        <p14:section name="moving files" id="{5997F080-2395-9340-B7F1-F48F5000A678}">
          <p14:sldIdLst>
            <p14:sldId id="265"/>
          </p14:sldIdLst>
        </p14:section>
        <p14:section name="Support and information" id="{D76436DA-986F-3E42-8A0E-090E6E87AD47}">
          <p14:sldIdLst>
            <p14:sldId id="276"/>
            <p14:sldId id="259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175514-0CBB-B448-ADB7-D83A9CE824B9}" v="2" dt="2025-10-09T09:20:39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42"/>
    <p:restoredTop sz="88048"/>
  </p:normalViewPr>
  <p:slideViewPr>
    <p:cSldViewPr snapToGrid="0">
      <p:cViewPr varScale="1">
        <p:scale>
          <a:sx n="107" d="100"/>
          <a:sy n="107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Dean (staff)" userId="d8747312-ac52-4b4d-9ae4-1e15c3e0516b" providerId="ADAL" clId="{0A5FCBA3-0436-57F2-9A98-325546E6318B}"/>
    <pc:docChg chg="custSel addSld delSld modSld sldOrd delSection modSection">
      <pc:chgData name="Laura Dean (staff)" userId="d8747312-ac52-4b4d-9ae4-1e15c3e0516b" providerId="ADAL" clId="{0A5FCBA3-0436-57F2-9A98-325546E6318B}" dt="2025-10-09T09:21:14.100" v="114" actId="14100"/>
      <pc:docMkLst>
        <pc:docMk/>
      </pc:docMkLst>
      <pc:sldChg chg="del">
        <pc:chgData name="Laura Dean (staff)" userId="d8747312-ac52-4b4d-9ae4-1e15c3e0516b" providerId="ADAL" clId="{0A5FCBA3-0436-57F2-9A98-325546E6318B}" dt="2025-10-06T10:18:30.107" v="1" actId="2696"/>
        <pc:sldMkLst>
          <pc:docMk/>
          <pc:sldMk cId="503866127" sldId="266"/>
        </pc:sldMkLst>
      </pc:sldChg>
      <pc:sldChg chg="ord">
        <pc:chgData name="Laura Dean (staff)" userId="d8747312-ac52-4b4d-9ae4-1e15c3e0516b" providerId="ADAL" clId="{0A5FCBA3-0436-57F2-9A98-325546E6318B}" dt="2025-10-09T08:52:45.235" v="13" actId="20578"/>
        <pc:sldMkLst>
          <pc:docMk/>
          <pc:sldMk cId="2972566723" sldId="275"/>
        </pc:sldMkLst>
      </pc:sldChg>
      <pc:sldChg chg="del">
        <pc:chgData name="Laura Dean (staff)" userId="d8747312-ac52-4b4d-9ae4-1e15c3e0516b" providerId="ADAL" clId="{0A5FCBA3-0436-57F2-9A98-325546E6318B}" dt="2025-10-06T10:18:47.337" v="6" actId="2696"/>
        <pc:sldMkLst>
          <pc:docMk/>
          <pc:sldMk cId="3749462337" sldId="278"/>
        </pc:sldMkLst>
      </pc:sldChg>
      <pc:sldChg chg="del">
        <pc:chgData name="Laura Dean (staff)" userId="d8747312-ac52-4b4d-9ae4-1e15c3e0516b" providerId="ADAL" clId="{0A5FCBA3-0436-57F2-9A98-325546E6318B}" dt="2025-10-06T10:18:48.096" v="7" actId="2696"/>
        <pc:sldMkLst>
          <pc:docMk/>
          <pc:sldMk cId="1427272894" sldId="279"/>
        </pc:sldMkLst>
      </pc:sldChg>
      <pc:sldChg chg="del">
        <pc:chgData name="Laura Dean (staff)" userId="d8747312-ac52-4b4d-9ae4-1e15c3e0516b" providerId="ADAL" clId="{0A5FCBA3-0436-57F2-9A98-325546E6318B}" dt="2025-10-06T10:23:38.219" v="10" actId="2696"/>
        <pc:sldMkLst>
          <pc:docMk/>
          <pc:sldMk cId="2187301221" sldId="299"/>
        </pc:sldMkLst>
      </pc:sldChg>
      <pc:sldChg chg="del">
        <pc:chgData name="Laura Dean (staff)" userId="d8747312-ac52-4b4d-9ae4-1e15c3e0516b" providerId="ADAL" clId="{0A5FCBA3-0436-57F2-9A98-325546E6318B}" dt="2025-10-06T10:23:36.092" v="9" actId="2696"/>
        <pc:sldMkLst>
          <pc:docMk/>
          <pc:sldMk cId="788512635" sldId="301"/>
        </pc:sldMkLst>
      </pc:sldChg>
      <pc:sldChg chg="del">
        <pc:chgData name="Laura Dean (staff)" userId="d8747312-ac52-4b4d-9ae4-1e15c3e0516b" providerId="ADAL" clId="{0A5FCBA3-0436-57F2-9A98-325546E6318B}" dt="2025-10-06T10:21:32.083" v="8" actId="2696"/>
        <pc:sldMkLst>
          <pc:docMk/>
          <pc:sldMk cId="1091374398" sldId="308"/>
        </pc:sldMkLst>
      </pc:sldChg>
      <pc:sldChg chg="modSp mod">
        <pc:chgData name="Laura Dean (staff)" userId="d8747312-ac52-4b4d-9ae4-1e15c3e0516b" providerId="ADAL" clId="{0A5FCBA3-0436-57F2-9A98-325546E6318B}" dt="2025-10-06T10:18:01.582" v="0" actId="20577"/>
        <pc:sldMkLst>
          <pc:docMk/>
          <pc:sldMk cId="1839439955" sldId="309"/>
        </pc:sldMkLst>
        <pc:spChg chg="mod">
          <ac:chgData name="Laura Dean (staff)" userId="d8747312-ac52-4b4d-9ae4-1e15c3e0516b" providerId="ADAL" clId="{0A5FCBA3-0436-57F2-9A98-325546E6318B}" dt="2025-10-06T10:18:01.582" v="0" actId="20577"/>
          <ac:spMkLst>
            <pc:docMk/>
            <pc:sldMk cId="1839439955" sldId="309"/>
            <ac:spMk id="5" creationId="{E529853A-E964-7B9A-D5BC-B3B7075AC096}"/>
          </ac:spMkLst>
        </pc:spChg>
      </pc:sldChg>
      <pc:sldChg chg="modSp add mod">
        <pc:chgData name="Laura Dean (staff)" userId="d8747312-ac52-4b4d-9ae4-1e15c3e0516b" providerId="ADAL" clId="{0A5FCBA3-0436-57F2-9A98-325546E6318B}" dt="2025-10-09T09:21:14.100" v="114" actId="14100"/>
        <pc:sldMkLst>
          <pc:docMk/>
          <pc:sldMk cId="1517161138" sldId="313"/>
        </pc:sldMkLst>
        <pc:spChg chg="mod">
          <ac:chgData name="Laura Dean (staff)" userId="d8747312-ac52-4b4d-9ae4-1e15c3e0516b" providerId="ADAL" clId="{0A5FCBA3-0436-57F2-9A98-325546E6318B}" dt="2025-10-09T09:20:58.066" v="111" actId="1076"/>
          <ac:spMkLst>
            <pc:docMk/>
            <pc:sldMk cId="1517161138" sldId="313"/>
            <ac:spMk id="2" creationId="{C710A4FC-3C1C-5FCF-694F-F3286F802636}"/>
          </ac:spMkLst>
        </pc:spChg>
        <pc:spChg chg="mod">
          <ac:chgData name="Laura Dean (staff)" userId="d8747312-ac52-4b4d-9ae4-1e15c3e0516b" providerId="ADAL" clId="{0A5FCBA3-0436-57F2-9A98-325546E6318B}" dt="2025-10-09T09:21:14.100" v="114" actId="14100"/>
          <ac:spMkLst>
            <pc:docMk/>
            <pc:sldMk cId="1517161138" sldId="313"/>
            <ac:spMk id="5" creationId="{4B3F8C97-50B0-0ED6-7C76-A1CCC5154D72}"/>
          </ac:spMkLst>
        </pc:spChg>
      </pc:sldChg>
      <pc:sldChg chg="del">
        <pc:chgData name="Laura Dean (staff)" userId="d8747312-ac52-4b4d-9ae4-1e15c3e0516b" providerId="ADAL" clId="{0A5FCBA3-0436-57F2-9A98-325546E6318B}" dt="2025-10-06T10:18:45.806" v="5" actId="2696"/>
        <pc:sldMkLst>
          <pc:docMk/>
          <pc:sldMk cId="3640510485" sldId="313"/>
        </pc:sldMkLst>
      </pc:sldChg>
      <pc:sldChg chg="del">
        <pc:chgData name="Laura Dean (staff)" userId="d8747312-ac52-4b4d-9ae4-1e15c3e0516b" providerId="ADAL" clId="{0A5FCBA3-0436-57F2-9A98-325546E6318B}" dt="2025-10-06T10:18:42.956" v="4" actId="2696"/>
        <pc:sldMkLst>
          <pc:docMk/>
          <pc:sldMk cId="1352418762" sldId="314"/>
        </pc:sldMkLst>
      </pc:sldChg>
      <pc:sldChg chg="del">
        <pc:chgData name="Laura Dean (staff)" userId="d8747312-ac52-4b4d-9ae4-1e15c3e0516b" providerId="ADAL" clId="{0A5FCBA3-0436-57F2-9A98-325546E6318B}" dt="2025-10-06T10:18:31.450" v="2" actId="2696"/>
        <pc:sldMkLst>
          <pc:docMk/>
          <pc:sldMk cId="1864223598" sldId="315"/>
        </pc:sldMkLst>
      </pc:sldChg>
      <pc:sldChg chg="del">
        <pc:chgData name="Laura Dean (staff)" userId="d8747312-ac52-4b4d-9ae4-1e15c3e0516b" providerId="ADAL" clId="{0A5FCBA3-0436-57F2-9A98-325546E6318B}" dt="2025-10-06T10:18:33.824" v="3" actId="2696"/>
        <pc:sldMkLst>
          <pc:docMk/>
          <pc:sldMk cId="4241441155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46387-3DE6-A047-9929-F7D6E7284C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4E78C-583C-4D47-AA52-A4329031A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8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8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C2C15-1DEE-902E-6436-518E9054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B1B15-1DCB-99D4-4643-035B451E9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FBCE5-E8CE-A66A-0249-4EA920F24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21E8-BF5F-2B68-6A48-A85E122D2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OpenBSD manual, ssh_config: https://man.openbsd.org/ssh_config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D208-AE4A-0F42-BDED-C499240B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A597D-E001-6F92-5754-3C0947900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11DEC-953C-C7FE-C219-43F42A86D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790CC-E998-EF95-D95B-7CD7945A5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27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87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8F4B-6B3D-4270-9104-35D06858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84510-3221-1D59-E83D-081C11B54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EB50D-C832-EFDB-7C63-621977FDB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E8A35-99E1-14BF-9798-F5988D7F8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44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86CF-1653-FC9A-3A48-652579F0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9FE25-E975-E0D6-1C05-BA7972DDC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BDADB-C594-9A93-3835-0516A18B0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6DCB9-5E2A-8D52-85E8-211702F84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96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5AFA-C0D7-DFE1-0429-9574B504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B16A2-7364-365D-A365-5DD52C8FB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891FA-FDBA-80F1-D231-E4AEE6860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60742-4D53-AA85-AAAD-0AC47C247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88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ACF4-B5DE-D01B-266E-830CA0FBD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2F4B4-3F11-0227-9D0A-119B278C3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17547-931E-5343-9741-A5F7961D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CA489-0C2C-28D8-2CC0-637B8C5F6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58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A7FE-1195-4249-B2A7-9BC98866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68B6F-81AC-490D-D726-7A875C094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62FA5-15D6-D887-AD9C-81B9A5370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E7F3D-897E-647D-F603-93EE4C408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62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A293-BBF6-77E9-FD8B-DECE02E3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4236A-C67B-5113-0DEE-975DF1728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E8265-8880-E1D0-B97B-CD7D6662A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6F12B-1F27-60E4-B93F-2ADB76B38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65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148F5-579A-349A-15CE-9CFE9CC0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488C1-2421-E3B3-9106-568E99EBB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BDEFD-327A-9707-15EF-29866AB8B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2E452-7F2D-0E8B-066F-6FF57B617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9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EC0A9-E35C-01F7-10C5-B3870924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77725-C1C9-5930-7E3A-3E2C3F161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CB5B8-78E0-9FC4-1DF7-C349B5146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2FC36-F6E2-BA98-3511-8D30EA148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29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F3BF-88F9-A436-4CD7-035A6339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7D1BC-51CA-45E2-27DE-5A16E92C2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05D3E-358B-9486-0C01-542F39AC8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DFFA8-E7EE-0101-C594-5DE8C8AAA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720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B377-FC79-C492-E6F4-7C0C8711E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7F699-C8F4-049F-7041-5C0015C28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35543-5F6F-9013-8E7D-2405C4022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72469-D4BF-6ED5-1C50-48629BA3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61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0CC2-6E0C-B512-BA3E-3B32110D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8F5BA-1F0B-48E4-BF67-BD1743FF9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FEA07-CF86-177C-0EE8-4A96DD59C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08F13-DF68-6FA1-81D8-DDEB37E55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51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8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088E-C312-65C7-A4F1-9D0E5737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023D1-6675-7E38-A6C4-765950551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68206-2185-B2BD-7B57-F24F144D8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6D0E9-4B6F-305A-C4B1-6B9353503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69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A27B-AB41-A4CC-F20C-1EB878C0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979F-D176-754F-F5FE-5E9CC14E8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E8DED-34B6-0220-10AE-8B595A7A2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5A075-B1D3-006C-D77F-8BBD018CC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69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A2D7-0C53-96F9-AF2F-89AE5C90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2E606-E0C8-F26B-B7F1-983E950C4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40667-0449-2643-9DC5-AF60D1552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E674-1134-3B27-0DD8-A083CE095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111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Defq</a:t>
            </a:r>
            <a:r>
              <a:rPr lang="en-US" dirty="0"/>
              <a:t> is the one for accessing normal HPC nodes. This is probably the main queue you will want to use</a:t>
            </a:r>
          </a:p>
          <a:p>
            <a:r>
              <a:rPr lang="en-US" dirty="0"/>
              <a:t>If you need to run jobs with more than 361 GB memory e.g. genome assemblies you would use </a:t>
            </a:r>
            <a:r>
              <a:rPr lang="en-US" dirty="0" err="1"/>
              <a:t>hmemq</a:t>
            </a:r>
            <a:endParaRPr lang="en-US" dirty="0"/>
          </a:p>
          <a:p>
            <a:r>
              <a:rPr lang="en-US" dirty="0"/>
              <a:t>If you want access to GPU nodes use ampere</a:t>
            </a:r>
          </a:p>
          <a:p>
            <a:endParaRPr lang="en-US" dirty="0"/>
          </a:p>
          <a:p>
            <a:r>
              <a:rPr lang="en-US" dirty="0"/>
              <a:t>GPU – graphics processing Unit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2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list all available software use module avail</a:t>
            </a:r>
          </a:p>
          <a:p>
            <a:r>
              <a:rPr lang="en-US" dirty="0"/>
              <a:t>S by a module means the module is sticky and requires the –force flag to unload (you shouldn’t need to mess with these!</a:t>
            </a:r>
          </a:p>
          <a:p>
            <a:r>
              <a:rPr lang="en-US" dirty="0"/>
              <a:t>L by a module means the module is currently loaded</a:t>
            </a:r>
          </a:p>
          <a:p>
            <a:r>
              <a:rPr lang="en-US" dirty="0"/>
              <a:t>D by a module means this is the default version of the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32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search for a specific software use module avail </a:t>
            </a:r>
            <a:r>
              <a:rPr lang="en-US" dirty="0" err="1"/>
              <a:t>software_name</a:t>
            </a:r>
            <a:endParaRPr lang="en-US" dirty="0"/>
          </a:p>
          <a:p>
            <a:r>
              <a:rPr lang="en-US" dirty="0"/>
              <a:t>To load modules use module load </a:t>
            </a:r>
            <a:r>
              <a:rPr lang="en-US" dirty="0" err="1"/>
              <a:t>module_name</a:t>
            </a:r>
            <a:endParaRPr lang="en-US" dirty="0"/>
          </a:p>
          <a:p>
            <a:r>
              <a:rPr lang="en-US" dirty="0"/>
              <a:t>To unload use module unload </a:t>
            </a:r>
            <a:r>
              <a:rPr lang="en-US" dirty="0" err="1"/>
              <a:t>module_name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007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11B63-26FF-64BF-93BA-278CB4A7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7D2BA-A3C4-2439-A72B-376D73DE1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29562-74C1-F743-F94D-3A4749971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search for a specific software use module avail </a:t>
            </a:r>
            <a:r>
              <a:rPr lang="en-US" dirty="0" err="1"/>
              <a:t>software_name</a:t>
            </a:r>
            <a:endParaRPr lang="en-US" dirty="0"/>
          </a:p>
          <a:p>
            <a:r>
              <a:rPr lang="en-US" dirty="0"/>
              <a:t>To load modules use module load </a:t>
            </a:r>
            <a:r>
              <a:rPr lang="en-US" dirty="0" err="1"/>
              <a:t>module_name</a:t>
            </a:r>
            <a:endParaRPr lang="en-US" dirty="0"/>
          </a:p>
          <a:p>
            <a:r>
              <a:rPr lang="en-US" dirty="0"/>
              <a:t>To unload use module unload </a:t>
            </a:r>
            <a:r>
              <a:rPr lang="en-US" dirty="0" err="1"/>
              <a:t>module_name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93035-15E7-D88E-D254-3128909FF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81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EF24-837A-8E05-75A3-2591836BE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46E75-F7A6-2FA6-C138-30906833D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34212-5102-213D-2248-34EE35F15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search for a specific software use module avail </a:t>
            </a:r>
            <a:r>
              <a:rPr lang="en-US" dirty="0" err="1"/>
              <a:t>software_name</a:t>
            </a:r>
            <a:endParaRPr lang="en-US" dirty="0"/>
          </a:p>
          <a:p>
            <a:r>
              <a:rPr lang="en-US" dirty="0"/>
              <a:t>To load modules use module load </a:t>
            </a:r>
            <a:r>
              <a:rPr lang="en-US" dirty="0" err="1"/>
              <a:t>module_name</a:t>
            </a:r>
            <a:endParaRPr lang="en-US" dirty="0"/>
          </a:p>
          <a:p>
            <a:r>
              <a:rPr lang="en-US" dirty="0"/>
              <a:t>To unload use module unload </a:t>
            </a:r>
            <a:r>
              <a:rPr lang="en-US" dirty="0" err="1"/>
              <a:t>module_name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102B-78DD-6795-09FC-AD46D3DC0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918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8210-ED88-1960-2912-02C4440A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FE5D6-FE26-6930-E2A7-497DAB12B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59262-7003-B66B-2869-7D3C43E0B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search for a specific software use module avail </a:t>
            </a:r>
            <a:r>
              <a:rPr lang="en-US" dirty="0" err="1"/>
              <a:t>software_name</a:t>
            </a:r>
            <a:endParaRPr lang="en-US" dirty="0"/>
          </a:p>
          <a:p>
            <a:r>
              <a:rPr lang="en-US" dirty="0"/>
              <a:t>To load modules use module load </a:t>
            </a:r>
            <a:r>
              <a:rPr lang="en-US" dirty="0" err="1"/>
              <a:t>module_name</a:t>
            </a:r>
            <a:endParaRPr lang="en-US" dirty="0"/>
          </a:p>
          <a:p>
            <a:r>
              <a:rPr lang="en-US" dirty="0"/>
              <a:t>To unload use module unload </a:t>
            </a:r>
            <a:r>
              <a:rPr lang="en-US" dirty="0" err="1"/>
              <a:t>module_name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111AD-94FC-7125-2667-0E0468DE3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036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206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8632-9072-3AEA-49FB-5AE04091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28928-1BF0-7048-A5E5-25E3BB83A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28FB4-5195-5C6D-69ED-826047200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AA3CC-1C71-EC00-EDEC-F6F22713E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150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567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495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60B9-ADE1-78D3-1B31-7F7E52DF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3CF70-E318-E5FD-0CD4-E301D7DD2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E5306-4080-B393-6A4A-A87F6DADD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7EC68-9003-3698-128A-A6E139E79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44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AECD-A2AC-DEAB-91C5-D69EE11C0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78D54-299C-B412-2A8B-A41BCC2BD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FF191-2CE6-5C5C-6DD3-144BAD36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26273-CB16-CF10-F503-281850F4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249D0-88F6-AE7B-D7DE-BE06A176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7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95D-23C4-06C8-AB04-71C8FB28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B848-88F1-1F3E-3AB4-B7040D5D4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55A80-F341-2E26-42AE-E095F953C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B296D-616F-742F-331B-21614EB9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13264-C77A-ED26-745C-C3735471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1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ABD7-9115-B75F-00F1-35E01709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F09A4-4706-01A4-7074-95020B3AA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9EF77-3033-12D9-BF38-1CEED44F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E430F-C971-69FD-8D96-3221B8F7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E638D-F775-73A7-0334-B17FB233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E090-35EE-0D4C-04B6-BB486BE4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FC36C-E8EC-9291-41B1-457D1CEBE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3949F-C4F6-3A02-30F8-4EA23C2AC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FA1E0-7556-9E97-A357-62B9656E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A1A7A-7C3B-42BA-BD92-C66DE624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81D59-5D10-F3D1-FF1E-E6F7CC86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9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A4CC-2B8E-6D53-1DC7-896FC6E8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04FDA-E44A-E66A-B6F6-16BDC2D7A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59909-67CF-EC8D-D725-B83B9C0BC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20D1E-9B8B-81AF-250B-7653FC188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70157-F711-9299-13EC-EB4C90879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AF8C0-1E62-DD94-12AC-F906BFCF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7A9FD-C17B-AEB7-D956-ABB78CFD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730E1-DE07-FB58-256C-F9B04575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CB63-76E1-CFA1-9E45-F0D28A22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5850F-C6E1-4223-01EF-8775433E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4CE44-4DCD-8C89-00D7-6183708A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5B4EC-B851-F49B-09FD-064B056D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9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DF56E-3F46-68F4-1C57-B361B32C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75FE3-A412-0DD5-80E8-7BF43D6F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E7E60-442A-2CB0-1585-BDF12DB7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0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1B8E-A787-7B00-9F0E-B0CF0954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C416D-A36C-3D33-4C3F-4A5D6BBE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E9A10-4373-8881-3085-D9E08FC5E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4430B-26D9-406D-F767-DA04B777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6F6B-847E-A764-3F06-0CCBAF88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212BA-0190-B6C3-4479-2E647F5A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6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482C-695D-5D24-94B4-04118BF9A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837C8-09C0-DFAA-6129-2521DD618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C31D6-3F83-3B95-0B4A-711395487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89105-B0A8-B232-4812-6A2F3791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253A9-634B-8CFC-48EE-B8E7CE79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91E9F-7EA8-9E33-255D-22F05707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8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71E0-23E9-2403-B44F-D1F109F3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BEBE8-67D7-2E05-59D6-5B27D1C78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B6D40-18A6-C4DF-E87B-622C7D5B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DDCB-EA9C-C2CC-36DF-6D9AB86C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CDE68-EA71-C84A-C6AD-442F6969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7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B3A63-E8FF-FC00-8284-FFF987A4B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52D9A-4FF0-9533-DF96-D5ACB22A4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C78FB-139D-2898-BADC-C34A26BF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FB923-F66E-B673-008B-7CEF2482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385B6-F7EE-9D16-A536-778A15F62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6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9CC49-6420-F582-3CC2-58819869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21738-29B5-3736-4657-F180D9FCC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CF777-0034-B940-FE37-1FCA28592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B061E-8F2F-D342-BB88-8B219BD1F6BB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1D2EE-B5C8-5738-9BBE-0618B41975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07C40-8495-88D9-FEBC-F4CF28719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5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pcondemand01.ada.nottingham.ac.uk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ottingham.ac.uk/dts/help/self-service-portal/self-service-portal.aspx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hpcondemand02.ada.nottingham.ac.uk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ofnottm.sharepoint.com/sites/DigitalResearch/SitePages/Ada-Commands-Partitions-and-Resources.aspx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ottingham.ac.uk/dts/help/self-service-portal/self-service-portal.aspx" TargetMode="External"/><Relationship Id="rId5" Type="http://schemas.openxmlformats.org/officeDocument/2006/relationships/hyperlink" Target="mailto:laura.dean@nottingham.ac.uk" TargetMode="External"/><Relationship Id="rId4" Type="http://schemas.openxmlformats.org/officeDocument/2006/relationships/hyperlink" Target="https://uniofnottm.sharepoint.com/sites/DigitalResearch/SitePages/Ada-Compute-software.aspx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Ada Lovelace">
            <a:extLst>
              <a:ext uri="{FF2B5EF4-FFF2-40B4-BE49-F238E27FC236}">
                <a16:creationId xmlns:a16="http://schemas.microsoft.com/office/drawing/2014/main" id="{C0E446BF-EC68-B7C9-80C2-E92547646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r="26646" b="8309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How to use the UoN HPC “Ada”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ADD31-250A-669C-CA6F-536A910C5B4C}"/>
              </a:ext>
            </a:extLst>
          </p:cNvPr>
          <p:cNvSpPr txBox="1"/>
          <p:nvPr/>
        </p:nvSpPr>
        <p:spPr>
          <a:xfrm>
            <a:off x="477981" y="5026456"/>
            <a:ext cx="3045507" cy="721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200">
                <a:solidFill>
                  <a:schemeClr val="bg1"/>
                </a:solidFill>
              </a:rPr>
              <a:t>LIFE4138</a:t>
            </a: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02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E3B7-9420-C6EC-E715-63091610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C88C-FFC5-B020-42A3-661BBE007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02081"/>
            <a:ext cx="9144000" cy="557441"/>
          </a:xfrm>
        </p:spPr>
        <p:txBody>
          <a:bodyPr>
            <a:noAutofit/>
          </a:bodyPr>
          <a:lstStyle/>
          <a:p>
            <a:r>
              <a:rPr lang="en-US" sz="3600" dirty="0"/>
              <a:t>Learning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9853A-E964-7B9A-D5BC-B3B7075AC096}"/>
              </a:ext>
            </a:extLst>
          </p:cNvPr>
          <p:cNvSpPr txBox="1"/>
          <p:nvPr/>
        </p:nvSpPr>
        <p:spPr>
          <a:xfrm>
            <a:off x="1224342" y="1739196"/>
            <a:ext cx="10147077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Setup your ssh config file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write a job submission script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submit and manage a job using basic </a:t>
            </a:r>
            <a:r>
              <a:rPr lang="en-US" sz="2400" dirty="0" err="1"/>
              <a:t>slurm</a:t>
            </a:r>
            <a:r>
              <a:rPr lang="en-US" sz="2400" dirty="0"/>
              <a:t> commands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access software on the HPC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copy files between the HPC and your local machine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where to go for further support</a:t>
            </a:r>
          </a:p>
        </p:txBody>
      </p:sp>
    </p:spTree>
    <p:extLst>
      <p:ext uri="{BB962C8B-B14F-4D97-AF65-F5344CB8AC3E}">
        <p14:creationId xmlns:p14="http://schemas.microsoft.com/office/powerpoint/2010/main" val="183943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/>
          </p:cNvPicPr>
          <p:nvPr/>
        </p:nvPicPr>
        <p:blipFill rotWithShape="1">
          <a:blip r:embed="rId3"/>
          <a:srcRect t="31260" b="32326"/>
          <a:stretch>
            <a:fillRect/>
          </a:stretch>
        </p:blipFill>
        <p:spPr>
          <a:xfrm>
            <a:off x="2257882" y="5314904"/>
            <a:ext cx="2540000" cy="924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4A9012-BE9D-978E-C7B0-FB80B7173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15" y="140614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ssh config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42EBC-B494-B317-451B-26A2D0C611A8}"/>
              </a:ext>
            </a:extLst>
          </p:cNvPr>
          <p:cNvSpPr>
            <a:spLocks noGrp="1"/>
          </p:cNvSpPr>
          <p:nvPr/>
        </p:nvSpPr>
        <p:spPr>
          <a:xfrm>
            <a:off x="420414" y="1313264"/>
            <a:ext cx="6801257" cy="3741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 dirty="0"/>
              <a:t>An ssh config file specifies information about the different hosts you connect to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 dirty="0"/>
              <a:t>The config file is located here: ~/.ssh/config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 dirty="0"/>
              <a:t>It allows you to login without having to remember the domain name or </a:t>
            </a:r>
            <a:r>
              <a:rPr sz="2000" dirty="0" err="1"/>
              <a:t>ip</a:t>
            </a:r>
            <a:r>
              <a:rPr sz="2000" dirty="0"/>
              <a:t> address of each machine you want to ssh into.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 dirty="0"/>
              <a:t>Makes life much easier</a:t>
            </a:r>
            <a:r>
              <a:rPr lang="en-GB" sz="2000" dirty="0"/>
              <a:t>, especially</a:t>
            </a:r>
            <a:r>
              <a:rPr sz="2000" dirty="0"/>
              <a:t> if you regularly use multiple HPCs</a:t>
            </a:r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246" y="1116399"/>
            <a:ext cx="4516377" cy="5230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F698C0-A4DA-5B11-A7C5-E43A2E7CD639}"/>
              </a:ext>
            </a:extLst>
          </p:cNvPr>
          <p:cNvSpPr>
            <a:spLocks noGrp="1"/>
          </p:cNvSpPr>
          <p:nvPr/>
        </p:nvSpPr>
        <p:spPr>
          <a:xfrm>
            <a:off x="7477246" y="698055"/>
            <a:ext cx="1367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42727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4708-2303-9C7F-244D-58CFB7440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15" y="140614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Setting up a config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229F2-331F-884B-93C5-DD4CECD1D7F9}"/>
              </a:ext>
            </a:extLst>
          </p:cNvPr>
          <p:cNvSpPr>
            <a:spLocks noGrp="1"/>
          </p:cNvSpPr>
          <p:nvPr/>
        </p:nvSpPr>
        <p:spPr>
          <a:xfrm>
            <a:off x="1323915" y="3569365"/>
            <a:ext cx="6581166" cy="18851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dirty="0">
                <a:latin typeface="Monaco"/>
                <a:ea typeface="Monaco"/>
                <a:cs typeface="Monaco"/>
              </a:rPr>
              <a:t>Host </a:t>
            </a:r>
            <a:r>
              <a:rPr sz="2000" dirty="0" err="1">
                <a:latin typeface="Monaco"/>
                <a:ea typeface="Monaco"/>
                <a:cs typeface="Monaco"/>
              </a:rPr>
              <a:t>ada</a:t>
            </a:r>
            <a:endParaRPr sz="2000" dirty="0">
              <a:latin typeface="Monaco"/>
              <a:ea typeface="Monaco"/>
              <a:cs typeface="Monaco"/>
            </a:endParaRPr>
          </a:p>
          <a:p>
            <a:pPr>
              <a:lnSpc>
                <a:spcPct val="150000"/>
              </a:lnSpc>
              <a:buNone/>
            </a:pPr>
            <a:r>
              <a:rPr sz="2000" dirty="0">
                <a:latin typeface="Monaco"/>
                <a:ea typeface="Monaco"/>
                <a:cs typeface="Monaco"/>
              </a:rPr>
              <a:t> Hostname hpclogin02.ada.nottingham.ac.uk</a:t>
            </a:r>
          </a:p>
          <a:p>
            <a:pPr>
              <a:lnSpc>
                <a:spcPct val="150000"/>
              </a:lnSpc>
              <a:buNone/>
            </a:pPr>
            <a:r>
              <a:rPr sz="2000" dirty="0">
                <a:latin typeface="Monaco"/>
                <a:ea typeface="Monaco"/>
                <a:cs typeface="Monaco"/>
              </a:rPr>
              <a:t> User </a:t>
            </a:r>
            <a:r>
              <a:rPr sz="2000" dirty="0">
                <a:solidFill>
                  <a:schemeClr val="accent3"/>
                </a:solidFill>
                <a:latin typeface="Monaco"/>
                <a:ea typeface="Monaco"/>
                <a:cs typeface="Monaco"/>
              </a:rPr>
              <a:t>username</a:t>
            </a:r>
          </a:p>
          <a:p>
            <a:pPr>
              <a:lnSpc>
                <a:spcPct val="150000"/>
              </a:lnSpc>
              <a:buNone/>
            </a:pPr>
            <a:endParaRPr sz="2000" dirty="0">
              <a:latin typeface="Monaco"/>
              <a:ea typeface="Monaco"/>
              <a:cs typeface="Monac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75CEE-9B2D-DE75-C8ED-E997E119F0DC}"/>
              </a:ext>
            </a:extLst>
          </p:cNvPr>
          <p:cNvSpPr>
            <a:spLocks noGrp="1"/>
          </p:cNvSpPr>
          <p:nvPr/>
        </p:nvSpPr>
        <p:spPr>
          <a:xfrm>
            <a:off x="861848" y="725063"/>
            <a:ext cx="10731062" cy="14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 dirty="0"/>
              <a:t>We will create a config file together… use nano or vim or whatever text editor you prefer!</a:t>
            </a:r>
            <a:br>
              <a:rPr dirty="0"/>
            </a:br>
            <a:r>
              <a:rPr sz="2000" dirty="0"/>
              <a:t>E.g. type     </a:t>
            </a:r>
            <a:r>
              <a:rPr sz="2000" dirty="0">
                <a:highlight>
                  <a:srgbClr val="FF7565"/>
                </a:highlight>
                <a:latin typeface="Monaco"/>
                <a:ea typeface="Monaco"/>
                <a:cs typeface="Monaco"/>
              </a:rPr>
              <a:t>nano ~/.ssh/config</a:t>
            </a:r>
            <a:r>
              <a:rPr sz="2000" dirty="0">
                <a:latin typeface="Monaco"/>
                <a:ea typeface="Monaco"/>
                <a:cs typeface="Monaco"/>
              </a:rPr>
              <a:t>   </a:t>
            </a:r>
            <a:r>
              <a:rPr sz="2000" dirty="0"/>
              <a:t>OR      </a:t>
            </a:r>
            <a:r>
              <a:rPr sz="2000" dirty="0">
                <a:highlight>
                  <a:srgbClr val="FF7565"/>
                </a:highlight>
                <a:latin typeface="Monaco"/>
                <a:ea typeface="Monaco"/>
                <a:cs typeface="Monaco"/>
              </a:rPr>
              <a:t>vim ~/.ssh/config</a:t>
            </a:r>
            <a:r>
              <a:rPr sz="2000" dirty="0">
                <a:latin typeface="Monaco"/>
                <a:ea typeface="Monaco"/>
                <a:cs typeface="Monaco"/>
              </a:rPr>
              <a:t> </a:t>
            </a:r>
            <a:r>
              <a:rPr sz="2000" dirty="0"/>
              <a:t> into your terminal to create the file, type the text from the example below then save.</a:t>
            </a:r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43558" y="3288636"/>
            <a:ext cx="2540000" cy="254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CE8C22-9707-737C-6962-495BD2DE9DD3}"/>
              </a:ext>
            </a:extLst>
          </p:cNvPr>
          <p:cNvSpPr>
            <a:spLocks noGrp="1"/>
          </p:cNvSpPr>
          <p:nvPr/>
        </p:nvSpPr>
        <p:spPr>
          <a:xfrm>
            <a:off x="861848" y="5920934"/>
            <a:ext cx="10106484" cy="507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 dirty="0"/>
              <a:t>After you have created your config file try logging in using the command:     </a:t>
            </a:r>
            <a:r>
              <a:rPr sz="2000" dirty="0">
                <a:highlight>
                  <a:srgbClr val="FF7565"/>
                </a:highlight>
                <a:latin typeface="Monaco"/>
                <a:ea typeface="Monaco"/>
                <a:cs typeface="Monaco"/>
              </a:rPr>
              <a:t>ssh </a:t>
            </a:r>
            <a:r>
              <a:rPr sz="2000" dirty="0" err="1">
                <a:highlight>
                  <a:srgbClr val="FF7565"/>
                </a:highlight>
                <a:latin typeface="Monaco"/>
                <a:ea typeface="Monaco"/>
                <a:cs typeface="Monaco"/>
              </a:rPr>
              <a:t>ada</a:t>
            </a:r>
            <a:endParaRPr sz="2000" dirty="0">
              <a:highlight>
                <a:srgbClr val="FF7565"/>
              </a:highlight>
              <a:latin typeface="Monaco"/>
              <a:ea typeface="Monaco"/>
              <a:cs typeface="Monac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9767E-C7FA-E2C7-7FB0-7BBE76942EAD}"/>
              </a:ext>
            </a:extLst>
          </p:cNvPr>
          <p:cNvSpPr>
            <a:spLocks noGrp="1"/>
          </p:cNvSpPr>
          <p:nvPr/>
        </p:nvSpPr>
        <p:spPr>
          <a:xfrm>
            <a:off x="1210916" y="2642305"/>
            <a:ext cx="9256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Example config file: replace ‘username’ with your University username</a:t>
            </a:r>
            <a:r>
              <a:rPr lang="en-GB" sz="2000" dirty="0"/>
              <a:t>, spaces and indentation </a:t>
            </a:r>
            <a:r>
              <a:rPr sz="2000" dirty="0"/>
              <a:t>must be exact</a:t>
            </a:r>
            <a:r>
              <a:rPr lang="en-GB" sz="2000" dirty="0"/>
              <a:t>!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473419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014D9-B810-6869-75D7-3CC3E05D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nderstanding Azure HPC | InfoWorld">
            <a:extLst>
              <a:ext uri="{FF2B5EF4-FFF2-40B4-BE49-F238E27FC236}">
                <a16:creationId xmlns:a16="http://schemas.microsoft.com/office/drawing/2014/main" id="{40EB3F60-8343-9423-BD32-6FD20C0E94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45" r="8682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89162-11F1-482C-2607-04CC66871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769" y="970040"/>
            <a:ext cx="4992624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dirty="0"/>
              <a:t>How to use Ada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2794D-40B8-C931-64A0-722898F4304C}"/>
              </a:ext>
            </a:extLst>
          </p:cNvPr>
          <p:cNvSpPr txBox="1"/>
          <p:nvPr/>
        </p:nvSpPr>
        <p:spPr>
          <a:xfrm>
            <a:off x="374904" y="2522949"/>
            <a:ext cx="4802738" cy="340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login to a login node using your ssh command</a:t>
            </a:r>
          </a:p>
          <a:p>
            <a:pPr marL="285750" indent="-228600">
              <a:lnSpc>
                <a:spcPct val="9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Write job submission scripts &amp; save them on Ada</a:t>
            </a:r>
          </a:p>
          <a:p>
            <a:pPr marL="285750" indent="-228600">
              <a:lnSpc>
                <a:spcPct val="9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Submit jobs to compute nodes using the </a:t>
            </a:r>
            <a:r>
              <a:rPr lang="en-US" sz="2000" dirty="0" err="1"/>
              <a:t>slurm</a:t>
            </a:r>
            <a:r>
              <a:rPr lang="en-US" sz="2000" dirty="0"/>
              <a:t> scheduler</a:t>
            </a:r>
          </a:p>
          <a:p>
            <a:pPr marL="285750" indent="-228600">
              <a:lnSpc>
                <a:spcPct val="9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Interpret output once jobs complete</a:t>
            </a:r>
          </a:p>
        </p:txBody>
      </p:sp>
    </p:spTree>
    <p:extLst>
      <p:ext uri="{BB962C8B-B14F-4D97-AF65-F5344CB8AC3E}">
        <p14:creationId xmlns:p14="http://schemas.microsoft.com/office/powerpoint/2010/main" val="412246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5829" y="2208810"/>
            <a:ext cx="4085111" cy="2173184"/>
          </a:xfrm>
        </p:spPr>
        <p:txBody>
          <a:bodyPr>
            <a:noAutofit/>
          </a:bodyPr>
          <a:lstStyle/>
          <a:p>
            <a:r>
              <a:rPr lang="en-US" sz="2400" dirty="0"/>
              <a:t>provides information to the </a:t>
            </a:r>
            <a:r>
              <a:rPr lang="en-US" sz="2400" dirty="0" err="1"/>
              <a:t>slurm</a:t>
            </a:r>
            <a:r>
              <a:rPr lang="en-US" sz="2400" dirty="0"/>
              <a:t> scheduler about the job you are requesting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The scheduler cannot run your job without this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1C4CC-3309-AF1D-FFCB-8D0567E82DCD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2BE00-D10E-F0FB-8A9B-7457B7489375}"/>
              </a:ext>
            </a:extLst>
          </p:cNvPr>
          <p:cNvSpPr txBox="1"/>
          <p:nvPr/>
        </p:nvSpPr>
        <p:spPr>
          <a:xfrm>
            <a:off x="2609603" y="219681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Job submission / </a:t>
            </a:r>
            <a:r>
              <a:rPr lang="en-US" sz="2800" b="1" dirty="0" err="1"/>
              <a:t>slurm</a:t>
            </a:r>
            <a:r>
              <a:rPr lang="en-US" sz="2800" b="1" dirty="0"/>
              <a:t> script 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3A07E-1319-F737-D847-8A0E9F58B725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3A332-2C21-19FF-BA3D-B1397F59E896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3823243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BFB4-82C8-5A1E-0DFA-CC5067A1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4E33-D003-F2B7-B0A0-016564359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Job submission 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E63E9-E862-7669-581C-9EF3CCA26A39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A71880-5C03-E756-7A19-49B330D7D3C7}"/>
              </a:ext>
            </a:extLst>
          </p:cNvPr>
          <p:cNvSpPr/>
          <p:nvPr/>
        </p:nvSpPr>
        <p:spPr>
          <a:xfrm>
            <a:off x="463136" y="1343889"/>
            <a:ext cx="6504183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F04BE-05B5-5CFA-3935-32183FC7D0C4}"/>
              </a:ext>
            </a:extLst>
          </p:cNvPr>
          <p:cNvSpPr txBox="1"/>
          <p:nvPr/>
        </p:nvSpPr>
        <p:spPr>
          <a:xfrm>
            <a:off x="7561375" y="1898073"/>
            <a:ext cx="39576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#!/bin/bash</a:t>
            </a:r>
          </a:p>
          <a:p>
            <a:endParaRPr lang="en-US" sz="2000" dirty="0"/>
          </a:p>
          <a:p>
            <a:r>
              <a:rPr lang="en-US" sz="2000" dirty="0"/>
              <a:t>The shebang – tells the operating system which interpreter to use to when executing the script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E7285-02F4-C69F-C0EA-989E1E5D8885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5B0966-02D5-3CB6-BB7D-CF7A22D498F5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184242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F39D1-D34F-9198-B459-381EADC9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1-5154-F3FE-94EF-76D50B71E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Job submission 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6FEFC-6D0A-5889-697A-D13E50F4B776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331B83-D5BD-E8A2-9FCB-9F9338551205}"/>
              </a:ext>
            </a:extLst>
          </p:cNvPr>
          <p:cNvSpPr/>
          <p:nvPr/>
        </p:nvSpPr>
        <p:spPr>
          <a:xfrm>
            <a:off x="463137" y="1898073"/>
            <a:ext cx="6504183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49C8E-C567-62C2-B910-76D1175BCF30}"/>
              </a:ext>
            </a:extLst>
          </p:cNvPr>
          <p:cNvSpPr txBox="1"/>
          <p:nvPr/>
        </p:nvSpPr>
        <p:spPr>
          <a:xfrm>
            <a:off x="7561376" y="1898073"/>
            <a:ext cx="39339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--partition= </a:t>
            </a:r>
          </a:p>
          <a:p>
            <a:endParaRPr lang="en-US" sz="2000" dirty="0"/>
          </a:p>
          <a:p>
            <a:r>
              <a:rPr lang="en-US" sz="2000" dirty="0"/>
              <a:t>Select the type of compute node you want to use</a:t>
            </a:r>
          </a:p>
          <a:p>
            <a:endParaRPr lang="en-US" sz="2000" dirty="0"/>
          </a:p>
          <a:p>
            <a:r>
              <a:rPr lang="en-US" sz="2000" dirty="0"/>
              <a:t>(we will talk about the different partitions that are available to you later)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3C321-E2B9-80F1-E579-4BA09F56E689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9EA12C-47F8-6619-30D5-A8C6AEE50740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328925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9056-F955-46E2-27A3-33A9140E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CF9712-0DDE-EDF7-3BE9-A8B355180D4B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ABF0EA-8ADF-3F35-8682-E094E7B842F8}"/>
              </a:ext>
            </a:extLst>
          </p:cNvPr>
          <p:cNvSpPr/>
          <p:nvPr/>
        </p:nvSpPr>
        <p:spPr>
          <a:xfrm>
            <a:off x="463137" y="2192990"/>
            <a:ext cx="6504183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B5FF7-CAEA-C2D7-9A4A-879D8E552B15}"/>
              </a:ext>
            </a:extLst>
          </p:cNvPr>
          <p:cNvSpPr txBox="1"/>
          <p:nvPr/>
        </p:nvSpPr>
        <p:spPr>
          <a:xfrm>
            <a:off x="7561375" y="1898073"/>
            <a:ext cx="38508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--</a:t>
            </a:r>
            <a:r>
              <a:rPr lang="en-US" sz="2000" dirty="0" err="1"/>
              <a:t>cpus</a:t>
            </a:r>
            <a:r>
              <a:rPr lang="en-US" sz="2000" dirty="0"/>
              <a:t>-per-task= </a:t>
            </a:r>
          </a:p>
          <a:p>
            <a:endParaRPr lang="en-US" sz="2000" dirty="0"/>
          </a:p>
          <a:p>
            <a:r>
              <a:rPr lang="en-US" sz="2000" dirty="0"/>
              <a:t>Select how many cores you want your job to use. This is where you can </a:t>
            </a:r>
            <a:r>
              <a:rPr lang="en-US" sz="2000" b="1" u="sng" dirty="0"/>
              <a:t>sometimes</a:t>
            </a:r>
            <a:r>
              <a:rPr lang="en-US" sz="2000" dirty="0"/>
              <a:t> make a lot of things much faster by requesting more cores.</a:t>
            </a:r>
          </a:p>
          <a:p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48E729-66D0-B5EF-8712-78F84DB3A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Job submission script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356D6-0223-5651-4800-D4F7FECB1567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36AFC4-F907-AA4F-3D56-EE220866C6D2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162940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66F0-4ECE-0789-2635-7C7ADF160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3578AF-7654-D48C-DCFD-90B52913F657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FD2D7-5667-505D-C4BA-737FF675C390}"/>
              </a:ext>
            </a:extLst>
          </p:cNvPr>
          <p:cNvSpPr/>
          <p:nvPr/>
        </p:nvSpPr>
        <p:spPr>
          <a:xfrm>
            <a:off x="463136" y="2448306"/>
            <a:ext cx="6504183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E9816-3222-C0D4-9C9D-4C5EA87519A0}"/>
              </a:ext>
            </a:extLst>
          </p:cNvPr>
          <p:cNvSpPr txBox="1"/>
          <p:nvPr/>
        </p:nvSpPr>
        <p:spPr>
          <a:xfrm>
            <a:off x="7608877" y="1624181"/>
            <a:ext cx="36053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--mem= </a:t>
            </a:r>
          </a:p>
          <a:p>
            <a:endParaRPr lang="en-US" sz="2000" dirty="0"/>
          </a:p>
          <a:p>
            <a:r>
              <a:rPr lang="en-US" sz="2000" dirty="0"/>
              <a:t>Select how much RAM to allocate to your job.</a:t>
            </a:r>
          </a:p>
          <a:p>
            <a:endParaRPr lang="en-US" sz="2000" dirty="0"/>
          </a:p>
          <a:p>
            <a:r>
              <a:rPr lang="en-US" sz="2000" dirty="0"/>
              <a:t>Units:</a:t>
            </a:r>
          </a:p>
          <a:p>
            <a:r>
              <a:rPr lang="en-US" sz="2000" dirty="0"/>
              <a:t>g = </a:t>
            </a:r>
            <a:r>
              <a:rPr lang="en-US" sz="2000" dirty="0" err="1"/>
              <a:t>gb</a:t>
            </a:r>
            <a:r>
              <a:rPr lang="en-US" sz="2000" dirty="0"/>
              <a:t> – gigabytes</a:t>
            </a:r>
          </a:p>
          <a:p>
            <a:r>
              <a:rPr lang="en-US" sz="2000" dirty="0"/>
              <a:t>m = mb – megabytes</a:t>
            </a:r>
          </a:p>
          <a:p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FA435C3-1FA1-5014-6EE1-9365F39096F7}"/>
              </a:ext>
            </a:extLst>
          </p:cNvPr>
          <p:cNvSpPr txBox="1">
            <a:spLocks/>
          </p:cNvSpPr>
          <p:nvPr/>
        </p:nvSpPr>
        <p:spPr>
          <a:xfrm>
            <a:off x="1524000" y="204143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Job submission script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EBC85-EA80-10B5-DECD-D080AEADEF73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6C62C-9571-8397-9B50-66276312F7FD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1414401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8453-0129-2603-25A2-43B5EE27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C7B413-9CD4-7042-69CB-2B6116918A6D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D2A6F-1B45-19A0-B602-E893AB367BF4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6C96E-35CC-FB67-A736-10D3ECB0807E}"/>
              </a:ext>
            </a:extLst>
          </p:cNvPr>
          <p:cNvSpPr/>
          <p:nvPr/>
        </p:nvSpPr>
        <p:spPr>
          <a:xfrm>
            <a:off x="464652" y="2723421"/>
            <a:ext cx="6504183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01D23-FD03-920D-9C97-7CCDC9C52BCA}"/>
              </a:ext>
            </a:extLst>
          </p:cNvPr>
          <p:cNvSpPr txBox="1"/>
          <p:nvPr/>
        </p:nvSpPr>
        <p:spPr>
          <a:xfrm>
            <a:off x="7620753" y="2016826"/>
            <a:ext cx="36053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--time= </a:t>
            </a:r>
          </a:p>
          <a:p>
            <a:endParaRPr lang="en-US" sz="2000" dirty="0"/>
          </a:p>
          <a:p>
            <a:r>
              <a:rPr lang="en-US" sz="2000" dirty="0"/>
              <a:t>Select the maximum amount of time your job can run for.</a:t>
            </a:r>
          </a:p>
          <a:p>
            <a:endParaRPr lang="en-US" sz="2000" dirty="0"/>
          </a:p>
          <a:p>
            <a:r>
              <a:rPr lang="en-US" sz="2000" dirty="0"/>
              <a:t>Units:</a:t>
            </a:r>
          </a:p>
          <a:p>
            <a:r>
              <a:rPr lang="en-US" sz="2000" dirty="0" err="1"/>
              <a:t>hh:mm:ss</a:t>
            </a:r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8F506AB-3920-8161-DEAD-4AB17AA2F026}"/>
              </a:ext>
            </a:extLst>
          </p:cNvPr>
          <p:cNvSpPr txBox="1">
            <a:spLocks/>
          </p:cNvSpPr>
          <p:nvPr/>
        </p:nvSpPr>
        <p:spPr>
          <a:xfrm>
            <a:off x="1524000" y="204143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Job submission script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38350-58D2-2E8F-B88F-B683A609C0F6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1543063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9267-7DCE-C6B2-ADFF-CE4959B0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1ABDC8-76F9-B9CE-CF44-D5DB7A180A3A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C7C2B-F068-3BA8-9A66-38220EEA3CA8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AD5133-628E-398D-F907-F643CDB8F6B7}"/>
              </a:ext>
            </a:extLst>
          </p:cNvPr>
          <p:cNvSpPr/>
          <p:nvPr/>
        </p:nvSpPr>
        <p:spPr>
          <a:xfrm>
            <a:off x="464652" y="2992252"/>
            <a:ext cx="6504183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FE39A-040D-180A-D062-3C911383DA23}"/>
              </a:ext>
            </a:extLst>
          </p:cNvPr>
          <p:cNvSpPr txBox="1"/>
          <p:nvPr/>
        </p:nvSpPr>
        <p:spPr>
          <a:xfrm>
            <a:off x="7561376" y="1898073"/>
            <a:ext cx="3605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--job-name= </a:t>
            </a:r>
          </a:p>
          <a:p>
            <a:endParaRPr lang="en-US" sz="2000" dirty="0"/>
          </a:p>
          <a:p>
            <a:r>
              <a:rPr lang="en-US" sz="2000" dirty="0"/>
              <a:t>Short useful name for you to identify your job (no spaces allowed!)</a:t>
            </a:r>
          </a:p>
          <a:p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FB37AF0-5D60-542E-3B07-C7502AA2E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Job submission script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3D0043-561A-6ABA-CBB4-54451CF7F146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315748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1D219-837B-F03E-20BB-DC380001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6DB1B2-08FD-CBC5-B4BB-CAC952877E4B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99DBF-6B3D-3F0E-CCFB-81535A357312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042BC8-158E-3E68-3EA9-C762C0C238ED}"/>
              </a:ext>
            </a:extLst>
          </p:cNvPr>
          <p:cNvSpPr/>
          <p:nvPr/>
        </p:nvSpPr>
        <p:spPr>
          <a:xfrm>
            <a:off x="464652" y="3259723"/>
            <a:ext cx="6504183" cy="338554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8B520-C31C-A253-D28F-31DEBDF8E3B5}"/>
              </a:ext>
            </a:extLst>
          </p:cNvPr>
          <p:cNvSpPr txBox="1"/>
          <p:nvPr/>
        </p:nvSpPr>
        <p:spPr>
          <a:xfrm>
            <a:off x="7346106" y="1605048"/>
            <a:ext cx="43812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--output= </a:t>
            </a:r>
          </a:p>
          <a:p>
            <a:endParaRPr lang="en-US" dirty="0"/>
          </a:p>
          <a:p>
            <a:r>
              <a:rPr lang="en-US" dirty="0"/>
              <a:t>Name and location of output file (all output that would be printed to the screen if you ran your script directly in the terminal will be stored here)</a:t>
            </a:r>
          </a:p>
          <a:p>
            <a:endParaRPr lang="en-US" dirty="0"/>
          </a:p>
          <a:p>
            <a:r>
              <a:rPr lang="en-US" dirty="0"/>
              <a:t>If you do not specify a separate  error file, errors will also be written to your output file.</a:t>
            </a:r>
          </a:p>
          <a:p>
            <a:endParaRPr lang="en-US" dirty="0"/>
          </a:p>
          <a:p>
            <a:r>
              <a:rPr lang="en-US" dirty="0"/>
              <a:t>%x   =   Job name (taken from --job-name=)</a:t>
            </a:r>
          </a:p>
          <a:p>
            <a:r>
              <a:rPr lang="en-US" dirty="0"/>
              <a:t>%j    =   Job ID (allocated upon submission)</a:t>
            </a:r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54751D0-5059-4C16-689E-542BEC324533}"/>
              </a:ext>
            </a:extLst>
          </p:cNvPr>
          <p:cNvSpPr txBox="1">
            <a:spLocks/>
          </p:cNvSpPr>
          <p:nvPr/>
        </p:nvSpPr>
        <p:spPr>
          <a:xfrm>
            <a:off x="1524000" y="204143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Job submission script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4D9D7-2B4F-D751-4DDB-2B65BEE378BF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2720519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1249-D8AC-FCB8-278A-6F259B0E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0D96E1-54E4-FD49-62E5-FABA0814DA51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B3C48-8CC9-B65D-B738-E1BE6393D897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3D19C3-8E9B-B098-6F05-9B4858E1AD2F}"/>
              </a:ext>
            </a:extLst>
          </p:cNvPr>
          <p:cNvSpPr/>
          <p:nvPr/>
        </p:nvSpPr>
        <p:spPr>
          <a:xfrm>
            <a:off x="463136" y="3564602"/>
            <a:ext cx="6504183" cy="338554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43F75-2C89-A44E-E033-679B0F180B7E}"/>
              </a:ext>
            </a:extLst>
          </p:cNvPr>
          <p:cNvSpPr txBox="1"/>
          <p:nvPr/>
        </p:nvSpPr>
        <p:spPr>
          <a:xfrm>
            <a:off x="7346106" y="1620887"/>
            <a:ext cx="43812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--error= </a:t>
            </a:r>
          </a:p>
          <a:p>
            <a:endParaRPr lang="en-US" dirty="0"/>
          </a:p>
          <a:p>
            <a:r>
              <a:rPr lang="en-US" dirty="0"/>
              <a:t>OPTIONAL: Name and location of error file (any errors that would be printed to the screen if you ran your script directly in the terminal will be stored here)</a:t>
            </a:r>
          </a:p>
          <a:p>
            <a:endParaRPr lang="en-US" dirty="0"/>
          </a:p>
          <a:p>
            <a:r>
              <a:rPr lang="en-US" dirty="0"/>
              <a:t>If you do not specify a separate  error file, errors will be written to your output file.</a:t>
            </a:r>
          </a:p>
          <a:p>
            <a:endParaRPr lang="en-US" dirty="0"/>
          </a:p>
          <a:p>
            <a:r>
              <a:rPr lang="en-US" dirty="0"/>
              <a:t>%x   =   Job name (taken from --job-name=)</a:t>
            </a:r>
          </a:p>
          <a:p>
            <a:r>
              <a:rPr lang="en-US" dirty="0"/>
              <a:t>%j    =   Job ID (allocated upon submission)</a:t>
            </a:r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DC77EED-B9FA-25C8-BE5D-AE1836EA1B0E}"/>
              </a:ext>
            </a:extLst>
          </p:cNvPr>
          <p:cNvSpPr txBox="1">
            <a:spLocks/>
          </p:cNvSpPr>
          <p:nvPr/>
        </p:nvSpPr>
        <p:spPr>
          <a:xfrm>
            <a:off x="1524000" y="204143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Job submission script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4FC10A-0EEC-9453-49DC-0625538F97F8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1305032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3E34-0045-FD89-C4DF-C7714BC8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469466-383E-8D2B-27AD-80A9DE68EE0F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1F4EA-EDEB-7888-C3A3-67C0D6836C07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E605FA-1050-E4FF-46FA-7EE95757F992}"/>
              </a:ext>
            </a:extLst>
          </p:cNvPr>
          <p:cNvSpPr/>
          <p:nvPr/>
        </p:nvSpPr>
        <p:spPr>
          <a:xfrm>
            <a:off x="464652" y="3825831"/>
            <a:ext cx="6504183" cy="651136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198D1-8229-DE54-3EC0-8BB72C448846}"/>
              </a:ext>
            </a:extLst>
          </p:cNvPr>
          <p:cNvSpPr txBox="1"/>
          <p:nvPr/>
        </p:nvSpPr>
        <p:spPr>
          <a:xfrm>
            <a:off x="7346106" y="1897885"/>
            <a:ext cx="43812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--mail-type=ALL</a:t>
            </a:r>
          </a:p>
          <a:p>
            <a:r>
              <a:rPr lang="en-US" dirty="0"/>
              <a:t>--mail-user= </a:t>
            </a:r>
          </a:p>
          <a:p>
            <a:endParaRPr lang="en-US" dirty="0"/>
          </a:p>
          <a:p>
            <a:r>
              <a:rPr lang="en-US" dirty="0"/>
              <a:t>OPTIONAL: receive an email when your job starts running and when it completes.</a:t>
            </a:r>
          </a:p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A53AEC1-DA19-B2CF-37D2-3ECA83C50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Job submission script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B03EA-00F8-FF39-9182-EF0643D9959D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3321215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81F3-264D-D409-54B2-BA42585F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3E6C49-1741-D3C3-D869-74B15CA338C0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 “hello world”  &gt; 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82707-FA82-C7EE-F1F1-8ABF694A3F56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20A21A-295D-76E7-AED4-957E6B318D29}"/>
              </a:ext>
            </a:extLst>
          </p:cNvPr>
          <p:cNvSpPr/>
          <p:nvPr/>
        </p:nvSpPr>
        <p:spPr>
          <a:xfrm>
            <a:off x="464651" y="4642111"/>
            <a:ext cx="6504183" cy="651136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E3B76-127C-1FC0-E2DD-28B16C93DE31}"/>
              </a:ext>
            </a:extLst>
          </p:cNvPr>
          <p:cNvSpPr txBox="1"/>
          <p:nvPr/>
        </p:nvSpPr>
        <p:spPr>
          <a:xfrm>
            <a:off x="7734033" y="2690336"/>
            <a:ext cx="39933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main body of your script – the bit where you write what you want the script to actually do!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980E23-EF2D-8AB8-B63E-745222462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Job submission script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35A96-D2D9-75B7-D273-1F8094BA3A3D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3331288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65BF-0267-740F-DED0-2C6C1FFF0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86F8-039A-E92B-8D9D-A8DB7E4ED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PRACTICAL: Write your 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1FC03-0AEB-9BFD-0215-8370F97D3FE9}"/>
              </a:ext>
            </a:extLst>
          </p:cNvPr>
          <p:cNvSpPr txBox="1"/>
          <p:nvPr/>
        </p:nvSpPr>
        <p:spPr>
          <a:xfrm>
            <a:off x="994326" y="2080199"/>
            <a:ext cx="10203348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</a:rPr>
              <a:t>#!/bin/bash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--partition=</a:t>
            </a:r>
            <a:r>
              <a:rPr lang="en-US" dirty="0" err="1">
                <a:latin typeface="Monaco" pitchFamily="2" charset="77"/>
              </a:rPr>
              <a:t>defq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</a:t>
            </a:r>
            <a:r>
              <a:rPr lang="en-US" dirty="0" err="1">
                <a:latin typeface="Monaco" pitchFamily="2" charset="77"/>
              </a:rPr>
              <a:t>cpus</a:t>
            </a:r>
            <a:r>
              <a:rPr lang="en-US" dirty="0">
                <a:latin typeface="Monaco" pitchFamily="2" charset="77"/>
              </a:rPr>
              <a:t>-per-task=1</a:t>
            </a:r>
          </a:p>
          <a:p>
            <a:r>
              <a:rPr lang="en-US" dirty="0">
                <a:latin typeface="Monaco" pitchFamily="2" charset="77"/>
              </a:rPr>
              <a:t>#SBATCH --mem=1g</a:t>
            </a:r>
          </a:p>
          <a:p>
            <a:r>
              <a:rPr lang="en-US" dirty="0">
                <a:latin typeface="Monaco" pitchFamily="2" charset="77"/>
              </a:rPr>
              <a:t>#SBATCH --time=00:05:00</a:t>
            </a:r>
          </a:p>
          <a:p>
            <a:r>
              <a:rPr lang="en-US" dirty="0">
                <a:latin typeface="Monaco" pitchFamily="2" charset="77"/>
              </a:rPr>
              <a:t>#SBATCH --job-name=</a:t>
            </a:r>
            <a:r>
              <a:rPr lang="en-US" dirty="0" err="1">
                <a:latin typeface="Monaco" pitchFamily="2" charset="77"/>
              </a:rPr>
              <a:t>my_job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username</a:t>
            </a:r>
            <a:r>
              <a:rPr lang="en-US" dirty="0">
                <a:latin typeface="Monaco" pitchFamily="2" charset="77"/>
              </a:rPr>
              <a:t>/</a:t>
            </a:r>
            <a:r>
              <a:rPr lang="en-US" dirty="0" err="1">
                <a:latin typeface="Monaco" pitchFamily="2" charset="77"/>
              </a:rPr>
              <a:t>slurm</a:t>
            </a:r>
            <a:r>
              <a:rPr lang="en-US" dirty="0">
                <a:latin typeface="Monaco" pitchFamily="2" charset="77"/>
              </a:rPr>
              <a:t>-%x-%</a:t>
            </a:r>
            <a:r>
              <a:rPr lang="en-US" dirty="0" err="1">
                <a:latin typeface="Monaco" pitchFamily="2" charset="77"/>
              </a:rPr>
              <a:t>j.out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username</a:t>
            </a:r>
            <a:r>
              <a:rPr lang="en-US" dirty="0">
                <a:latin typeface="Monaco" pitchFamily="2" charset="77"/>
              </a:rPr>
              <a:t>/</a:t>
            </a:r>
            <a:r>
              <a:rPr lang="en-US" dirty="0" err="1">
                <a:latin typeface="Monaco" pitchFamily="2" charset="77"/>
              </a:rPr>
              <a:t>slurm</a:t>
            </a:r>
            <a:r>
              <a:rPr lang="en-US" dirty="0">
                <a:latin typeface="Monaco" pitchFamily="2" charset="77"/>
              </a:rPr>
              <a:t>-%x-%</a:t>
            </a:r>
            <a:r>
              <a:rPr lang="en-US" dirty="0" err="1">
                <a:latin typeface="Monaco" pitchFamily="2" charset="77"/>
              </a:rPr>
              <a:t>j.err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--mail-type=ALL</a:t>
            </a:r>
          </a:p>
          <a:p>
            <a:r>
              <a:rPr lang="en-US" dirty="0">
                <a:latin typeface="Monaco" pitchFamily="2" charset="77"/>
              </a:rPr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username</a:t>
            </a:r>
            <a:r>
              <a:rPr lang="en-US" dirty="0" err="1">
                <a:latin typeface="Monaco" pitchFamily="2" charset="77"/>
              </a:rPr>
              <a:t>@exmail.nottingham.ac.uk</a:t>
            </a:r>
            <a:endParaRPr lang="en-US" dirty="0">
              <a:latin typeface="Monaco" pitchFamily="2" charset="77"/>
            </a:endParaRP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 Write out a test file to check our job ran</a:t>
            </a:r>
          </a:p>
          <a:p>
            <a:r>
              <a:rPr lang="en-US" dirty="0">
                <a:latin typeface="Monaco" pitchFamily="2" charset="77"/>
              </a:rPr>
              <a:t>echo “hello world” &gt; ~/</a:t>
            </a:r>
            <a:r>
              <a:rPr lang="en-US" dirty="0" err="1">
                <a:latin typeface="Monaco" pitchFamily="2" charset="77"/>
              </a:rPr>
              <a:t>our_test_output.txt</a:t>
            </a:r>
            <a:endParaRPr lang="en-US" dirty="0">
              <a:latin typeface="Monaco" pitchFamily="2" charset="77"/>
            </a:endParaRP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022F76-7B7D-AA28-7C8B-C355E9F141C8}"/>
              </a:ext>
            </a:extLst>
          </p:cNvPr>
          <p:cNvSpPr txBox="1"/>
          <p:nvPr/>
        </p:nvSpPr>
        <p:spPr>
          <a:xfrm>
            <a:off x="0" y="6453802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NOTE: replace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sz="2000" dirty="0"/>
              <a:t> with your own university username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D1C00-A766-269D-12A5-9ED92E545C47}"/>
              </a:ext>
            </a:extLst>
          </p:cNvPr>
          <p:cNvSpPr txBox="1"/>
          <p:nvPr/>
        </p:nvSpPr>
        <p:spPr>
          <a:xfrm>
            <a:off x="455606" y="828495"/>
            <a:ext cx="116413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Login to the HPC using the command ssh </a:t>
            </a:r>
            <a:r>
              <a:rPr lang="en-US" sz="2000" dirty="0" err="1"/>
              <a:t>ada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Use your preferred command line text editor (e.g. nano / vim) to create a file named </a:t>
            </a:r>
            <a:r>
              <a:rPr lang="en-US" sz="2000" dirty="0" err="1"/>
              <a:t>my_test_script.sh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Type the text below into your file and save it   </a:t>
            </a:r>
            <a:r>
              <a:rPr lang="en-US" sz="2000" dirty="0">
                <a:solidFill>
                  <a:srgbClr val="FF0000"/>
                </a:solidFill>
              </a:rPr>
              <a:t>DO NOT TRY TO RUN IT JUST YET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0802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69C92D-8B54-512C-6399-CEF36D6A26B8}"/>
              </a:ext>
            </a:extLst>
          </p:cNvPr>
          <p:cNvSpPr txBox="1"/>
          <p:nvPr/>
        </p:nvSpPr>
        <p:spPr>
          <a:xfrm>
            <a:off x="356344" y="2137045"/>
            <a:ext cx="94764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sbatch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- submit a job</a:t>
            </a:r>
          </a:p>
          <a:p>
            <a:pPr algn="l"/>
            <a:r>
              <a:rPr lang="en-GB" sz="2400" b="1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squeue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- list jobs and show their status</a:t>
            </a:r>
          </a:p>
          <a:p>
            <a:pPr algn="l"/>
            <a:r>
              <a:rPr lang="en-GB" sz="2400" b="1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scancel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- delete jobs</a:t>
            </a:r>
          </a:p>
          <a:p>
            <a:pPr algn="l"/>
            <a:r>
              <a:rPr lang="en-GB" sz="2400" b="1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sacct</a:t>
            </a:r>
            <a:r>
              <a:rPr lang="en-GB" sz="24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– get info on past jobs</a:t>
            </a:r>
          </a:p>
          <a:p>
            <a:pPr algn="l"/>
            <a:r>
              <a:rPr lang="en-GB" sz="2400" b="1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srun</a:t>
            </a:r>
            <a:r>
              <a:rPr lang="en-GB" sz="24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– request an interactive session on a compute node</a:t>
            </a:r>
          </a:p>
          <a:p>
            <a:pPr algn="l"/>
            <a:endParaRPr lang="en-GB" sz="24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algn="l"/>
            <a:r>
              <a:rPr lang="en-GB" sz="24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Soooo</a:t>
            </a:r>
            <a:r>
              <a:rPr lang="en-GB" sz="24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much more – check out the docs!</a:t>
            </a:r>
            <a:endParaRPr lang="en-GB" sz="24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6331863-AEEB-BA7B-DFFA-0348A71F7A7E}"/>
              </a:ext>
            </a:extLst>
          </p:cNvPr>
          <p:cNvSpPr txBox="1">
            <a:spLocks/>
          </p:cNvSpPr>
          <p:nvPr/>
        </p:nvSpPr>
        <p:spPr>
          <a:xfrm>
            <a:off x="1524000" y="600581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UoN</a:t>
            </a:r>
            <a:r>
              <a:rPr lang="en-US" sz="3600" dirty="0"/>
              <a:t> HPC – Ada – SLURM commands:</a:t>
            </a:r>
          </a:p>
        </p:txBody>
      </p:sp>
      <p:pic>
        <p:nvPicPr>
          <p:cNvPr id="1028" name="Picture 4" descr="Slurm Workload Manager - Wikipedia">
            <a:extLst>
              <a:ext uri="{FF2B5EF4-FFF2-40B4-BE49-F238E27FC236}">
                <a16:creationId xmlns:a16="http://schemas.microsoft.com/office/drawing/2014/main" id="{703316E3-DCFA-8637-CE22-B479447B8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214" y="1672199"/>
            <a:ext cx="3065012" cy="280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91AEB2-5407-02F1-85EC-55D987466A83}"/>
              </a:ext>
            </a:extLst>
          </p:cNvPr>
          <p:cNvSpPr txBox="1">
            <a:spLocks/>
          </p:cNvSpPr>
          <p:nvPr/>
        </p:nvSpPr>
        <p:spPr>
          <a:xfrm>
            <a:off x="648195" y="5889357"/>
            <a:ext cx="10515600" cy="553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</a:t>
            </a:r>
            <a:r>
              <a:rPr lang="en-US" dirty="0" err="1"/>
              <a:t>slurm.schedmd.com</a:t>
            </a:r>
            <a:r>
              <a:rPr lang="en-US" dirty="0"/>
              <a:t>/</a:t>
            </a:r>
            <a:r>
              <a:rPr lang="en-US" dirty="0" err="1"/>
              <a:t>documentation.html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524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E4CD-B6D2-F93D-DE1B-D9512051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3E43-5379-CA1E-9FDA-40012BD26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How to submit and monitor your script: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F0AB2-6F1D-169D-8582-86A8B1B5B01E}"/>
              </a:ext>
            </a:extLst>
          </p:cNvPr>
          <p:cNvSpPr txBox="1"/>
          <p:nvPr/>
        </p:nvSpPr>
        <p:spPr>
          <a:xfrm>
            <a:off x="2422945" y="1444539"/>
            <a:ext cx="7643631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Submit your job script using the command:</a:t>
            </a:r>
          </a:p>
          <a:p>
            <a:r>
              <a:rPr lang="en-US" sz="2000" dirty="0" err="1">
                <a:latin typeface="Monaco" pitchFamily="2" charset="77"/>
              </a:rPr>
              <a:t>sbatch</a:t>
            </a: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latin typeface="Monaco" pitchFamily="2" charset="77"/>
              </a:rPr>
              <a:t>my_script.sh</a:t>
            </a:r>
            <a:endParaRPr lang="en-US" sz="2000" dirty="0">
              <a:latin typeface="Monaco" pitchFamily="2" charset="77"/>
            </a:endParaRPr>
          </a:p>
          <a:p>
            <a:endParaRPr lang="en-US" sz="2000" dirty="0">
              <a:latin typeface="Monaco" pitchFamily="2" charset="77"/>
            </a:endParaRPr>
          </a:p>
          <a:p>
            <a:r>
              <a:rPr lang="en-US" sz="2000" dirty="0">
                <a:latin typeface="+mj-lt"/>
              </a:rPr>
              <a:t>Monitor your job using the command:</a:t>
            </a:r>
          </a:p>
          <a:p>
            <a:r>
              <a:rPr lang="en-US" sz="2000" dirty="0" err="1">
                <a:latin typeface="Monaco" pitchFamily="2" charset="77"/>
              </a:rPr>
              <a:t>squeue</a:t>
            </a:r>
            <a:r>
              <a:rPr lang="en-US" sz="2000" dirty="0">
                <a:latin typeface="Monaco" pitchFamily="2" charset="77"/>
              </a:rPr>
              <a:t> –l –u </a:t>
            </a:r>
            <a:r>
              <a:rPr lang="en-US" sz="2000" dirty="0">
                <a:solidFill>
                  <a:schemeClr val="accent3"/>
                </a:solidFill>
                <a:latin typeface="Monaco" pitchFamily="2" charset="77"/>
              </a:rPr>
              <a:t>username</a:t>
            </a: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r>
              <a:rPr lang="en-US" sz="2000" dirty="0">
                <a:latin typeface="+mj-lt"/>
              </a:rPr>
              <a:t>Cancel your job using the command:</a:t>
            </a:r>
          </a:p>
          <a:p>
            <a:r>
              <a:rPr lang="en-US" sz="2000" dirty="0" err="1">
                <a:latin typeface="Monaco" pitchFamily="2" charset="77"/>
              </a:rPr>
              <a:t>scancel</a:t>
            </a: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latin typeface="Monaco" pitchFamily="2" charset="77"/>
              </a:rPr>
              <a:t>job_id_number</a:t>
            </a:r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latin typeface="Monaco" pitchFamily="2" charset="77"/>
            </a:endParaRPr>
          </a:p>
          <a:p>
            <a:r>
              <a:rPr lang="en-US" sz="2000" dirty="0">
                <a:latin typeface="+mj-lt"/>
              </a:rPr>
              <a:t>(NOTE: the </a:t>
            </a:r>
            <a:r>
              <a:rPr lang="en-US" sz="2000" dirty="0" err="1">
                <a:latin typeface="+mj-lt"/>
              </a:rPr>
              <a:t>jobid</a:t>
            </a:r>
            <a:r>
              <a:rPr lang="en-US" sz="2000" dirty="0">
                <a:latin typeface="+mj-lt"/>
              </a:rPr>
              <a:t> number is in the first column of the output from </a:t>
            </a:r>
            <a:r>
              <a:rPr lang="en-US" sz="2000" dirty="0" err="1">
                <a:latin typeface="+mj-lt"/>
              </a:rPr>
              <a:t>squeue</a:t>
            </a:r>
            <a:r>
              <a:rPr lang="en-US" sz="2000" dirty="0">
                <a:latin typeface="+mj-lt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3BC53E-CA53-6C43-7348-9D8049730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9315"/>
            <a:ext cx="12175142" cy="11626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8EE328-E501-B355-0598-0A2B3D9701B7}"/>
              </a:ext>
            </a:extLst>
          </p:cNvPr>
          <p:cNvSpPr txBox="1"/>
          <p:nvPr/>
        </p:nvSpPr>
        <p:spPr>
          <a:xfrm>
            <a:off x="3312957" y="761584"/>
            <a:ext cx="60979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Now have a go at running the script you just wrote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50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A78E-DB84-7896-8413-A2AC6B3C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C0C8-8EBF-8CE6-789E-A528C8C84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695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OpenOnDemand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6267F-AC46-9087-9F2E-91E495B29F8B}"/>
              </a:ext>
            </a:extLst>
          </p:cNvPr>
          <p:cNvSpPr txBox="1"/>
          <p:nvPr/>
        </p:nvSpPr>
        <p:spPr>
          <a:xfrm>
            <a:off x="609251" y="554952"/>
            <a:ext cx="1136142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400" b="1" i="0" u="sng" dirty="0">
                <a:solidFill>
                  <a:srgbClr val="03787C"/>
                </a:solidFill>
                <a:effectLst/>
                <a:latin typeface="Segoe UI" panose="020B0502040204020203" pitchFamily="34" charset="0"/>
                <a:hlinkClick r:id="rId3"/>
              </a:rPr>
              <a:t>https://hpcondemand01.ada.nottingham.ac.uk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EFB32-8A10-7B68-CDBE-92A2CE591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81" y="1202896"/>
            <a:ext cx="11058765" cy="557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22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575B-F282-5454-CB30-4C4F0460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6F4A-7FB9-A67D-DD5A-0632863B4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Partitions on Ada: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8E86C-35AC-7766-3214-EDEF49BE47B4}"/>
              </a:ext>
            </a:extLst>
          </p:cNvPr>
          <p:cNvSpPr txBox="1"/>
          <p:nvPr/>
        </p:nvSpPr>
        <p:spPr>
          <a:xfrm>
            <a:off x="464652" y="1343888"/>
            <a:ext cx="6504183" cy="4247317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username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CBB6F-B48B-2571-D2F5-D99F7DCDA4CD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D36C31-7614-058A-48B2-2AC7E92C3BD8}"/>
              </a:ext>
            </a:extLst>
          </p:cNvPr>
          <p:cNvSpPr/>
          <p:nvPr/>
        </p:nvSpPr>
        <p:spPr>
          <a:xfrm>
            <a:off x="463134" y="1898073"/>
            <a:ext cx="6504183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3F004-35AC-0C4B-041F-A41CE914391F}"/>
              </a:ext>
            </a:extLst>
          </p:cNvPr>
          <p:cNvSpPr txBox="1"/>
          <p:nvPr/>
        </p:nvSpPr>
        <p:spPr>
          <a:xfrm>
            <a:off x="7727630" y="2456214"/>
            <a:ext cx="36053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--partition= </a:t>
            </a:r>
          </a:p>
          <a:p>
            <a:endParaRPr lang="en-US" sz="2000" dirty="0"/>
          </a:p>
          <a:p>
            <a:r>
              <a:rPr lang="en-US" sz="2000" dirty="0"/>
              <a:t>Select the type of compute node you want to use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79914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327" y="0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partitions: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9438A9-6B12-100F-4936-F58EF37469C0}"/>
              </a:ext>
            </a:extLst>
          </p:cNvPr>
          <p:cNvGraphicFramePr>
            <a:graphicFrameLocks noGrp="1"/>
          </p:cNvGraphicFramePr>
          <p:nvPr/>
        </p:nvGraphicFramePr>
        <p:xfrm>
          <a:off x="148726" y="678626"/>
          <a:ext cx="11887201" cy="5704767"/>
        </p:xfrm>
        <a:graphic>
          <a:graphicData uri="http://schemas.openxmlformats.org/drawingml/2006/table">
            <a:tbl>
              <a:tblPr/>
              <a:tblGrid>
                <a:gridCol w="1605199">
                  <a:extLst>
                    <a:ext uri="{9D8B030D-6E8A-4147-A177-3AD203B41FA5}">
                      <a16:colId xmlns:a16="http://schemas.microsoft.com/office/drawing/2014/main" val="3800633113"/>
                    </a:ext>
                  </a:extLst>
                </a:gridCol>
                <a:gridCol w="10282002">
                  <a:extLst>
                    <a:ext uri="{9D8B030D-6E8A-4147-A177-3AD203B41FA5}">
                      <a16:colId xmlns:a16="http://schemas.microsoft.com/office/drawing/2014/main" val="1770920767"/>
                    </a:ext>
                  </a:extLst>
                </a:gridCol>
              </a:tblGrid>
              <a:tr h="264146">
                <a:tc>
                  <a:txBody>
                    <a:bodyPr/>
                    <a:lstStyle/>
                    <a:p>
                      <a:pPr marL="0" algn="ctr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Partition name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Type of node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84070"/>
                  </a:ext>
                </a:extLst>
              </a:tr>
              <a:tr h="557921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defq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Standard compute nodes with 96 cores and 384 GB (361 GB usable) memory.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There are 63 nodes in this partition.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7 days (168 hours).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02569"/>
                  </a:ext>
                </a:extLst>
              </a:tr>
              <a:tr h="557921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shortq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Standard compute nodes with 96 cores and 384 GB (361 GB usable) memory.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There are 6 nodes in this partition.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12 hours.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738184"/>
                  </a:ext>
                </a:extLst>
              </a:tr>
              <a:tr h="598457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devq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Standard compute nodes with 96 cores and 384 GB (361 GB usable) memory.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This queue shares the nodes with '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defq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' partition, but limits total number of cores per user to 96, and number of jobs to 4.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1 hour.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08562"/>
                  </a:ext>
                </a:extLst>
              </a:tr>
              <a:tr h="557921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hmemq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High memory compute node with 96 cores and 1536 GB (1495 GB usable) memory.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There are 10 nodes in this partition.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 maximum job walltime allowed is 7 days (168 hours).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65576"/>
                  </a:ext>
                </a:extLst>
              </a:tr>
              <a:tr h="731865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ampereq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GPGPU (ampere) compute node with 96 cores and 768 GB (747 GB usable) memory, and 8 Nvidia A100 GPUs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There are 2 nodes in this partition.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 maximum job walltime allowed is 7 days (168 hours).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 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47476"/>
                  </a:ext>
                </a:extLst>
              </a:tr>
              <a:tr h="905809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ampere-devq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GPGPU (ampere) compute node with 96 cores and 768 GB (747 GB usable) memory, and 8 Nvidia A100 GPUs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This queue shares the nodes with '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ampereq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' partition, but limits total number of cores per user to 12, number of GPUs per user to 1, and number of jobs to 4.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1 hour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 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226890"/>
                  </a:ext>
                </a:extLst>
              </a:tr>
              <a:tr h="598457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ampere-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mq</a:t>
                      </a:r>
                      <a:endParaRPr lang="en-GB" sz="1200" b="0" dirty="0">
                        <a:solidFill>
                          <a:srgbClr val="242424"/>
                        </a:solidFill>
                        <a:effectLst/>
                      </a:endParaRP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GPGPU (ampere) compute node with 96 cores and 768 GB (747 GB usable) memory, and 8 Nvidia A100 GPUs, each A100 split into 7x 'MIG' instances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There are 2 nodes in this partition.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 maximum job walltime allowed is 7 days (168 hours).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153630"/>
                  </a:ext>
                </a:extLst>
              </a:tr>
              <a:tr h="821330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ampere-m-devq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GPGPU (ampere) compute node with 96 cores and 768 GB (747 GB usable) memory, and 8 Nvidia A100 GPUs, each A100 split into 7x 'MIG' instances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This queue shares the nodes with 'ampere-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mq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' partition, but limits total number of cores per user to 12, number of GPUs per user to 1, and number of jobs to 4.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1 hour.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869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9092E1B-3595-A86F-1581-CE1FEB4E83AC}"/>
              </a:ext>
            </a:extLst>
          </p:cNvPr>
          <p:cNvSpPr txBox="1"/>
          <p:nvPr/>
        </p:nvSpPr>
        <p:spPr>
          <a:xfrm>
            <a:off x="9889666" y="988195"/>
            <a:ext cx="154932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normal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99A1D-C2FC-2BB2-904B-28D0161D7AE0}"/>
              </a:ext>
            </a:extLst>
          </p:cNvPr>
          <p:cNvSpPr txBox="1"/>
          <p:nvPr/>
        </p:nvSpPr>
        <p:spPr>
          <a:xfrm>
            <a:off x="10025666" y="1697874"/>
            <a:ext cx="154932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quick jobs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1EC0F-6B63-AD0D-9E42-1D18AA7E26A9}"/>
              </a:ext>
            </a:extLst>
          </p:cNvPr>
          <p:cNvSpPr txBox="1"/>
          <p:nvPr/>
        </p:nvSpPr>
        <p:spPr>
          <a:xfrm>
            <a:off x="10283296" y="2207498"/>
            <a:ext cx="115569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testing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09697-6D74-4D7A-125D-02BDA8CDAE30}"/>
              </a:ext>
            </a:extLst>
          </p:cNvPr>
          <p:cNvSpPr txBox="1"/>
          <p:nvPr/>
        </p:nvSpPr>
        <p:spPr>
          <a:xfrm>
            <a:off x="9913959" y="2792043"/>
            <a:ext cx="166103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high 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557FD-E134-73DB-4BD7-647E6EC646A3}"/>
              </a:ext>
            </a:extLst>
          </p:cNvPr>
          <p:cNvSpPr txBox="1"/>
          <p:nvPr/>
        </p:nvSpPr>
        <p:spPr>
          <a:xfrm>
            <a:off x="8289948" y="3544864"/>
            <a:ext cx="3629891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GPU (graphics processing unit)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8E12E-F401-ABF5-CD48-34E816F357CB}"/>
              </a:ext>
            </a:extLst>
          </p:cNvPr>
          <p:cNvSpPr txBox="1"/>
          <p:nvPr/>
        </p:nvSpPr>
        <p:spPr>
          <a:xfrm>
            <a:off x="10171588" y="4520970"/>
            <a:ext cx="1772737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GPU - testing</a:t>
            </a:r>
          </a:p>
        </p:txBody>
      </p:sp>
    </p:spTree>
    <p:extLst>
      <p:ext uri="{BB962C8B-B14F-4D97-AF65-F5344CB8AC3E}">
        <p14:creationId xmlns:p14="http://schemas.microsoft.com/office/powerpoint/2010/main" val="1708680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1E664-FFFD-2DED-D8D6-52BDD880E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C6817D7-3CAC-D3E1-3986-61D677F9095B}"/>
              </a:ext>
            </a:extLst>
          </p:cNvPr>
          <p:cNvSpPr txBox="1">
            <a:spLocks/>
          </p:cNvSpPr>
          <p:nvPr/>
        </p:nvSpPr>
        <p:spPr>
          <a:xfrm>
            <a:off x="1520327" y="205535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Accessing software on Ada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42B46-023B-87E3-A110-7A3AE5E3FDCD}"/>
              </a:ext>
            </a:extLst>
          </p:cNvPr>
          <p:cNvSpPr txBox="1"/>
          <p:nvPr/>
        </p:nvSpPr>
        <p:spPr>
          <a:xfrm>
            <a:off x="1894238" y="1049413"/>
            <a:ext cx="9577326" cy="211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Pre-installed software available to you as modules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Software you install yourself with </a:t>
            </a:r>
            <a:r>
              <a:rPr lang="en-GB" sz="2400" b="0" i="0" dirty="0" err="1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Conda</a:t>
            </a:r>
            <a:endParaRPr lang="en-GB" sz="2400" b="0" i="0" dirty="0">
              <a:solidFill>
                <a:srgbClr val="32313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23130"/>
                </a:solidFill>
                <a:latin typeface="Segoe UI" panose="020B0502040204020203" pitchFamily="34" charset="0"/>
              </a:rPr>
              <a:t>Software containers (singularity, docker) </a:t>
            </a:r>
            <a:r>
              <a:rPr lang="en-GB" sz="1600" dirty="0">
                <a:solidFill>
                  <a:srgbClr val="C00000"/>
                </a:solidFill>
                <a:latin typeface="Segoe UI" panose="020B0502040204020203" pitchFamily="34" charset="0"/>
              </a:rPr>
              <a:t>– we will not cover software containers in this module but you should be aware that they exist and you can use them on Ada</a:t>
            </a:r>
            <a:endParaRPr lang="en-GB" sz="2400" b="0" i="0" dirty="0">
              <a:solidFill>
                <a:srgbClr val="C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170" name="Picture 2" descr="The Future of Software Development | Blog | StarkCloud">
            <a:extLst>
              <a:ext uri="{FF2B5EF4-FFF2-40B4-BE49-F238E27FC236}">
                <a16:creationId xmlns:a16="http://schemas.microsoft.com/office/drawing/2014/main" id="{F7D935EE-AAB5-2DCF-A63F-528DD127F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075" y="3395287"/>
            <a:ext cx="5790539" cy="325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846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-26894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software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444723" y="799983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SEE ALL AVAILABLE SOFTWARE	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module avail    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e.g.: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4883D-3152-CB8D-63C6-80AFC9D2AD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8756" b="27431"/>
          <a:stretch/>
        </p:blipFill>
        <p:spPr>
          <a:xfrm>
            <a:off x="337147" y="1299856"/>
            <a:ext cx="11482818" cy="54912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A182AF-E467-0540-5375-41B7C5476322}"/>
              </a:ext>
            </a:extLst>
          </p:cNvPr>
          <p:cNvSpPr txBox="1"/>
          <p:nvPr/>
        </p:nvSpPr>
        <p:spPr>
          <a:xfrm>
            <a:off x="9992135" y="6457890"/>
            <a:ext cx="2199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And many more…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798509E-464D-C50C-90F3-5C9C5DEF8C8B}"/>
              </a:ext>
            </a:extLst>
          </p:cNvPr>
          <p:cNvGrpSpPr/>
          <p:nvPr/>
        </p:nvGrpSpPr>
        <p:grpSpPr>
          <a:xfrm>
            <a:off x="3729858" y="1412322"/>
            <a:ext cx="1067043" cy="772744"/>
            <a:chOff x="3729858" y="1412322"/>
            <a:chExt cx="1067043" cy="77274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9373B14-D583-AB22-7BFD-78EA835E3E50}"/>
                </a:ext>
              </a:extLst>
            </p:cNvPr>
            <p:cNvSpPr/>
            <p:nvPr/>
          </p:nvSpPr>
          <p:spPr>
            <a:xfrm>
              <a:off x="3729858" y="1733375"/>
              <a:ext cx="462708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A16406-7642-A5E0-7F2E-4557D220BFD2}"/>
                </a:ext>
              </a:extLst>
            </p:cNvPr>
            <p:cNvSpPr txBox="1"/>
            <p:nvPr/>
          </p:nvSpPr>
          <p:spPr>
            <a:xfrm>
              <a:off x="3960267" y="1412322"/>
              <a:ext cx="8366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sticky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83DB4E-D335-576D-DAE0-AB0061111C67}"/>
              </a:ext>
            </a:extLst>
          </p:cNvPr>
          <p:cNvGrpSpPr/>
          <p:nvPr/>
        </p:nvGrpSpPr>
        <p:grpSpPr>
          <a:xfrm>
            <a:off x="5787527" y="1363303"/>
            <a:ext cx="1258731" cy="784732"/>
            <a:chOff x="5787527" y="1363303"/>
            <a:chExt cx="1258731" cy="78473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624FF22-5A8F-C49F-245E-6CC6D30DEDEF}"/>
                </a:ext>
              </a:extLst>
            </p:cNvPr>
            <p:cNvSpPr/>
            <p:nvPr/>
          </p:nvSpPr>
          <p:spPr>
            <a:xfrm>
              <a:off x="5787527" y="1696344"/>
              <a:ext cx="462708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762F84-1AD2-8B9C-24B9-4D5782E5A40D}"/>
                </a:ext>
              </a:extLst>
            </p:cNvPr>
            <p:cNvSpPr txBox="1"/>
            <p:nvPr/>
          </p:nvSpPr>
          <p:spPr>
            <a:xfrm>
              <a:off x="6095999" y="1363303"/>
              <a:ext cx="9502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loaded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F36394-BE5D-9536-66FD-A5ABD87780BF}"/>
              </a:ext>
            </a:extLst>
          </p:cNvPr>
          <p:cNvGrpSpPr/>
          <p:nvPr/>
        </p:nvGrpSpPr>
        <p:grpSpPr>
          <a:xfrm>
            <a:off x="10917015" y="2282725"/>
            <a:ext cx="950259" cy="901905"/>
            <a:chOff x="10917015" y="2282725"/>
            <a:chExt cx="950259" cy="90190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DE153A2-50E1-3BB8-6746-D660DD81003C}"/>
                </a:ext>
              </a:extLst>
            </p:cNvPr>
            <p:cNvSpPr/>
            <p:nvPr/>
          </p:nvSpPr>
          <p:spPr>
            <a:xfrm>
              <a:off x="11392145" y="2732939"/>
              <a:ext cx="462708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2E3F1A-0441-D169-C7EF-DBA9A7D6AF13}"/>
                </a:ext>
              </a:extLst>
            </p:cNvPr>
            <p:cNvSpPr txBox="1"/>
            <p:nvPr/>
          </p:nvSpPr>
          <p:spPr>
            <a:xfrm>
              <a:off x="10917015" y="2282725"/>
              <a:ext cx="9502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default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526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-26894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software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444723" y="799983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SEARCH FOR SOFTWARE	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m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odule avail </a:t>
            </a:r>
            <a:r>
              <a:rPr lang="en-GB" sz="2000" b="0" i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software_name</a:t>
            </a:r>
            <a:r>
              <a:rPr lang="en-GB" sz="2000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       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e.g.: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E212-ABD6-C796-DD81-BD18F5D5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12" y="1303305"/>
            <a:ext cx="11787259" cy="3093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48F47E-1F11-2073-2DED-0327940C74DB}"/>
              </a:ext>
            </a:extLst>
          </p:cNvPr>
          <p:cNvSpPr txBox="1"/>
          <p:nvPr/>
        </p:nvSpPr>
        <p:spPr>
          <a:xfrm>
            <a:off x="444723" y="4517756"/>
            <a:ext cx="11509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LOAD SOFTWARE:          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module load </a:t>
            </a:r>
            <a:r>
              <a:rPr lang="en-GB" sz="2000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module_name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	e.g. :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D3435A-840A-4F81-2429-FDBA310DE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64" y="4986851"/>
            <a:ext cx="11873753" cy="4611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863497-675A-B2FC-C20E-84DCB090DDC9}"/>
              </a:ext>
            </a:extLst>
          </p:cNvPr>
          <p:cNvSpPr txBox="1"/>
          <p:nvPr/>
        </p:nvSpPr>
        <p:spPr>
          <a:xfrm>
            <a:off x="444723" y="5690014"/>
            <a:ext cx="11509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UNLOAD SOFTWARE:          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module unload </a:t>
            </a:r>
            <a:r>
              <a:rPr lang="en-GB" sz="2000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module_name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	e.g. :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CBA344-2B88-A07A-123D-170168130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63" y="6162588"/>
            <a:ext cx="11873753" cy="3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48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F4CF-2CE3-D0C9-42D2-B4295FF5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C955-7AB2-369E-7A84-1D3D9AF39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727114"/>
          </a:xfrm>
        </p:spPr>
        <p:txBody>
          <a:bodyPr>
            <a:noAutofit/>
          </a:bodyPr>
          <a:lstStyle/>
          <a:p>
            <a:r>
              <a:rPr lang="en-US" sz="3600" dirty="0"/>
              <a:t>PRACTICAL: using software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EC92D-0472-CCE8-F35B-4FD2D31A3326}"/>
              </a:ext>
            </a:extLst>
          </p:cNvPr>
          <p:cNvSpPr txBox="1"/>
          <p:nvPr/>
        </p:nvSpPr>
        <p:spPr>
          <a:xfrm>
            <a:off x="767963" y="1080234"/>
            <a:ext cx="10203348" cy="5078313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</a:rPr>
              <a:t>#!/bin/bash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--partition=</a:t>
            </a:r>
            <a:r>
              <a:rPr lang="en-US" dirty="0" err="1">
                <a:latin typeface="Monaco" pitchFamily="2" charset="77"/>
              </a:rPr>
              <a:t>defq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</a:t>
            </a:r>
            <a:r>
              <a:rPr lang="en-US" dirty="0" err="1">
                <a:latin typeface="Monaco" pitchFamily="2" charset="77"/>
              </a:rPr>
              <a:t>cpus</a:t>
            </a:r>
            <a:r>
              <a:rPr lang="en-US" dirty="0">
                <a:latin typeface="Monaco" pitchFamily="2" charset="77"/>
              </a:rPr>
              <a:t>-per-task=1</a:t>
            </a:r>
          </a:p>
          <a:p>
            <a:r>
              <a:rPr lang="en-US" dirty="0">
                <a:latin typeface="Monaco" pitchFamily="2" charset="77"/>
              </a:rPr>
              <a:t>#SBATCH --mem=1g</a:t>
            </a:r>
          </a:p>
          <a:p>
            <a:r>
              <a:rPr lang="en-US" dirty="0">
                <a:latin typeface="Monaco" pitchFamily="2" charset="77"/>
              </a:rPr>
              <a:t>#SBATCH --time=00:05:00</a:t>
            </a:r>
          </a:p>
          <a:p>
            <a:r>
              <a:rPr lang="en-US" dirty="0">
                <a:latin typeface="Monaco" pitchFamily="2" charset="77"/>
              </a:rPr>
              <a:t>#SBATCH --job-name=</a:t>
            </a:r>
            <a:r>
              <a:rPr lang="en-US" dirty="0" err="1">
                <a:latin typeface="Monaco" pitchFamily="2" charset="77"/>
              </a:rPr>
              <a:t>module_test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--output=/gpfs01/home/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username</a:t>
            </a:r>
            <a:r>
              <a:rPr lang="en-US" dirty="0">
                <a:latin typeface="Monaco" pitchFamily="2" charset="77"/>
              </a:rPr>
              <a:t>/</a:t>
            </a:r>
            <a:r>
              <a:rPr lang="en-US" dirty="0" err="1">
                <a:latin typeface="Monaco" pitchFamily="2" charset="77"/>
              </a:rPr>
              <a:t>slurm</a:t>
            </a:r>
            <a:r>
              <a:rPr lang="en-US" dirty="0">
                <a:latin typeface="Monaco" pitchFamily="2" charset="77"/>
              </a:rPr>
              <a:t>-%x-%</a:t>
            </a:r>
            <a:r>
              <a:rPr lang="en-US" dirty="0" err="1">
                <a:latin typeface="Monaco" pitchFamily="2" charset="77"/>
              </a:rPr>
              <a:t>j.out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--error=/gpfs01/home/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username</a:t>
            </a:r>
            <a:r>
              <a:rPr lang="en-US" dirty="0">
                <a:latin typeface="Monaco" pitchFamily="2" charset="77"/>
              </a:rPr>
              <a:t>/</a:t>
            </a:r>
            <a:r>
              <a:rPr lang="en-US" dirty="0" err="1">
                <a:latin typeface="Monaco" pitchFamily="2" charset="77"/>
              </a:rPr>
              <a:t>slurm</a:t>
            </a:r>
            <a:r>
              <a:rPr lang="en-US" dirty="0">
                <a:latin typeface="Monaco" pitchFamily="2" charset="77"/>
              </a:rPr>
              <a:t>-%x-%</a:t>
            </a:r>
            <a:r>
              <a:rPr lang="en-US" dirty="0" err="1">
                <a:latin typeface="Monaco" pitchFamily="2" charset="77"/>
              </a:rPr>
              <a:t>j.err</a:t>
            </a:r>
            <a:endParaRPr lang="en-US" dirty="0">
              <a:latin typeface="Monaco" pitchFamily="2" charset="77"/>
            </a:endParaRP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 load a module</a:t>
            </a:r>
          </a:p>
          <a:p>
            <a:r>
              <a:rPr lang="en-US" dirty="0">
                <a:latin typeface="Monaco" pitchFamily="2" charset="77"/>
              </a:rPr>
              <a:t>module load </a:t>
            </a:r>
            <a:r>
              <a:rPr lang="en-US" dirty="0" err="1">
                <a:latin typeface="Monaco" pitchFamily="2" charset="77"/>
              </a:rPr>
              <a:t>samtools-uoneasy</a:t>
            </a:r>
            <a:r>
              <a:rPr lang="en-US" dirty="0">
                <a:latin typeface="Monaco" pitchFamily="2" charset="77"/>
              </a:rPr>
              <a:t>/1.22.1-GCC-14.2.0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 print the help</a:t>
            </a:r>
          </a:p>
          <a:p>
            <a:r>
              <a:rPr lang="en-US" dirty="0" err="1">
                <a:latin typeface="Monaco" pitchFamily="2" charset="77"/>
              </a:rPr>
              <a:t>samtools</a:t>
            </a:r>
            <a:r>
              <a:rPr lang="en-US" dirty="0">
                <a:latin typeface="Monaco" pitchFamily="2" charset="77"/>
              </a:rPr>
              <a:t> --help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 unload the module</a:t>
            </a:r>
          </a:p>
          <a:p>
            <a:r>
              <a:rPr lang="en-US" dirty="0">
                <a:latin typeface="Monaco" pitchFamily="2" charset="77"/>
              </a:rPr>
              <a:t>module unload </a:t>
            </a:r>
            <a:r>
              <a:rPr lang="en-US" dirty="0" err="1">
                <a:latin typeface="Monaco" pitchFamily="2" charset="77"/>
              </a:rPr>
              <a:t>samtools-uoneasy</a:t>
            </a:r>
            <a:r>
              <a:rPr lang="en-US" dirty="0">
                <a:latin typeface="Monaco" pitchFamily="2" charset="77"/>
              </a:rPr>
              <a:t>/1.22.1-GCC-14.2.0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FC788-9F29-3482-C2F0-B9C23FB94232}"/>
              </a:ext>
            </a:extLst>
          </p:cNvPr>
          <p:cNvSpPr/>
          <p:nvPr/>
        </p:nvSpPr>
        <p:spPr>
          <a:xfrm>
            <a:off x="7897091" y="821696"/>
            <a:ext cx="3924795" cy="1658268"/>
          </a:xfrm>
          <a:prstGeom prst="rect">
            <a:avLst/>
          </a:prstGeom>
          <a:solidFill>
            <a:schemeClr val="accent1">
              <a:alpha val="8794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Write another job submission script - try loading a module in the script and printing the help using the --help flag</a:t>
            </a:r>
          </a:p>
        </p:txBody>
      </p:sp>
    </p:spTree>
    <p:extLst>
      <p:ext uri="{BB962C8B-B14F-4D97-AF65-F5344CB8AC3E}">
        <p14:creationId xmlns:p14="http://schemas.microsoft.com/office/powerpoint/2010/main" val="1114134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5425C-5D01-8128-8538-8EF4C73A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F507-13F7-1829-0BDA-CA39BAD67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-26894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/>
              <a:t> requesting new software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B5F04-06E3-B342-7BB2-09CA7656D3E3}"/>
              </a:ext>
            </a:extLst>
          </p:cNvPr>
          <p:cNvSpPr txBox="1"/>
          <p:nvPr/>
        </p:nvSpPr>
        <p:spPr>
          <a:xfrm>
            <a:off x="444723" y="799983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Use the IT self-service portal to request new software modules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935ADA-499E-C94F-B49D-F6EE38723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383" y="1320998"/>
            <a:ext cx="8154635" cy="480061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3AE772F-280E-1598-7FDF-74AED6FF203E}"/>
              </a:ext>
            </a:extLst>
          </p:cNvPr>
          <p:cNvSpPr/>
          <p:nvPr/>
        </p:nvSpPr>
        <p:spPr>
          <a:xfrm>
            <a:off x="2822654" y="2175164"/>
            <a:ext cx="2964873" cy="2784764"/>
          </a:xfrm>
          <a:prstGeom prst="ellipse">
            <a:avLst/>
          </a:prstGeom>
          <a:noFill/>
          <a:ln w="825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053F1-9CE4-3233-6A40-8BA5E5354E4D}"/>
              </a:ext>
            </a:extLst>
          </p:cNvPr>
          <p:cNvSpPr txBox="1"/>
          <p:nvPr/>
        </p:nvSpPr>
        <p:spPr>
          <a:xfrm>
            <a:off x="0" y="6242521"/>
            <a:ext cx="12191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hlinkClick r:id="rId4"/>
              </a:rPr>
              <a:t>https://www.nottingham.ac.uk/dts/help/self-service-portal/self-service-portal.aspx</a:t>
            </a:r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6946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028F-ED94-D3F6-60CF-A4CEE855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6E259D-298A-82DC-0E4C-D27B0B65C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4" y="1579038"/>
            <a:ext cx="10842481" cy="4350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B041FC-50DE-D305-DD45-29F71A49E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-26894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/>
              <a:t> requesting new software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5D5CF-DB30-B7F8-2CFF-1E436B6D0F2D}"/>
              </a:ext>
            </a:extLst>
          </p:cNvPr>
          <p:cNvSpPr txBox="1"/>
          <p:nvPr/>
        </p:nvSpPr>
        <p:spPr>
          <a:xfrm>
            <a:off x="444723" y="799983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Search HPC and use the HPC Service Queries option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927AD2-3EE5-3D14-D3C6-C9A1387E8665}"/>
              </a:ext>
            </a:extLst>
          </p:cNvPr>
          <p:cNvSpPr/>
          <p:nvPr/>
        </p:nvSpPr>
        <p:spPr>
          <a:xfrm>
            <a:off x="4083418" y="2618510"/>
            <a:ext cx="2964873" cy="2784764"/>
          </a:xfrm>
          <a:prstGeom prst="ellipse">
            <a:avLst/>
          </a:prstGeom>
          <a:noFill/>
          <a:ln w="825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39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53788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</a:t>
            </a:r>
            <a:r>
              <a:rPr lang="en-US" sz="3600" dirty="0" err="1"/>
              <a:t>conda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201706" y="1201382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You can install and use </a:t>
            </a:r>
            <a:r>
              <a:rPr lang="en-GB" sz="20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just as you did on your own laptops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8F47E-1F11-2073-2DED-0327940C74DB}"/>
              </a:ext>
            </a:extLst>
          </p:cNvPr>
          <p:cNvSpPr txBox="1"/>
          <p:nvPr/>
        </p:nvSpPr>
        <p:spPr>
          <a:xfrm>
            <a:off x="201706" y="1799881"/>
            <a:ext cx="119902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DOWNLOAD:  </a:t>
            </a:r>
            <a:r>
              <a:rPr lang="en-GB" sz="20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wget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https://</a:t>
            </a:r>
            <a:r>
              <a:rPr lang="en-GB" sz="20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repo.anaconda.com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/</a:t>
            </a:r>
            <a:r>
              <a:rPr lang="en-GB" sz="20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miniconda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/Miniconda3-latest-Linux-x86_64.sh</a:t>
            </a:r>
          </a:p>
          <a:p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TO INSTALL:	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  bash Miniconda3-latest-Linux-x86_64.sh</a:t>
            </a:r>
          </a:p>
          <a:p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Say yes to everything it asks you during the install process - accept the license terms with yes and accept the default install location by pressing return</a:t>
            </a:r>
          </a:p>
          <a:p>
            <a:endParaRPr lang="en-GB" sz="2000" dirty="0">
              <a:solidFill>
                <a:srgbClr val="323130"/>
              </a:solidFill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Log out of Ada and back in again</a:t>
            </a:r>
          </a:p>
          <a:p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Then run the following commands:</a:t>
            </a:r>
          </a:p>
          <a:p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config --set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auto_activate_base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false</a:t>
            </a:r>
          </a:p>
          <a:p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config --set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env_prompt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'({name})'</a:t>
            </a:r>
          </a:p>
          <a:p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config --append channels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-forge</a:t>
            </a:r>
          </a:p>
          <a:p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config --append channels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bioconda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deactivate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63497-675A-B2FC-C20E-84DCB090DDC9}"/>
              </a:ext>
            </a:extLst>
          </p:cNvPr>
          <p:cNvSpPr txBox="1"/>
          <p:nvPr/>
        </p:nvSpPr>
        <p:spPr>
          <a:xfrm>
            <a:off x="539726" y="6201086"/>
            <a:ext cx="11509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Then create environments and install software just like you have on your own laptop!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10242" name="Picture 2" descr="Conda — CRC User documentation">
            <a:extLst>
              <a:ext uri="{FF2B5EF4-FFF2-40B4-BE49-F238E27FC236}">
                <a16:creationId xmlns:a16="http://schemas.microsoft.com/office/drawing/2014/main" id="{7A3F1AC2-B586-48BE-03B7-7AF37EE4D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1162" y="456859"/>
            <a:ext cx="4353273" cy="174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703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62D9B-FBAF-1D4F-C80A-109BD121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B4D2-B097-A689-3055-7875992D3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565" y="-15487"/>
            <a:ext cx="11716870" cy="727114"/>
          </a:xfrm>
        </p:spPr>
        <p:txBody>
          <a:bodyPr>
            <a:noAutofit/>
          </a:bodyPr>
          <a:lstStyle/>
          <a:p>
            <a:r>
              <a:rPr lang="en-US" sz="3600" dirty="0"/>
              <a:t>EXAMPLE: using </a:t>
            </a:r>
            <a:r>
              <a:rPr lang="en-US" sz="3600" dirty="0" err="1"/>
              <a:t>conda</a:t>
            </a:r>
            <a:r>
              <a:rPr lang="en-US" sz="3600" dirty="0"/>
              <a:t> in a job submission script</a:t>
            </a:r>
          </a:p>
        </p:txBody>
      </p:sp>
      <p:pic>
        <p:nvPicPr>
          <p:cNvPr id="10242" name="Picture 2" descr="Conda — CRC User documentation">
            <a:extLst>
              <a:ext uri="{FF2B5EF4-FFF2-40B4-BE49-F238E27FC236}">
                <a16:creationId xmlns:a16="http://schemas.microsoft.com/office/drawing/2014/main" id="{01AFE415-600E-41F0-6D96-D6B45B7FE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1162" y="456859"/>
            <a:ext cx="4353273" cy="174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C5227B-425C-C660-3E54-1351237F228C}"/>
              </a:ext>
            </a:extLst>
          </p:cNvPr>
          <p:cNvSpPr txBox="1"/>
          <p:nvPr/>
        </p:nvSpPr>
        <p:spPr>
          <a:xfrm>
            <a:off x="1112348" y="920621"/>
            <a:ext cx="10203348" cy="5016758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Monaco" pitchFamily="2" charset="77"/>
              </a:rPr>
              <a:t>#!/bin/bash</a:t>
            </a: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--partition=</a:t>
            </a:r>
            <a:r>
              <a:rPr lang="en-US" sz="1600" dirty="0" err="1">
                <a:latin typeface="Monaco" pitchFamily="2" charset="77"/>
              </a:rPr>
              <a:t>defq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</a:t>
            </a:r>
            <a:r>
              <a:rPr lang="en-US" sz="1600" dirty="0" err="1">
                <a:latin typeface="Monaco" pitchFamily="2" charset="77"/>
              </a:rPr>
              <a:t>cpus</a:t>
            </a:r>
            <a:r>
              <a:rPr lang="en-US" sz="1600" dirty="0">
                <a:latin typeface="Monaco" pitchFamily="2" charset="77"/>
              </a:rPr>
              <a:t>-per-task=1</a:t>
            </a:r>
          </a:p>
          <a:p>
            <a:r>
              <a:rPr lang="en-US" sz="1600" dirty="0">
                <a:latin typeface="Monaco" pitchFamily="2" charset="77"/>
              </a:rPr>
              <a:t>#SBATCH --mem=1g</a:t>
            </a:r>
          </a:p>
          <a:p>
            <a:r>
              <a:rPr lang="en-US" sz="1600" dirty="0">
                <a:latin typeface="Monaco" pitchFamily="2" charset="77"/>
              </a:rPr>
              <a:t>#SBATCH --time=00:05:00</a:t>
            </a:r>
          </a:p>
          <a:p>
            <a:r>
              <a:rPr lang="en-US" sz="1600" dirty="0">
                <a:latin typeface="Monaco" pitchFamily="2" charset="77"/>
              </a:rPr>
              <a:t>#SBATCH --job-name=</a:t>
            </a:r>
            <a:r>
              <a:rPr lang="en-US" sz="1600" dirty="0" err="1">
                <a:latin typeface="Monaco" pitchFamily="2" charset="77"/>
              </a:rPr>
              <a:t>my_job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--output=/gpfs01/home/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username</a:t>
            </a:r>
            <a:r>
              <a:rPr lang="en-US" sz="1600" dirty="0">
                <a:latin typeface="Monaco" pitchFamily="2" charset="77"/>
              </a:rPr>
              <a:t>/</a:t>
            </a:r>
            <a:r>
              <a:rPr lang="en-US" sz="1600" dirty="0" err="1">
                <a:latin typeface="Monaco" pitchFamily="2" charset="77"/>
              </a:rPr>
              <a:t>slurm</a:t>
            </a:r>
            <a:r>
              <a:rPr lang="en-US" sz="1600" dirty="0">
                <a:latin typeface="Monaco" pitchFamily="2" charset="77"/>
              </a:rPr>
              <a:t>-%x-%</a:t>
            </a:r>
            <a:r>
              <a:rPr lang="en-US" sz="1600" dirty="0" err="1">
                <a:latin typeface="Monaco" pitchFamily="2" charset="77"/>
              </a:rPr>
              <a:t>j.out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--error=/gpfs01/home/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username</a:t>
            </a:r>
            <a:r>
              <a:rPr lang="en-US" sz="1600" dirty="0">
                <a:latin typeface="Monaco" pitchFamily="2" charset="77"/>
              </a:rPr>
              <a:t>/</a:t>
            </a:r>
            <a:r>
              <a:rPr lang="en-US" sz="1600" dirty="0" err="1">
                <a:latin typeface="Monaco" pitchFamily="2" charset="77"/>
              </a:rPr>
              <a:t>slurm</a:t>
            </a:r>
            <a:r>
              <a:rPr lang="en-US" sz="1600" dirty="0">
                <a:latin typeface="Monaco" pitchFamily="2" charset="77"/>
              </a:rPr>
              <a:t>-%x-%</a:t>
            </a:r>
            <a:r>
              <a:rPr lang="en-US" sz="1600" dirty="0" err="1">
                <a:latin typeface="Monaco" pitchFamily="2" charset="77"/>
              </a:rPr>
              <a:t>j.err</a:t>
            </a:r>
            <a:endParaRPr lang="en-US" sz="1600" dirty="0">
              <a:latin typeface="Monaco" pitchFamily="2" charset="77"/>
            </a:endParaRP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 source your bash profile so you can use </a:t>
            </a:r>
            <a:r>
              <a:rPr lang="en-US" sz="1600" dirty="0" err="1">
                <a:latin typeface="Monaco" pitchFamily="2" charset="77"/>
              </a:rPr>
              <a:t>conda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source $HOME/.</a:t>
            </a:r>
            <a:r>
              <a:rPr lang="en-US" sz="1600" dirty="0" err="1">
                <a:latin typeface="Monaco" pitchFamily="2" charset="77"/>
              </a:rPr>
              <a:t>bash_profile</a:t>
            </a:r>
            <a:endParaRPr lang="en-US" sz="1600" dirty="0">
              <a:latin typeface="Monaco" pitchFamily="2" charset="77"/>
            </a:endParaRP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 activate </a:t>
            </a:r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environment</a:t>
            </a:r>
          </a:p>
          <a:p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activate </a:t>
            </a:r>
            <a:r>
              <a:rPr lang="en-US" sz="1600" dirty="0" err="1">
                <a:latin typeface="Monaco" pitchFamily="2" charset="77"/>
              </a:rPr>
              <a:t>environment_name</a:t>
            </a:r>
            <a:endParaRPr lang="en-US" sz="1600" dirty="0">
              <a:latin typeface="Monaco" pitchFamily="2" charset="77"/>
            </a:endParaRP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 do some tasks within </a:t>
            </a:r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environment</a:t>
            </a: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 deactivate </a:t>
            </a:r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environment</a:t>
            </a:r>
          </a:p>
          <a:p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deactivate</a:t>
            </a:r>
            <a:endParaRPr lang="en-US" sz="16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937668-10C2-9B57-B95C-CE0A91DC4800}"/>
              </a:ext>
            </a:extLst>
          </p:cNvPr>
          <p:cNvCxnSpPr>
            <a:cxnSpLocks/>
          </p:cNvCxnSpPr>
          <p:nvPr/>
        </p:nvCxnSpPr>
        <p:spPr>
          <a:xfrm flipH="1">
            <a:off x="6866872" y="3780311"/>
            <a:ext cx="762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D3B6C66-8DA3-C7B4-F900-5968BB1885EC}"/>
              </a:ext>
            </a:extLst>
          </p:cNvPr>
          <p:cNvSpPr/>
          <p:nvPr/>
        </p:nvSpPr>
        <p:spPr>
          <a:xfrm>
            <a:off x="7752068" y="3287525"/>
            <a:ext cx="3467361" cy="105819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Small quirk - Conda will not work unless you source your bash profile before you use it</a:t>
            </a:r>
          </a:p>
        </p:txBody>
      </p:sp>
    </p:spTree>
    <p:extLst>
      <p:ext uri="{BB962C8B-B14F-4D97-AF65-F5344CB8AC3E}">
        <p14:creationId xmlns:p14="http://schemas.microsoft.com/office/powerpoint/2010/main" val="2821958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727114"/>
          </a:xfrm>
        </p:spPr>
        <p:txBody>
          <a:bodyPr>
            <a:noAutofit/>
          </a:bodyPr>
          <a:lstStyle/>
          <a:p>
            <a:r>
              <a:rPr lang="en-US" sz="3600" dirty="0"/>
              <a:t>Moving data between local and remote machines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240997" y="3722239"/>
            <a:ext cx="11600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</a:t>
            </a: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 err="1">
                <a:highlight>
                  <a:srgbClr val="FFFFFF"/>
                </a:highlight>
                <a:latin typeface="Monaco" pitchFamily="2" charset="77"/>
              </a:rPr>
              <a:t>ada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:~/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file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file.txt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./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D7D8E-FA6C-DCA4-60E3-3235B4E31C75}"/>
              </a:ext>
            </a:extLst>
          </p:cNvPr>
          <p:cNvSpPr txBox="1"/>
          <p:nvPr/>
        </p:nvSpPr>
        <p:spPr>
          <a:xfrm>
            <a:off x="1793739" y="3187321"/>
            <a:ext cx="81137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To copy a file from Ada to the current directory on your laptop: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BF7B2-56C9-F9E6-4EC4-92A0C0E0C298}"/>
              </a:ext>
            </a:extLst>
          </p:cNvPr>
          <p:cNvSpPr txBox="1"/>
          <p:nvPr/>
        </p:nvSpPr>
        <p:spPr>
          <a:xfrm>
            <a:off x="1793739" y="4487059"/>
            <a:ext cx="9503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To copy a </a:t>
            </a:r>
            <a:r>
              <a:rPr lang="en-GB" sz="2000" b="1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file</a:t>
            </a:r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from the current directory on your laptop to Ada: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FCE90-A18C-A088-EBF9-76237023B92E}"/>
              </a:ext>
            </a:extLst>
          </p:cNvPr>
          <p:cNvSpPr txBox="1"/>
          <p:nvPr/>
        </p:nvSpPr>
        <p:spPr>
          <a:xfrm>
            <a:off x="0" y="5219078"/>
            <a:ext cx="11896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file.txt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 err="1">
                <a:highlight>
                  <a:srgbClr val="FFFFFF"/>
                </a:highlight>
                <a:latin typeface="Monaco" pitchFamily="2" charset="77"/>
              </a:rPr>
              <a:t>ada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:~/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dir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02E61-1419-67FD-F90A-1203B26EFE29}"/>
              </a:ext>
            </a:extLst>
          </p:cNvPr>
          <p:cNvSpPr txBox="1"/>
          <p:nvPr/>
        </p:nvSpPr>
        <p:spPr>
          <a:xfrm>
            <a:off x="555215" y="992978"/>
            <a:ext cx="11896061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</a:t>
            </a: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= secure copy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copy whole directories add the –r flag</a:t>
            </a:r>
            <a:endParaRPr lang="en-GB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For copying f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iles and directories to / from a HPC and your local machine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ALWAYS RUN THIS COMMAND FROM YOUR LOCAL MACHINE! 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(not when you are logged in to Ada)</a:t>
            </a:r>
            <a:endParaRPr lang="en-GB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221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C0C8-8EBF-8CE6-789E-A528C8C84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695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OpenOnDemand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6267F-AC46-9087-9F2E-91E495B29F8B}"/>
              </a:ext>
            </a:extLst>
          </p:cNvPr>
          <p:cNvSpPr>
            <a:spLocks noGrp="1"/>
          </p:cNvSpPr>
          <p:nvPr/>
        </p:nvSpPr>
        <p:spPr>
          <a:xfrm>
            <a:off x="609251" y="554952"/>
            <a:ext cx="11361426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400" b="1" i="0" u="sng">
                <a:solidFill>
                  <a:srgbClr val="03787C"/>
                </a:solidFill>
                <a:latin typeface="Segoe UI"/>
                <a:ea typeface="Segoe UI"/>
                <a:cs typeface="Segoe UI"/>
                <a:hlinkClick r:id="rId3"/>
              </a:rPr>
              <a:t>https://hpcondemand01.ada.nottingham.ac.uk</a:t>
            </a:r>
            <a:endParaRPr sz="2400"/>
          </a:p>
        </p:txBody>
      </p:sp>
      <p:pic>
        <p:nvPicPr>
          <p:cNvPr id="9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92" y="1489603"/>
            <a:ext cx="10032095" cy="506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89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B20D8B-6BDD-B027-76F9-356287EF4930}"/>
              </a:ext>
            </a:extLst>
          </p:cNvPr>
          <p:cNvSpPr txBox="1">
            <a:spLocks/>
          </p:cNvSpPr>
          <p:nvPr/>
        </p:nvSpPr>
        <p:spPr>
          <a:xfrm>
            <a:off x="1520327" y="187287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 err="1"/>
              <a:t>UoN</a:t>
            </a:r>
            <a:r>
              <a:rPr lang="en-US" sz="3600" dirty="0"/>
              <a:t> HPC – Ada – support &amp;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DC056-10AC-40A1-4F48-3426EDC77E3E}"/>
              </a:ext>
            </a:extLst>
          </p:cNvPr>
          <p:cNvSpPr txBox="1"/>
          <p:nvPr/>
        </p:nvSpPr>
        <p:spPr>
          <a:xfrm>
            <a:off x="156073" y="1260255"/>
            <a:ext cx="11887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Commands, partitions and resources:</a:t>
            </a:r>
          </a:p>
          <a:p>
            <a:r>
              <a:rPr lang="en-US" dirty="0">
                <a:solidFill>
                  <a:schemeClr val="tx2"/>
                </a:solidFill>
                <a:hlinkClick r:id="rId3"/>
              </a:rPr>
              <a:t>https://uniofnottm.sharepoint.com/sites/DigitalResearch/SitePages/Ada-Commands-Partitions-and-Resources.aspx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Software modules:</a:t>
            </a:r>
          </a:p>
          <a:p>
            <a:r>
              <a:rPr lang="en-US" dirty="0">
                <a:solidFill>
                  <a:schemeClr val="tx2"/>
                </a:solidFill>
                <a:hlinkClick r:id="rId4"/>
              </a:rPr>
              <a:t>https://uniofnottm.sharepoint.com/sites/DigitalResearch/SitePages/Ada-Compute-software.aspx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3B65B-B1BB-6242-F6F3-14AF5903B12C}"/>
              </a:ext>
            </a:extLst>
          </p:cNvPr>
          <p:cNvSpPr txBox="1"/>
          <p:nvPr/>
        </p:nvSpPr>
        <p:spPr>
          <a:xfrm>
            <a:off x="148727" y="874673"/>
            <a:ext cx="2745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The </a:t>
            </a:r>
            <a:r>
              <a:rPr lang="en-GB" b="1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sharepoint</a:t>
            </a:r>
            <a:r>
              <a:rPr lang="en-GB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site:</a:t>
            </a:r>
            <a:endParaRPr lang="en-GB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89EC8-F7D7-F2C8-46B8-422186E81126}"/>
              </a:ext>
            </a:extLst>
          </p:cNvPr>
          <p:cNvSpPr txBox="1"/>
          <p:nvPr/>
        </p:nvSpPr>
        <p:spPr>
          <a:xfrm>
            <a:off x="184451" y="3681586"/>
            <a:ext cx="11675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The IT helpdesk: (if you need something that requires admin rights, this is your only option!)</a:t>
            </a:r>
            <a:endParaRPr lang="en-GB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489B18-306F-1FB4-ACA3-0425001B697D}"/>
              </a:ext>
            </a:extLst>
          </p:cNvPr>
          <p:cNvSpPr txBox="1"/>
          <p:nvPr/>
        </p:nvSpPr>
        <p:spPr>
          <a:xfrm>
            <a:off x="184451" y="5349399"/>
            <a:ext cx="6546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Me! : </a:t>
            </a:r>
            <a:r>
              <a:rPr lang="en-GB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hlinkClick r:id="rId5"/>
              </a:rPr>
              <a:t>laura.dean@nottingham.ac.uk</a:t>
            </a:r>
            <a:r>
              <a:rPr lang="en-GB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or teams chat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DDB11-FC1B-815F-FAA2-102F194500DF}"/>
              </a:ext>
            </a:extLst>
          </p:cNvPr>
          <p:cNvSpPr txBox="1"/>
          <p:nvPr/>
        </p:nvSpPr>
        <p:spPr>
          <a:xfrm>
            <a:off x="148727" y="4108602"/>
            <a:ext cx="990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hlinkClick r:id="rId6"/>
              </a:rPr>
              <a:t>https://www.nottingham.ac.uk/dts/help/self-service-portal/self-service-portal.aspx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098" name="Picture 2" descr="sign-with-the-word-help-in-a-hand-icon-vector-9381725">
            <a:extLst>
              <a:ext uri="{FF2B5EF4-FFF2-40B4-BE49-F238E27FC236}">
                <a16:creationId xmlns:a16="http://schemas.microsoft.com/office/drawing/2014/main" id="{5ED5F88D-1D28-AA08-EC11-D3ADFCAF1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4305" y="4766750"/>
            <a:ext cx="1724585" cy="190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250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EE950D-FE57-793A-4E41-862F4A75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335F1FB-FD80-EFE0-1EFF-384659ADC026}"/>
              </a:ext>
            </a:extLst>
          </p:cNvPr>
          <p:cNvSpPr txBox="1">
            <a:spLocks/>
          </p:cNvSpPr>
          <p:nvPr/>
        </p:nvSpPr>
        <p:spPr>
          <a:xfrm>
            <a:off x="1520327" y="212654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UoN</a:t>
            </a:r>
            <a:r>
              <a:rPr lang="en-US" sz="3600" dirty="0"/>
              <a:t> HPC – Ada – SLURM commands: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A59125-AD14-5EFE-2C0F-69F2C8AFDA6E}"/>
              </a:ext>
            </a:extLst>
          </p:cNvPr>
          <p:cNvGrpSpPr/>
          <p:nvPr/>
        </p:nvGrpSpPr>
        <p:grpSpPr>
          <a:xfrm>
            <a:off x="-3673" y="2135582"/>
            <a:ext cx="12192000" cy="1477780"/>
            <a:chOff x="0" y="5169725"/>
            <a:chExt cx="12192000" cy="147778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B20F66-01D9-11C4-94FB-D410891F255E}"/>
                </a:ext>
              </a:extLst>
            </p:cNvPr>
            <p:cNvSpPr txBox="1"/>
            <p:nvPr/>
          </p:nvSpPr>
          <p:spPr>
            <a:xfrm>
              <a:off x="178094" y="5169725"/>
              <a:ext cx="77051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sz="1800" b="1" dirty="0">
                  <a:solidFill>
                    <a:srgbClr val="323130"/>
                  </a:solidFill>
                  <a:highlight>
                    <a:srgbClr val="FFFFFF"/>
                  </a:highlight>
                  <a:latin typeface="Segoe UI" panose="020B0502040204020203" pitchFamily="34" charset="0"/>
                </a:rPr>
                <a:t>Check your storage:</a:t>
              </a:r>
            </a:p>
            <a:p>
              <a:pPr algn="l"/>
              <a:r>
                <a:rPr lang="en-GB" sz="1800" dirty="0" err="1">
                  <a:solidFill>
                    <a:srgbClr val="323130"/>
                  </a:solidFill>
                  <a:highlight>
                    <a:srgbClr val="FFFFFF"/>
                  </a:highlight>
                  <a:latin typeface="Monaco" pitchFamily="2" charset="77"/>
                </a:rPr>
                <a:t>mmlsquota</a:t>
              </a:r>
              <a:r>
                <a:rPr lang="en-GB" sz="1800" dirty="0">
                  <a:solidFill>
                    <a:srgbClr val="323130"/>
                  </a:solidFill>
                  <a:highlight>
                    <a:srgbClr val="FFFFFF"/>
                  </a:highlight>
                  <a:latin typeface="Monaco" pitchFamily="2" charset="77"/>
                </a:rPr>
                <a:t> -u </a:t>
              </a:r>
              <a:r>
                <a:rPr lang="en-GB" sz="1800" dirty="0">
                  <a:solidFill>
                    <a:schemeClr val="accent6">
                      <a:lumMod val="75000"/>
                    </a:schemeClr>
                  </a:solidFill>
                  <a:highlight>
                    <a:srgbClr val="FFFFFF"/>
                  </a:highlight>
                  <a:latin typeface="Monaco" pitchFamily="2" charset="77"/>
                </a:rPr>
                <a:t>username</a:t>
              </a:r>
              <a:r>
                <a:rPr lang="en-GB" sz="1800" dirty="0">
                  <a:solidFill>
                    <a:srgbClr val="323130"/>
                  </a:solidFill>
                  <a:highlight>
                    <a:srgbClr val="FFFFFF"/>
                  </a:highlight>
                  <a:latin typeface="Monaco" pitchFamily="2" charset="77"/>
                </a:rPr>
                <a:t> --block-size G dss2fs01:HOME</a:t>
              </a:r>
              <a:endParaRPr lang="en-GB" sz="18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BF8E900-C22A-BA1B-362E-810CCA0D2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885101"/>
              <a:ext cx="12192000" cy="700323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94CE890-8AC2-4C13-9FEC-11ECB8AFA5EE}"/>
                </a:ext>
              </a:extLst>
            </p:cNvPr>
            <p:cNvSpPr/>
            <p:nvPr/>
          </p:nvSpPr>
          <p:spPr>
            <a:xfrm>
              <a:off x="2981440" y="6195814"/>
              <a:ext cx="871870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64D4C5F-31DF-D79A-9011-60B49F3D2261}"/>
                </a:ext>
              </a:extLst>
            </p:cNvPr>
            <p:cNvSpPr/>
            <p:nvPr/>
          </p:nvSpPr>
          <p:spPr>
            <a:xfrm>
              <a:off x="4866947" y="6171699"/>
              <a:ext cx="871870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332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18144</TotalTime>
  <Words>4175</Words>
  <Application>Microsoft Macintosh PowerPoint</Application>
  <PresentationFormat>Widescreen</PresentationFormat>
  <Paragraphs>532</Paragraphs>
  <Slides>34</Slides>
  <Notes>33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Monaco</vt:lpstr>
      <vt:lpstr>Segoe UI</vt:lpstr>
      <vt:lpstr>Office Theme</vt:lpstr>
      <vt:lpstr>How to use the UoN HPC “Ada”</vt:lpstr>
      <vt:lpstr>Learning Objectives</vt:lpstr>
      <vt:lpstr>ssh config file</vt:lpstr>
      <vt:lpstr>Setting up a config file</vt:lpstr>
      <vt:lpstr>How to use Ada</vt:lpstr>
      <vt:lpstr>provides information to the slurm scheduler about the job you are requesting  The scheduler cannot run your job without this information</vt:lpstr>
      <vt:lpstr>Job submission script</vt:lpstr>
      <vt:lpstr>Job submission script</vt:lpstr>
      <vt:lpstr>Job submission script</vt:lpstr>
      <vt:lpstr>PowerPoint Presentation</vt:lpstr>
      <vt:lpstr>PowerPoint Presentation</vt:lpstr>
      <vt:lpstr>Job submission script</vt:lpstr>
      <vt:lpstr>PowerPoint Presentation</vt:lpstr>
      <vt:lpstr>PowerPoint Presentation</vt:lpstr>
      <vt:lpstr>Job submission script</vt:lpstr>
      <vt:lpstr>Job submission script</vt:lpstr>
      <vt:lpstr>PRACTICAL: Write your own</vt:lpstr>
      <vt:lpstr>PowerPoint Presentation</vt:lpstr>
      <vt:lpstr>How to submit and monitor your script:</vt:lpstr>
      <vt:lpstr>OpenOnDemand</vt:lpstr>
      <vt:lpstr>Partitions on Ada:</vt:lpstr>
      <vt:lpstr>UoN HPC – Ada – partitions:</vt:lpstr>
      <vt:lpstr>PowerPoint Presentation</vt:lpstr>
      <vt:lpstr>UoN HPC – Ada – software modules</vt:lpstr>
      <vt:lpstr>UoN HPC – Ada – software modules</vt:lpstr>
      <vt:lpstr>PRACTICAL: using software modules</vt:lpstr>
      <vt:lpstr> requesting new software modules</vt:lpstr>
      <vt:lpstr> requesting new software modules</vt:lpstr>
      <vt:lpstr>UoN HPC – Ada – conda</vt:lpstr>
      <vt:lpstr>EXAMPLE: using conda in a job submission script</vt:lpstr>
      <vt:lpstr>Moving data between local and remote machines</vt:lpstr>
      <vt:lpstr>OpenOnDemand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UoN HPC – Ada – info</dc:title>
  <dc:creator>Laura Dean (staff)</dc:creator>
  <cp:lastModifiedBy>Laura Dean (staff)</cp:lastModifiedBy>
  <cp:revision>7</cp:revision>
  <dcterms:created xsi:type="dcterms:W3CDTF">2024-04-22T13:40:25Z</dcterms:created>
  <dcterms:modified xsi:type="dcterms:W3CDTF">2026-10-05T11:43:02Z</dcterms:modified>
</cp:coreProperties>
</file>